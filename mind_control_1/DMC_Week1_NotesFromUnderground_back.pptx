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995E361-98FC-76BC-445D-A317E704BDEC}">
          <p14:sldIdLst>
            <p14:sldId id="256"/>
            <p14:sldId id="257"/>
          </p14:sldIdLst>
        </p14:section>
        <p14:section name="Context" id="{A8202A21-759E-95FA-CF7C-8570AD855B64}">
          <p14:sldIdLst>
            <p14:sldId id="258"/>
            <p14:sldId id="259"/>
            <p14:sldId id="260"/>
            <p14:sldId id="261"/>
            <p14:sldId id="262"/>
            <p14:sldId id="263"/>
          </p14:sldIdLst>
        </p14:section>
        <p14:section name="Dialogue" id="{0CA4734F-E5E7-1EB1-0FD0-EACA2969FBFD}">
          <p14:sldIdLst>
            <p14:sldId id="264"/>
            <p14:sldId id="265"/>
            <p14:sldId id="266"/>
            <p14:sldId id="267"/>
            <p14:sldId id="268"/>
          </p14:sldIdLst>
        </p14:section>
        <p14:section name="Questions" id="{F0B0D2D4-8697-6EFC-888E-5E376A919781}">
          <p14:sldIdLst>
            <p14:sldId id="269"/>
            <p14:sldId id="270"/>
          </p14:sldIdLst>
        </p14:section>
        <p14:section name="Course overview" id="{BA4088C8-913F-E5CA-D4BE-49712A90265C}">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3161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 Order of the session: context for Notes from Underground; Larry Cedar clip 1; read the Ruth &amp; Dev dialogue; clip 2; homework questions; course overview pages.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1: https://www.youtube.com/watch?v=asp5tqDql0g&amp;t=90s  (opening: "I am a sick man...")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marks in Larry Cedar's performance (https://www.youtube.com/watch?v=asp5tqDql0g):
RUTH ""I am a sick man. I am a spiteful man." ..." → 1:30
RUTH "He doesn't want one. He's a retired cler..." → 6:40
RUTH "The confident people who say we only do ..." → 13:41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marks in Larry Cedar's performance (https://www.youtube.com/watch?v=asp5tqDql0g):
RUTH "That's exactly his target. He says what ..." → 15:11
RUTH "Especially then. A man may choose someth..." → 18:29
RUTH "And he asks the reformers a question: ho..." → 19:03</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marks in Larry Cedar's performance (https://www.youtube.com/watch?v=asp5tqDql0g):
RUTH "She does. And he turns on her. He tells ..." → 1:21:13, 1:24:03
RUTH "He even admits that, for him, loving mea..." → 1:25:04
RUTH "He turns the mirror on us. Give any one ..." → 1:29:45</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2: https://www.youtube.com/watch?v=asp5tqDql0g&amp;t=5385s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371600"/>
            <a:ext cx="10698480" cy="457200"/>
          </a:xfrm>
          <a:prstGeom prst="rect">
            <a:avLst/>
          </a:prstGeom>
          <a:noFill/>
          <a:ln/>
        </p:spPr>
        <p:txBody>
          <a:bodyPr wrap="square" rtlCol="0"/>
          <a:lstStyle>
            <a:lvl1pPr marL="0" indent="0">
              <a:buNone/>
              <a:defRPr lang="en-US" sz="1600" b="1" kern="0" spc="300" dirty="0">
                <a:solidFill>
                  <a:schemeClr val="accent2"/>
                </a:solidFill>
                <a:latin typeface="Calibri" pitchFamily="34" charset="0"/>
                <a:ea typeface="Calibri" pitchFamily="34" charset="-122"/>
                <a:cs typeface="Calibri" pitchFamily="34" charset="-120"/>
              </a:defRPr>
            </a:lvl1pPr>
          </a:lstStyle>
          <a:p>
            <a:pPr marL="0" indent="0">
              <a:buNone/>
            </a:pPr>
            <a:endParaRPr lang="en-US" sz="1600" dirty="0"/>
          </a:p>
        </p:txBody>
      </p:sp>
      <p:sp>
        <p:nvSpPr>
          <p:cNvPr id="3" name="Text 0"/>
          <p:cNvSpPr>
            <a:spLocks noGrp="1"/>
          </p:cNvSpPr>
          <p:nvPr>
            <p:ph type="title" idx="101" hasCustomPrompt="1"/>
          </p:nvPr>
        </p:nvSpPr>
        <p:spPr>
          <a:xfrm>
            <a:off x="731520" y="1828800"/>
            <a:ext cx="10698480" cy="201168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4" name="Text 0"/>
          <p:cNvSpPr>
            <a:spLocks noGrp="1"/>
          </p:cNvSpPr>
          <p:nvPr>
            <p:ph type="body" idx="102" hasCustomPrompt="1"/>
          </p:nvPr>
        </p:nvSpPr>
        <p:spPr>
          <a:xfrm>
            <a:off x="731520" y="4023360"/>
            <a:ext cx="10698480" cy="1463040"/>
          </a:xfrm>
          <a:prstGeom prst="rect">
            <a:avLst/>
          </a:prstGeom>
          <a:noFill/>
          <a:ln/>
        </p:spPr>
        <p:txBody>
          <a:bodyPr wrap="square" rtlCol="0"/>
          <a:lstStyle>
            <a:lvl1pPr marL="0" indent="0">
              <a:buNone/>
              <a:defRPr lang="en-US" sz="2000" dirty="0">
                <a:solidFill>
                  <a:schemeClr val="accent5"/>
                </a:solidFill>
                <a:latin typeface="Calibri" pitchFamily="34" charset="0"/>
                <a:ea typeface="Calibri" pitchFamily="34" charset="-122"/>
                <a:cs typeface="Calibri" pitchFamily="34" charset="-120"/>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rtlCol="0"/>
          <a:lstStyle>
            <a:lvl1pPr marL="0" indent="0">
              <a:buNone/>
              <a:defRPr lang="en-US" sz="1300" b="1" kern="0" spc="200" dirty="0">
                <a:solidFill>
                  <a:schemeClr val="accent1"/>
                </a:solidFill>
                <a:latin typeface="Calibri" pitchFamily="34" charset="0"/>
                <a:ea typeface="Calibri" pitchFamily="34" charset="-122"/>
                <a:cs typeface="Calibri" pitchFamily="34" charset="-120"/>
              </a:defRPr>
            </a:lvl1pPr>
          </a:lstStyle>
          <a:p>
            <a:pPr marL="0" indent="0">
              <a:buNone/>
            </a:pP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rtlCol="0"/>
          <a:lstStyle>
            <a:lvl1pPr marL="0" indent="0" algn="l">
              <a:buNone/>
              <a:defRPr lang="en-US" sz="3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IP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731520"/>
            <a:ext cx="10698480" cy="457200"/>
          </a:xfrm>
          <a:prstGeom prst="rect">
            <a:avLst/>
          </a:prstGeom>
          <a:noFill/>
          <a:ln/>
        </p:spPr>
        <p:txBody>
          <a:bodyPr wrap="square" rtlCol="0"/>
          <a:lstStyle>
            <a:lvl1pPr marL="0" indent="0">
              <a:buNone/>
              <a:defRPr lang="en-US" sz="1600" b="1" kern="0" spc="300" dirty="0">
                <a:solidFill>
                  <a:schemeClr val="accent2"/>
                </a:solidFill>
                <a:latin typeface="Calibri" pitchFamily="34" charset="0"/>
                <a:ea typeface="Calibri" pitchFamily="34" charset="-122"/>
                <a:cs typeface="Calibri" pitchFamily="34" charset="-120"/>
              </a:defRPr>
            </a:lvl1pPr>
          </a:lstStyle>
          <a:p>
            <a:pPr marL="0" indent="0">
              <a:buNone/>
            </a:pPr>
            <a:endParaRPr lang="en-US" sz="1600" dirty="0"/>
          </a:p>
        </p:txBody>
      </p:sp>
      <p:sp>
        <p:nvSpPr>
          <p:cNvPr id="3" name="Text 0"/>
          <p:cNvSpPr>
            <a:spLocks noGrp="1"/>
          </p:cNvSpPr>
          <p:nvPr>
            <p:ph type="title" idx="101" hasCustomPrompt="1"/>
          </p:nvPr>
        </p:nvSpPr>
        <p:spPr>
          <a:xfrm>
            <a:off x="731520" y="1188720"/>
            <a:ext cx="10698480" cy="91440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hyperlink" Target="https://www.youtube.com/watch?v=asp5tqDql0g&amp;t=90s"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hyperlink" Target="https://www.youtube.com/watch?v=asp5tqDql0g&amp;t=5385s"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371600"/>
            <a:ext cx="10698480" cy="457200"/>
          </a:xfrm>
          <a:prstGeom prst="rect">
            <a:avLst/>
          </a:prstGeom>
          <a:noFill/>
          <a:ln/>
        </p:spPr>
        <p:txBody>
          <a:bodyPr wrap="square" rtlCol="0"/>
          <a:lstStyle/>
          <a:p>
            <a:pPr marL="0" indent="0">
              <a:buNone/>
            </a:pPr>
            <a:r>
              <a:rPr lang="en-US" sz="1600" b="1" kern="0" spc="300" dirty="0">
                <a:solidFill>
                  <a:schemeClr val="accent2"/>
                </a:solidFill>
                <a:latin typeface="Calibri" pitchFamily="34" charset="0"/>
                <a:ea typeface="Calibri" pitchFamily="34" charset="-122"/>
                <a:cs typeface="Calibri" pitchFamily="34" charset="-120"/>
              </a:rPr>
              <a:t>SESSION 1 PRESENTATION</a:t>
            </a:r>
            <a:endParaRPr lang="en-US" sz="1600" dirty="0"/>
          </a:p>
        </p:txBody>
      </p:sp>
      <p:sp>
        <p:nvSpPr>
          <p:cNvPr id="3" name="Text 0"/>
          <p:cNvSpPr>
            <a:spLocks noGrp="1"/>
          </p:cNvSpPr>
          <p:nvPr>
            <p:ph type="title" idx="101" hasCustomPrompt="1"/>
          </p:nvPr>
        </p:nvSpPr>
        <p:spPr>
          <a:xfrm>
            <a:off x="731520" y="1828800"/>
            <a:ext cx="10698480" cy="2011680"/>
          </a:xfrm>
          <a:prstGeom prst="rect">
            <a:avLst/>
          </a:prstGeom>
          <a:noFill/>
          <a:ln/>
        </p:spPr>
        <p:txBody>
          <a:bodyPr wrap="square" rtlCol="0" anchor="t"/>
          <a:lstStyle/>
          <a:p>
            <a:pPr marL="0" indent="0" algn="l">
              <a:buNone/>
            </a:pPr>
            <a:r>
              <a:rPr lang="en-US" sz="4400" b="1" dirty="0">
                <a:solidFill>
                  <a:schemeClr val="bg1"/>
                </a:solidFill>
                <a:latin typeface="Cambria" pitchFamily="34" charset="0"/>
                <a:ea typeface="Cambria" pitchFamily="34" charset="-122"/>
                <a:cs typeface="Cambria" pitchFamily="34" charset="-120"/>
              </a:rPr>
              <a:t>Tales of Defiance to Mind Control in the Modern Age</a:t>
            </a:r>
            <a:endParaRPr lang="en-US" sz="4400" dirty="0"/>
          </a:p>
        </p:txBody>
      </p:sp>
      <p:sp>
        <p:nvSpPr>
          <p:cNvPr id="4" name="Text 0"/>
          <p:cNvSpPr>
            <a:spLocks noGrp="1"/>
          </p:cNvSpPr>
          <p:nvPr>
            <p:ph type="body" idx="102" hasCustomPrompt="1"/>
          </p:nvPr>
        </p:nvSpPr>
        <p:spPr>
          <a:xfrm>
            <a:off x="731520" y="4023360"/>
            <a:ext cx="10698480" cy="1463040"/>
          </a:xfrm>
          <a:prstGeom prst="rect">
            <a:avLst/>
          </a:prstGeom>
          <a:noFill/>
          <a:ln/>
        </p:spPr>
        <p:txBody>
          <a:bodyPr wrap="square" rtlCol="0" anchor="t"/>
          <a:lstStyle/>
          <a:p>
            <a:pPr marL="0" indent="0">
              <a:buNone/>
            </a:pPr>
            <a:r>
              <a:rPr lang="en-US" sz="2000" dirty="0">
                <a:solidFill>
                  <a:schemeClr val="accent5"/>
                </a:solidFill>
                <a:latin typeface="Calibri" pitchFamily="34" charset="0"/>
                <a:ea typeface="Calibri" pitchFamily="34" charset="-122"/>
                <a:cs typeface="Calibri" pitchFamily="34" charset="-120"/>
              </a:rPr>
              <a:t>Tale 1: Dostoevsky's </a:t>
            </a:r>
            <a:r>
              <a:rPr lang="en-US" sz="2000" i="1" dirty="0">
                <a:solidFill>
                  <a:schemeClr val="accent5"/>
                </a:solidFill>
                <a:latin typeface="Calibri" pitchFamily="34" charset="0"/>
                <a:ea typeface="Calibri" pitchFamily="34" charset="-122"/>
                <a:cs typeface="Calibri" pitchFamily="34" charset="-120"/>
              </a:rPr>
              <a:t>Notes from Underground</a:t>
            </a:r>
            <a:r>
              <a:rPr lang="en-US" sz="2000" dirty="0">
                <a:solidFill>
                  <a:schemeClr val="accent5"/>
                </a:solidFill>
                <a:latin typeface="Calibri" pitchFamily="34" charset="0"/>
                <a:ea typeface="Calibri" pitchFamily="34" charset="-122"/>
                <a:cs typeface="Calibri" pitchFamily="34" charset="-120"/>
              </a:rPr>
              <a:t> (1864)</a:t>
            </a:r>
            <a:endParaRPr lang="en-US" sz="2000" dirty="0"/>
          </a:p>
          <a:p>
            <a:pPr marL="0" indent="0">
              <a:buNone/>
            </a:pPr>
            <a:r>
              <a:rPr lang="en-US" sz="1600" dirty="0">
                <a:solidFill>
                  <a:schemeClr val="accent2"/>
                </a:solidFill>
                <a:latin typeface="Calibri" pitchFamily="34" charset="0"/>
                <a:ea typeface="Calibri" pitchFamily="34" charset="-122"/>
                <a:cs typeface="Calibri" pitchFamily="34" charset="-120"/>
              </a:rPr>
              <a:t>Scott Axelrod</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SESSION 1 · TODAY</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What we'll cover</a:t>
            </a:r>
            <a:endParaRPr lang="en-US" sz="3400" dirty="0"/>
          </a:p>
        </p:txBody>
      </p:sp>
      <p:sp>
        <p:nvSpPr>
          <p:cNvPr id="4" name="agenda row 1"/>
          <p:cNvSpPr/>
          <p:nvPr/>
        </p:nvSpPr>
        <p:spPr>
          <a:xfrm>
            <a:off x="548640" y="1645920"/>
            <a:ext cx="11064240" cy="932688"/>
          </a:xfrm>
          <a:prstGeom prst="roundRect">
            <a:avLst>
              <a:gd name="adj" fmla="val 7843"/>
            </a:avLst>
          </a:prstGeom>
          <a:solidFill>
            <a:schemeClr val="bg2"/>
          </a:solidFill>
          <a:ln w="12700">
            <a:solidFill>
              <a:schemeClr val="bg2"/>
            </a:solidFill>
            <a:prstDash val="solid"/>
          </a:ln>
        </p:spPr>
        <p:txBody>
          <a:bodyPr/>
          <a:lstStyle/>
          <a:p>
            <a:endParaRPr lang="en-US"/>
          </a:p>
        </p:txBody>
      </p:sp>
      <p:sp>
        <p:nvSpPr>
          <p:cNvPr id="5" name="agenda 1 circle"/>
          <p:cNvSpPr/>
          <p:nvPr/>
        </p:nvSpPr>
        <p:spPr>
          <a:xfrm>
            <a:off x="777240" y="1792224"/>
            <a:ext cx="640080" cy="640080"/>
          </a:xfrm>
          <a:prstGeom prst="ellipse">
            <a:avLst/>
          </a:prstGeom>
          <a:solidFill>
            <a:schemeClr val="tx2"/>
          </a:solidFill>
          <a:ln w="12700">
            <a:solidFill>
              <a:schemeClr val="tx2"/>
            </a:solidFill>
            <a:prstDash val="solid"/>
          </a:ln>
        </p:spPr>
        <p:txBody>
          <a:bodyPr/>
          <a:lstStyle/>
          <a:p>
            <a:endParaRPr lang="en-US"/>
          </a:p>
        </p:txBody>
      </p:sp>
      <p:pic>
        <p:nvPicPr>
          <p:cNvPr id="6" name="agenda 1 icon" descr="agenda 1"/>
          <p:cNvPicPr>
            <a:picLocks noChangeAspect="1"/>
          </p:cNvPicPr>
          <p:nvPr/>
        </p:nvPicPr>
        <p:blipFill>
          <a:blip r:embed="rId3"/>
          <a:stretch>
            <a:fillRect/>
          </a:stretch>
        </p:blipFill>
        <p:spPr>
          <a:xfrm>
            <a:off x="918058" y="1933042"/>
            <a:ext cx="358445" cy="358445"/>
          </a:xfrm>
          <a:prstGeom prst="rect">
            <a:avLst/>
          </a:prstGeom>
        </p:spPr>
      </p:pic>
      <p:sp>
        <p:nvSpPr>
          <p:cNvPr id="7" name="Text 4"/>
          <p:cNvSpPr txBox="1"/>
          <p:nvPr/>
        </p:nvSpPr>
        <p:spPr>
          <a:xfrm>
            <a:off x="1691640" y="1645920"/>
            <a:ext cx="7680960" cy="932688"/>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Context of Notes from Underground</a:t>
            </a:r>
            <a:endParaRPr lang="en-US" sz="2200" dirty="0"/>
          </a:p>
        </p:txBody>
      </p:sp>
      <p:sp>
        <p:nvSpPr>
          <p:cNvPr id="8" name="Text 5"/>
          <p:cNvSpPr txBox="1"/>
          <p:nvPr/>
        </p:nvSpPr>
        <p:spPr>
          <a:xfrm>
            <a:off x="9418320" y="1645920"/>
            <a:ext cx="1965960" cy="932688"/>
          </a:xfrm>
          <a:prstGeom prst="rect">
            <a:avLst/>
          </a:prstGeom>
          <a:noFill/>
          <a:ln/>
        </p:spPr>
        <p:txBody>
          <a:bodyPr wrap="square" lIns="0" tIns="0" rIns="0" bIns="0" rtlCol="0" anchor="ctr"/>
          <a:lstStyle/>
          <a:p>
            <a:pPr marL="0" indent="0" algn="r">
              <a:buNone/>
            </a:pPr>
            <a:r>
              <a:rPr lang="en-US" sz="1600" dirty="0">
                <a:solidFill>
                  <a:schemeClr val="accent4"/>
                </a:solidFill>
              </a:rPr>
              <a:t>Slides 3–8</a:t>
            </a:r>
            <a:endParaRPr lang="en-US" sz="1600" dirty="0"/>
          </a:p>
        </p:txBody>
      </p:sp>
      <p:sp>
        <p:nvSpPr>
          <p:cNvPr id="9" name="agenda row 2"/>
          <p:cNvSpPr/>
          <p:nvPr/>
        </p:nvSpPr>
        <p:spPr>
          <a:xfrm>
            <a:off x="548640" y="2761488"/>
            <a:ext cx="11064240" cy="932688"/>
          </a:xfrm>
          <a:prstGeom prst="roundRect">
            <a:avLst>
              <a:gd name="adj" fmla="val 7843"/>
            </a:avLst>
          </a:prstGeom>
          <a:solidFill>
            <a:schemeClr val="accent1">
              <a:lumMod val="60000"/>
              <a:lumOff val="40000"/>
            </a:schemeClr>
          </a:solidFill>
          <a:ln w="12700">
            <a:solidFill>
              <a:schemeClr val="bg2"/>
            </a:solidFill>
            <a:prstDash val="solid"/>
          </a:ln>
        </p:spPr>
        <p:txBody>
          <a:bodyPr/>
          <a:lstStyle/>
          <a:p>
            <a:endParaRPr lang="en-US"/>
          </a:p>
        </p:txBody>
      </p:sp>
      <p:sp>
        <p:nvSpPr>
          <p:cNvPr id="10" name="agenda 2 circle"/>
          <p:cNvSpPr/>
          <p:nvPr/>
        </p:nvSpPr>
        <p:spPr>
          <a:xfrm>
            <a:off x="777240" y="2907792"/>
            <a:ext cx="640080" cy="640080"/>
          </a:xfrm>
          <a:prstGeom prst="ellipse">
            <a:avLst/>
          </a:prstGeom>
          <a:solidFill>
            <a:schemeClr val="tx2"/>
          </a:solidFill>
          <a:ln w="12700">
            <a:solidFill>
              <a:schemeClr val="tx2"/>
            </a:solidFill>
            <a:prstDash val="solid"/>
          </a:ln>
        </p:spPr>
        <p:txBody>
          <a:bodyPr/>
          <a:lstStyle/>
          <a:p>
            <a:endParaRPr lang="en-US"/>
          </a:p>
        </p:txBody>
      </p:sp>
      <p:pic>
        <p:nvPicPr>
          <p:cNvPr id="11" name="agenda 2 icon" descr="agenda 2"/>
          <p:cNvPicPr>
            <a:picLocks noChangeAspect="1"/>
          </p:cNvPicPr>
          <p:nvPr/>
        </p:nvPicPr>
        <p:blipFill>
          <a:blip r:embed="rId4"/>
          <a:stretch>
            <a:fillRect/>
          </a:stretch>
        </p:blipFill>
        <p:spPr>
          <a:xfrm>
            <a:off x="918058" y="3048610"/>
            <a:ext cx="358445" cy="358445"/>
          </a:xfrm>
          <a:prstGeom prst="rect">
            <a:avLst/>
          </a:prstGeom>
        </p:spPr>
      </p:pic>
      <p:sp>
        <p:nvSpPr>
          <p:cNvPr id="12" name="Text 8"/>
          <p:cNvSpPr txBox="1"/>
          <p:nvPr/>
        </p:nvSpPr>
        <p:spPr>
          <a:xfrm>
            <a:off x="1691640" y="2761488"/>
            <a:ext cx="7680960" cy="932688"/>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A Dialog About Notes</a:t>
            </a:r>
            <a:endParaRPr lang="en-US" sz="2200" dirty="0"/>
          </a:p>
        </p:txBody>
      </p:sp>
      <p:sp>
        <p:nvSpPr>
          <p:cNvPr id="13" name="Text 9"/>
          <p:cNvSpPr txBox="1"/>
          <p:nvPr/>
        </p:nvSpPr>
        <p:spPr>
          <a:xfrm>
            <a:off x="9418320" y="2761488"/>
            <a:ext cx="1965960" cy="932688"/>
          </a:xfrm>
          <a:prstGeom prst="rect">
            <a:avLst/>
          </a:prstGeom>
          <a:noFill/>
          <a:ln/>
        </p:spPr>
        <p:txBody>
          <a:bodyPr wrap="square" lIns="0" tIns="0" rIns="0" bIns="0" rtlCol="0" anchor="ctr"/>
          <a:lstStyle/>
          <a:p>
            <a:pPr marL="0" indent="0" algn="r">
              <a:buNone/>
            </a:pPr>
            <a:r>
              <a:rPr lang="en-US" sz="1600" dirty="0">
                <a:solidFill>
                  <a:schemeClr val="accent4"/>
                </a:solidFill>
              </a:rPr>
              <a:t>Slides 9–13</a:t>
            </a:r>
            <a:endParaRPr lang="en-US" sz="1600" dirty="0"/>
          </a:p>
        </p:txBody>
      </p:sp>
      <p:sp>
        <p:nvSpPr>
          <p:cNvPr id="14" name="agenda row 3"/>
          <p:cNvSpPr/>
          <p:nvPr/>
        </p:nvSpPr>
        <p:spPr>
          <a:xfrm>
            <a:off x="548640" y="3877056"/>
            <a:ext cx="11064240" cy="932688"/>
          </a:xfrm>
          <a:prstGeom prst="roundRect">
            <a:avLst>
              <a:gd name="adj" fmla="val 7843"/>
            </a:avLst>
          </a:prstGeom>
          <a:solidFill>
            <a:schemeClr val="accent1"/>
          </a:solidFill>
          <a:ln w="12700">
            <a:solidFill>
              <a:schemeClr val="accent1"/>
            </a:solidFill>
            <a:prstDash val="solid"/>
          </a:ln>
        </p:spPr>
        <p:txBody>
          <a:bodyPr/>
          <a:lstStyle/>
          <a:p>
            <a:endParaRPr lang="en-US"/>
          </a:p>
        </p:txBody>
      </p:sp>
      <p:sp>
        <p:nvSpPr>
          <p:cNvPr id="15" name="agenda 3 circle"/>
          <p:cNvSpPr/>
          <p:nvPr/>
        </p:nvSpPr>
        <p:spPr>
          <a:xfrm>
            <a:off x="777240" y="4023360"/>
            <a:ext cx="640080" cy="640080"/>
          </a:xfrm>
          <a:prstGeom prst="ellipse">
            <a:avLst/>
          </a:prstGeom>
          <a:solidFill>
            <a:schemeClr val="bg1"/>
          </a:solidFill>
          <a:ln w="12700">
            <a:solidFill>
              <a:schemeClr val="bg1"/>
            </a:solidFill>
            <a:prstDash val="solid"/>
          </a:ln>
        </p:spPr>
        <p:txBody>
          <a:bodyPr/>
          <a:lstStyle/>
          <a:p>
            <a:endParaRPr lang="en-US"/>
          </a:p>
        </p:txBody>
      </p:sp>
      <p:pic>
        <p:nvPicPr>
          <p:cNvPr id="16" name="agenda 3 icon" descr="agenda 3"/>
          <p:cNvPicPr>
            <a:picLocks noChangeAspect="1"/>
          </p:cNvPicPr>
          <p:nvPr/>
        </p:nvPicPr>
        <p:blipFill>
          <a:blip r:embed="rId5"/>
          <a:stretch>
            <a:fillRect/>
          </a:stretch>
        </p:blipFill>
        <p:spPr>
          <a:xfrm>
            <a:off x="918058" y="4164178"/>
            <a:ext cx="358445" cy="358445"/>
          </a:xfrm>
          <a:prstGeom prst="rect">
            <a:avLst/>
          </a:prstGeom>
        </p:spPr>
      </p:pic>
      <p:sp>
        <p:nvSpPr>
          <p:cNvPr id="17" name="Text 12"/>
          <p:cNvSpPr txBox="1"/>
          <p:nvPr/>
        </p:nvSpPr>
        <p:spPr>
          <a:xfrm>
            <a:off x="1691640" y="3877056"/>
            <a:ext cx="7680960" cy="932688"/>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Concrete and Abstract Questions</a:t>
            </a:r>
            <a:endParaRPr lang="en-US" sz="2200" dirty="0"/>
          </a:p>
        </p:txBody>
      </p:sp>
      <p:sp>
        <p:nvSpPr>
          <p:cNvPr id="18" name="Text 13"/>
          <p:cNvSpPr txBox="1"/>
          <p:nvPr/>
        </p:nvSpPr>
        <p:spPr>
          <a:xfrm>
            <a:off x="9418320" y="3877056"/>
            <a:ext cx="1965960" cy="932688"/>
          </a:xfrm>
          <a:prstGeom prst="rect">
            <a:avLst/>
          </a:prstGeom>
          <a:noFill/>
          <a:ln/>
        </p:spPr>
        <p:txBody>
          <a:bodyPr wrap="square" lIns="0" tIns="0" rIns="0" bIns="0" rtlCol="0" anchor="ctr"/>
          <a:lstStyle/>
          <a:p>
            <a:pPr marL="0" indent="0" algn="r">
              <a:buNone/>
            </a:pPr>
            <a:r>
              <a:rPr lang="en-US" sz="1600" dirty="0">
                <a:solidFill>
                  <a:schemeClr val="accent5"/>
                </a:solidFill>
              </a:rPr>
              <a:t>Slides 14–15</a:t>
            </a:r>
            <a:endParaRPr lang="en-US" sz="1600" dirty="0"/>
          </a:p>
        </p:txBody>
      </p:sp>
      <p:sp>
        <p:nvSpPr>
          <p:cNvPr id="19" name="agenda row 4"/>
          <p:cNvSpPr/>
          <p:nvPr/>
        </p:nvSpPr>
        <p:spPr>
          <a:xfrm>
            <a:off x="548640" y="4992624"/>
            <a:ext cx="11064240" cy="932688"/>
          </a:xfrm>
          <a:prstGeom prst="roundRect">
            <a:avLst>
              <a:gd name="adj" fmla="val 7843"/>
            </a:avLst>
          </a:prstGeom>
          <a:solidFill>
            <a:schemeClr val="bg2"/>
          </a:solidFill>
          <a:ln w="12700">
            <a:solidFill>
              <a:schemeClr val="bg2"/>
            </a:solidFill>
            <a:prstDash val="solid"/>
          </a:ln>
        </p:spPr>
        <p:txBody>
          <a:bodyPr/>
          <a:lstStyle/>
          <a:p>
            <a:endParaRPr lang="en-US"/>
          </a:p>
        </p:txBody>
      </p:sp>
      <p:sp>
        <p:nvSpPr>
          <p:cNvPr id="20" name="agenda 4 circle"/>
          <p:cNvSpPr/>
          <p:nvPr/>
        </p:nvSpPr>
        <p:spPr>
          <a:xfrm>
            <a:off x="777240" y="5138928"/>
            <a:ext cx="640080" cy="640080"/>
          </a:xfrm>
          <a:prstGeom prst="ellipse">
            <a:avLst/>
          </a:prstGeom>
          <a:solidFill>
            <a:schemeClr val="tx2"/>
          </a:solidFill>
          <a:ln w="12700">
            <a:solidFill>
              <a:schemeClr val="tx2"/>
            </a:solidFill>
            <a:prstDash val="solid"/>
          </a:ln>
        </p:spPr>
        <p:txBody>
          <a:bodyPr/>
          <a:lstStyle/>
          <a:p>
            <a:endParaRPr lang="en-US"/>
          </a:p>
        </p:txBody>
      </p:sp>
      <p:pic>
        <p:nvPicPr>
          <p:cNvPr id="21" name="agenda 4 icon" descr="agenda 4"/>
          <p:cNvPicPr>
            <a:picLocks noChangeAspect="1"/>
          </p:cNvPicPr>
          <p:nvPr/>
        </p:nvPicPr>
        <p:blipFill>
          <a:blip r:embed="rId6"/>
          <a:stretch>
            <a:fillRect/>
          </a:stretch>
        </p:blipFill>
        <p:spPr>
          <a:xfrm>
            <a:off x="918058" y="5279746"/>
            <a:ext cx="358445" cy="358445"/>
          </a:xfrm>
          <a:prstGeom prst="rect">
            <a:avLst/>
          </a:prstGeom>
        </p:spPr>
      </p:pic>
      <p:sp>
        <p:nvSpPr>
          <p:cNvPr id="22" name="Text 16"/>
          <p:cNvSpPr txBox="1"/>
          <p:nvPr/>
        </p:nvSpPr>
        <p:spPr>
          <a:xfrm>
            <a:off x="1691640" y="4992624"/>
            <a:ext cx="7680960" cy="932688"/>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Cartoon Course Summary, Dystopian Arc, and Lenses</a:t>
            </a:r>
            <a:endParaRPr lang="en-US" sz="2200" dirty="0"/>
          </a:p>
        </p:txBody>
      </p:sp>
      <p:sp>
        <p:nvSpPr>
          <p:cNvPr id="23" name="Text 17"/>
          <p:cNvSpPr txBox="1"/>
          <p:nvPr/>
        </p:nvSpPr>
        <p:spPr>
          <a:xfrm>
            <a:off x="9418320" y="4992624"/>
            <a:ext cx="1965960" cy="932688"/>
          </a:xfrm>
          <a:prstGeom prst="rect">
            <a:avLst/>
          </a:prstGeom>
          <a:noFill/>
          <a:ln/>
        </p:spPr>
        <p:txBody>
          <a:bodyPr wrap="square" lIns="0" tIns="0" rIns="0" bIns="0" rtlCol="0" anchor="ctr"/>
          <a:lstStyle/>
          <a:p>
            <a:pPr marL="0" indent="0" algn="r">
              <a:buNone/>
            </a:pPr>
            <a:r>
              <a:rPr lang="en-US" sz="1600" dirty="0">
                <a:solidFill>
                  <a:schemeClr val="accent4"/>
                </a:solidFill>
              </a:rPr>
              <a:t>Slides 16–18</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CONTEXT · NOTES FROM UNDERGROUND</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Russia under Alexander II, 1849–1881</a:t>
            </a:r>
            <a:endParaRPr lang="en-US" sz="3400" dirty="0"/>
          </a:p>
        </p:txBody>
      </p:sp>
      <p:sp>
        <p:nvSpPr>
          <p:cNvPr id="4" name="timeline axis"/>
          <p:cNvSpPr/>
          <p:nvPr/>
        </p:nvSpPr>
        <p:spPr>
          <a:xfrm>
            <a:off x="1371600" y="3886200"/>
            <a:ext cx="9418320" cy="0"/>
          </a:xfrm>
          <a:prstGeom prst="line">
            <a:avLst/>
          </a:prstGeom>
          <a:noFill/>
          <a:ln w="25400">
            <a:solidFill>
              <a:schemeClr val="accent4"/>
            </a:solidFill>
            <a:prstDash val="solid"/>
          </a:ln>
        </p:spPr>
        <p:txBody>
          <a:bodyPr/>
          <a:lstStyle/>
          <a:p>
            <a:endParaRPr lang="en-US"/>
          </a:p>
        </p:txBody>
      </p:sp>
      <p:sp>
        <p:nvSpPr>
          <p:cNvPr id="5" name="dot 1849"/>
          <p:cNvSpPr/>
          <p:nvPr/>
        </p:nvSpPr>
        <p:spPr>
          <a:xfrm>
            <a:off x="1271016" y="3785616"/>
            <a:ext cx="201168" cy="201168"/>
          </a:xfrm>
          <a:prstGeom prst="ellipse">
            <a:avLst/>
          </a:prstGeom>
          <a:solidFill>
            <a:schemeClr val="tx2"/>
          </a:solidFill>
          <a:ln w="25400">
            <a:solidFill>
              <a:schemeClr val="bg1"/>
            </a:solidFill>
            <a:prstDash val="solid"/>
          </a:ln>
        </p:spPr>
        <p:txBody>
          <a:bodyPr/>
          <a:lstStyle/>
          <a:p>
            <a:endParaRPr lang="en-US"/>
          </a:p>
        </p:txBody>
      </p:sp>
      <p:sp>
        <p:nvSpPr>
          <p:cNvPr id="6" name="year 1849"/>
          <p:cNvSpPr txBox="1"/>
          <p:nvPr/>
        </p:nvSpPr>
        <p:spPr>
          <a:xfrm>
            <a:off x="571500" y="1828800"/>
            <a:ext cx="1600200" cy="411480"/>
          </a:xfrm>
          <a:prstGeom prst="rect">
            <a:avLst/>
          </a:prstGeom>
          <a:noFill/>
          <a:ln/>
        </p:spPr>
        <p:txBody>
          <a:bodyPr wrap="square" lIns="0" tIns="0" rIns="0" bIns="0" rtlCol="0" anchor="ctr"/>
          <a:lstStyle/>
          <a:p>
            <a:pPr marL="0" indent="0" algn="ctr">
              <a:buNone/>
            </a:pPr>
            <a:r>
              <a:rPr lang="en-US" sz="2200" b="1" dirty="0">
                <a:solidFill>
                  <a:schemeClr val="tx1"/>
                </a:solidFill>
                <a:latin typeface="Cambria" pitchFamily="34" charset="0"/>
                <a:ea typeface="Cambria" pitchFamily="34" charset="-122"/>
                <a:cs typeface="Cambria" pitchFamily="34" charset="-120"/>
              </a:rPr>
              <a:t>1849</a:t>
            </a:r>
            <a:endParaRPr lang="en-US" sz="2200" dirty="0"/>
          </a:p>
        </p:txBody>
      </p:sp>
      <p:sp>
        <p:nvSpPr>
          <p:cNvPr id="7" name="event 1849"/>
          <p:cNvSpPr txBox="1"/>
          <p:nvPr/>
        </p:nvSpPr>
        <p:spPr>
          <a:xfrm>
            <a:off x="571500" y="2258568"/>
            <a:ext cx="1600200" cy="1188720"/>
          </a:xfrm>
          <a:prstGeom prst="rect">
            <a:avLst/>
          </a:prstGeom>
          <a:noFill/>
          <a:ln/>
        </p:spPr>
        <p:txBody>
          <a:bodyPr wrap="square" lIns="0" tIns="0" rIns="0" bIns="0" rtlCol="0" anchor="t"/>
          <a:lstStyle/>
          <a:p>
            <a:pPr marL="0" indent="0" algn="ctr">
              <a:buNone/>
            </a:pPr>
            <a:r>
              <a:rPr lang="en-US" sz="1400" dirty="0">
                <a:solidFill>
                  <a:schemeClr val="tx2"/>
                </a:solidFill>
              </a:rPr>
              <a:t>Dostoevsky's mock execution, then Siberian labor camp and exile</a:t>
            </a:r>
            <a:endParaRPr lang="en-US" sz="1400" dirty="0"/>
          </a:p>
        </p:txBody>
      </p:sp>
      <p:sp>
        <p:nvSpPr>
          <p:cNvPr id="8" name="dot 1855"/>
          <p:cNvSpPr/>
          <p:nvPr/>
        </p:nvSpPr>
        <p:spPr>
          <a:xfrm>
            <a:off x="2616490" y="3785616"/>
            <a:ext cx="201168" cy="201168"/>
          </a:xfrm>
          <a:prstGeom prst="ellipse">
            <a:avLst/>
          </a:prstGeom>
          <a:solidFill>
            <a:schemeClr val="tx2"/>
          </a:solidFill>
          <a:ln w="25400">
            <a:solidFill>
              <a:schemeClr val="bg1"/>
            </a:solidFill>
            <a:prstDash val="solid"/>
          </a:ln>
        </p:spPr>
        <p:txBody>
          <a:bodyPr/>
          <a:lstStyle/>
          <a:p>
            <a:endParaRPr lang="en-US"/>
          </a:p>
        </p:txBody>
      </p:sp>
      <p:sp>
        <p:nvSpPr>
          <p:cNvPr id="9" name="year 1855"/>
          <p:cNvSpPr txBox="1"/>
          <p:nvPr/>
        </p:nvSpPr>
        <p:spPr>
          <a:xfrm>
            <a:off x="1916974" y="4206240"/>
            <a:ext cx="1600200" cy="411480"/>
          </a:xfrm>
          <a:prstGeom prst="rect">
            <a:avLst/>
          </a:prstGeom>
          <a:noFill/>
          <a:ln/>
        </p:spPr>
        <p:txBody>
          <a:bodyPr wrap="square" lIns="0" tIns="0" rIns="0" bIns="0" rtlCol="0" anchor="ctr"/>
          <a:lstStyle/>
          <a:p>
            <a:pPr marL="0" indent="0" algn="ctr">
              <a:buNone/>
            </a:pPr>
            <a:r>
              <a:rPr lang="en-US" sz="2200" b="1" dirty="0">
                <a:solidFill>
                  <a:schemeClr val="tx1"/>
                </a:solidFill>
                <a:latin typeface="Cambria" pitchFamily="34" charset="0"/>
                <a:ea typeface="Cambria" pitchFamily="34" charset="-122"/>
                <a:cs typeface="Cambria" pitchFamily="34" charset="-120"/>
              </a:rPr>
              <a:t>1855</a:t>
            </a:r>
            <a:endParaRPr lang="en-US" sz="2200" dirty="0"/>
          </a:p>
        </p:txBody>
      </p:sp>
      <p:sp>
        <p:nvSpPr>
          <p:cNvPr id="10" name="event 1855"/>
          <p:cNvSpPr txBox="1"/>
          <p:nvPr/>
        </p:nvSpPr>
        <p:spPr>
          <a:xfrm>
            <a:off x="1916974" y="4636008"/>
            <a:ext cx="1600200" cy="1188720"/>
          </a:xfrm>
          <a:prstGeom prst="rect">
            <a:avLst/>
          </a:prstGeom>
          <a:noFill/>
          <a:ln/>
        </p:spPr>
        <p:txBody>
          <a:bodyPr wrap="square" lIns="0" tIns="0" rIns="0" bIns="0" rtlCol="0" anchor="t"/>
          <a:lstStyle/>
          <a:p>
            <a:pPr marL="0" indent="0" algn="ctr">
              <a:buNone/>
            </a:pPr>
            <a:r>
              <a:rPr lang="en-US" sz="1400" dirty="0">
                <a:solidFill>
                  <a:schemeClr val="tx2"/>
                </a:solidFill>
              </a:rPr>
              <a:t>Alexander II takes the throne</a:t>
            </a:r>
            <a:endParaRPr lang="en-US" sz="1400" dirty="0"/>
          </a:p>
        </p:txBody>
      </p:sp>
      <p:sp>
        <p:nvSpPr>
          <p:cNvPr id="11" name="dot 1861"/>
          <p:cNvSpPr/>
          <p:nvPr/>
        </p:nvSpPr>
        <p:spPr>
          <a:xfrm>
            <a:off x="3961965" y="3785616"/>
            <a:ext cx="201168" cy="201168"/>
          </a:xfrm>
          <a:prstGeom prst="ellipse">
            <a:avLst/>
          </a:prstGeom>
          <a:solidFill>
            <a:schemeClr val="tx2"/>
          </a:solidFill>
          <a:ln w="25400">
            <a:solidFill>
              <a:schemeClr val="bg1"/>
            </a:solidFill>
            <a:prstDash val="solid"/>
          </a:ln>
        </p:spPr>
        <p:txBody>
          <a:bodyPr/>
          <a:lstStyle/>
          <a:p>
            <a:endParaRPr lang="en-US"/>
          </a:p>
        </p:txBody>
      </p:sp>
      <p:sp>
        <p:nvSpPr>
          <p:cNvPr id="12" name="year 1861"/>
          <p:cNvSpPr txBox="1"/>
          <p:nvPr/>
        </p:nvSpPr>
        <p:spPr>
          <a:xfrm>
            <a:off x="3262449" y="1828800"/>
            <a:ext cx="1600200" cy="411480"/>
          </a:xfrm>
          <a:prstGeom prst="rect">
            <a:avLst/>
          </a:prstGeom>
          <a:noFill/>
          <a:ln/>
        </p:spPr>
        <p:txBody>
          <a:bodyPr wrap="square" lIns="0" tIns="0" rIns="0" bIns="0" rtlCol="0" anchor="ctr"/>
          <a:lstStyle/>
          <a:p>
            <a:pPr marL="0" indent="0" algn="ctr">
              <a:buNone/>
            </a:pPr>
            <a:r>
              <a:rPr lang="en-US" sz="2200" b="1" dirty="0">
                <a:solidFill>
                  <a:schemeClr val="tx1"/>
                </a:solidFill>
                <a:latin typeface="Cambria" pitchFamily="34" charset="0"/>
                <a:ea typeface="Cambria" pitchFamily="34" charset="-122"/>
                <a:cs typeface="Cambria" pitchFamily="34" charset="-120"/>
              </a:rPr>
              <a:t>1861</a:t>
            </a:r>
            <a:endParaRPr lang="en-US" sz="2200" dirty="0"/>
          </a:p>
        </p:txBody>
      </p:sp>
      <p:sp>
        <p:nvSpPr>
          <p:cNvPr id="13" name="event 1861"/>
          <p:cNvSpPr txBox="1"/>
          <p:nvPr/>
        </p:nvSpPr>
        <p:spPr>
          <a:xfrm>
            <a:off x="3262449" y="2258568"/>
            <a:ext cx="1600200" cy="1188720"/>
          </a:xfrm>
          <a:prstGeom prst="rect">
            <a:avLst/>
          </a:prstGeom>
          <a:noFill/>
          <a:ln/>
        </p:spPr>
        <p:txBody>
          <a:bodyPr wrap="square" lIns="0" tIns="0" rIns="0" bIns="0" rtlCol="0" anchor="t"/>
          <a:lstStyle/>
          <a:p>
            <a:pPr marL="0" indent="0" algn="ctr">
              <a:buNone/>
            </a:pPr>
            <a:r>
              <a:rPr lang="en-US" sz="1400" dirty="0">
                <a:solidFill>
                  <a:schemeClr val="tx2"/>
                </a:solidFill>
              </a:rPr>
              <a:t>Emancipation of the serfs; censorship loosened</a:t>
            </a:r>
            <a:endParaRPr lang="en-US" sz="1400" dirty="0"/>
          </a:p>
        </p:txBody>
      </p:sp>
      <p:sp>
        <p:nvSpPr>
          <p:cNvPr id="14" name="dot 1862"/>
          <p:cNvSpPr/>
          <p:nvPr/>
        </p:nvSpPr>
        <p:spPr>
          <a:xfrm>
            <a:off x="5307439" y="3785616"/>
            <a:ext cx="201168" cy="201168"/>
          </a:xfrm>
          <a:prstGeom prst="ellipse">
            <a:avLst/>
          </a:prstGeom>
          <a:solidFill>
            <a:schemeClr val="tx2"/>
          </a:solidFill>
          <a:ln w="25400">
            <a:solidFill>
              <a:schemeClr val="bg1"/>
            </a:solidFill>
            <a:prstDash val="solid"/>
          </a:ln>
        </p:spPr>
        <p:txBody>
          <a:bodyPr/>
          <a:lstStyle/>
          <a:p>
            <a:endParaRPr lang="en-US"/>
          </a:p>
        </p:txBody>
      </p:sp>
      <p:sp>
        <p:nvSpPr>
          <p:cNvPr id="15" name="year 1862"/>
          <p:cNvSpPr txBox="1"/>
          <p:nvPr/>
        </p:nvSpPr>
        <p:spPr>
          <a:xfrm>
            <a:off x="4607923" y="4206240"/>
            <a:ext cx="1600200" cy="411480"/>
          </a:xfrm>
          <a:prstGeom prst="rect">
            <a:avLst/>
          </a:prstGeom>
          <a:noFill/>
          <a:ln/>
        </p:spPr>
        <p:txBody>
          <a:bodyPr wrap="square" lIns="0" tIns="0" rIns="0" bIns="0" rtlCol="0" anchor="ctr"/>
          <a:lstStyle/>
          <a:p>
            <a:pPr marL="0" indent="0" algn="ctr">
              <a:buNone/>
            </a:pPr>
            <a:r>
              <a:rPr lang="en-US" sz="2200" b="1" dirty="0">
                <a:solidFill>
                  <a:schemeClr val="tx1"/>
                </a:solidFill>
                <a:latin typeface="Cambria" pitchFamily="34" charset="0"/>
                <a:ea typeface="Cambria" pitchFamily="34" charset="-122"/>
                <a:cs typeface="Cambria" pitchFamily="34" charset="-120"/>
              </a:rPr>
              <a:t>1862</a:t>
            </a:r>
            <a:endParaRPr lang="en-US" sz="2200" dirty="0"/>
          </a:p>
        </p:txBody>
      </p:sp>
      <p:sp>
        <p:nvSpPr>
          <p:cNvPr id="16" name="event 1862"/>
          <p:cNvSpPr txBox="1"/>
          <p:nvPr/>
        </p:nvSpPr>
        <p:spPr>
          <a:xfrm>
            <a:off x="4607923" y="4636008"/>
            <a:ext cx="1600200" cy="1188720"/>
          </a:xfrm>
          <a:prstGeom prst="rect">
            <a:avLst/>
          </a:prstGeom>
          <a:noFill/>
          <a:ln/>
        </p:spPr>
        <p:txBody>
          <a:bodyPr wrap="square" lIns="0" tIns="0" rIns="0" bIns="0" rtlCol="0" anchor="t"/>
          <a:lstStyle/>
          <a:p>
            <a:pPr marL="0" indent="0" algn="ctr">
              <a:buNone/>
            </a:pPr>
            <a:r>
              <a:rPr lang="en-US" sz="1400" dirty="0">
                <a:solidFill>
                  <a:schemeClr val="tx2"/>
                </a:solidFill>
              </a:rPr>
              <a:t>Turgenev's Fathers and Sons names the "nihilists"</a:t>
            </a:r>
            <a:endParaRPr lang="en-US" sz="1400" dirty="0"/>
          </a:p>
        </p:txBody>
      </p:sp>
      <p:sp>
        <p:nvSpPr>
          <p:cNvPr id="17" name="dot 1863"/>
          <p:cNvSpPr/>
          <p:nvPr/>
        </p:nvSpPr>
        <p:spPr>
          <a:xfrm>
            <a:off x="6652913" y="3785616"/>
            <a:ext cx="201168" cy="201168"/>
          </a:xfrm>
          <a:prstGeom prst="ellipse">
            <a:avLst/>
          </a:prstGeom>
          <a:solidFill>
            <a:schemeClr val="tx2"/>
          </a:solidFill>
          <a:ln w="25400">
            <a:solidFill>
              <a:schemeClr val="bg1"/>
            </a:solidFill>
            <a:prstDash val="solid"/>
          </a:ln>
        </p:spPr>
        <p:txBody>
          <a:bodyPr/>
          <a:lstStyle/>
          <a:p>
            <a:endParaRPr lang="en-US"/>
          </a:p>
        </p:txBody>
      </p:sp>
      <p:sp>
        <p:nvSpPr>
          <p:cNvPr id="18" name="year 1863"/>
          <p:cNvSpPr txBox="1"/>
          <p:nvPr/>
        </p:nvSpPr>
        <p:spPr>
          <a:xfrm>
            <a:off x="5953397" y="1828800"/>
            <a:ext cx="1600200" cy="411480"/>
          </a:xfrm>
          <a:prstGeom prst="rect">
            <a:avLst/>
          </a:prstGeom>
          <a:noFill/>
          <a:ln/>
        </p:spPr>
        <p:txBody>
          <a:bodyPr wrap="square" lIns="0" tIns="0" rIns="0" bIns="0" rtlCol="0" anchor="ctr"/>
          <a:lstStyle/>
          <a:p>
            <a:pPr marL="0" indent="0" algn="ctr">
              <a:buNone/>
            </a:pPr>
            <a:r>
              <a:rPr lang="en-US" sz="2200" b="1" dirty="0">
                <a:solidFill>
                  <a:schemeClr val="tx1"/>
                </a:solidFill>
                <a:latin typeface="Cambria" pitchFamily="34" charset="0"/>
                <a:ea typeface="Cambria" pitchFamily="34" charset="-122"/>
                <a:cs typeface="Cambria" pitchFamily="34" charset="-120"/>
              </a:rPr>
              <a:t>1863</a:t>
            </a:r>
            <a:endParaRPr lang="en-US" sz="2200" dirty="0"/>
          </a:p>
        </p:txBody>
      </p:sp>
      <p:sp>
        <p:nvSpPr>
          <p:cNvPr id="19" name="event 1863"/>
          <p:cNvSpPr txBox="1"/>
          <p:nvPr/>
        </p:nvSpPr>
        <p:spPr>
          <a:xfrm>
            <a:off x="5953397" y="2258568"/>
            <a:ext cx="1600200" cy="1188720"/>
          </a:xfrm>
          <a:prstGeom prst="rect">
            <a:avLst/>
          </a:prstGeom>
          <a:noFill/>
          <a:ln/>
        </p:spPr>
        <p:txBody>
          <a:bodyPr wrap="square" lIns="0" tIns="0" rIns="0" bIns="0" rtlCol="0" anchor="t"/>
          <a:lstStyle/>
          <a:p>
            <a:pPr marL="0" indent="0" algn="ctr">
              <a:buNone/>
            </a:pPr>
            <a:r>
              <a:rPr lang="en-US" sz="1400" dirty="0">
                <a:solidFill>
                  <a:schemeClr val="tx2"/>
                </a:solidFill>
              </a:rPr>
              <a:t>Chernyshevsky's What Is to Be Done? imagines the Crystal Palace</a:t>
            </a:r>
            <a:endParaRPr lang="en-US" sz="1400" dirty="0"/>
          </a:p>
        </p:txBody>
      </p:sp>
      <p:sp>
        <p:nvSpPr>
          <p:cNvPr id="20" name="dot 1864"/>
          <p:cNvSpPr/>
          <p:nvPr/>
        </p:nvSpPr>
        <p:spPr>
          <a:xfrm>
            <a:off x="7934379" y="3721608"/>
            <a:ext cx="329184" cy="329184"/>
          </a:xfrm>
          <a:prstGeom prst="ellipse">
            <a:avLst/>
          </a:prstGeom>
          <a:solidFill>
            <a:schemeClr val="accent1"/>
          </a:solidFill>
          <a:ln w="25400">
            <a:solidFill>
              <a:schemeClr val="bg1"/>
            </a:solidFill>
            <a:prstDash val="solid"/>
          </a:ln>
        </p:spPr>
        <p:txBody>
          <a:bodyPr/>
          <a:lstStyle/>
          <a:p>
            <a:endParaRPr lang="en-US"/>
          </a:p>
        </p:txBody>
      </p:sp>
      <p:sp>
        <p:nvSpPr>
          <p:cNvPr id="21" name="year 1864"/>
          <p:cNvSpPr txBox="1"/>
          <p:nvPr/>
        </p:nvSpPr>
        <p:spPr>
          <a:xfrm>
            <a:off x="7298871" y="4206240"/>
            <a:ext cx="1600200" cy="411480"/>
          </a:xfrm>
          <a:prstGeom prst="rect">
            <a:avLst/>
          </a:prstGeom>
          <a:noFill/>
          <a:ln/>
        </p:spPr>
        <p:txBody>
          <a:bodyPr wrap="square" lIns="0" tIns="0" rIns="0" bIns="0" rtlCol="0" anchor="ctr"/>
          <a:lstStyle/>
          <a:p>
            <a:pPr marL="0" indent="0" algn="ctr">
              <a:buNone/>
            </a:pPr>
            <a:r>
              <a:rPr lang="en-US" sz="2600" b="1" dirty="0">
                <a:solidFill>
                  <a:schemeClr val="accent1"/>
                </a:solidFill>
                <a:latin typeface="Cambria" pitchFamily="34" charset="0"/>
                <a:ea typeface="Cambria" pitchFamily="34" charset="-122"/>
                <a:cs typeface="Cambria" pitchFamily="34" charset="-120"/>
              </a:rPr>
              <a:t>1864</a:t>
            </a:r>
            <a:endParaRPr lang="en-US" sz="2600" dirty="0"/>
          </a:p>
        </p:txBody>
      </p:sp>
      <p:sp>
        <p:nvSpPr>
          <p:cNvPr id="22" name="event 1864"/>
          <p:cNvSpPr txBox="1"/>
          <p:nvPr/>
        </p:nvSpPr>
        <p:spPr>
          <a:xfrm>
            <a:off x="7298871" y="4636008"/>
            <a:ext cx="1600200" cy="1188720"/>
          </a:xfrm>
          <a:prstGeom prst="rect">
            <a:avLst/>
          </a:prstGeom>
          <a:noFill/>
          <a:ln/>
        </p:spPr>
        <p:txBody>
          <a:bodyPr wrap="square" lIns="0" tIns="0" rIns="0" bIns="0" rtlCol="0" anchor="t"/>
          <a:lstStyle/>
          <a:p>
            <a:pPr marL="0" indent="0" algn="ctr">
              <a:buNone/>
            </a:pPr>
            <a:r>
              <a:rPr lang="en-US" sz="1400" dirty="0">
                <a:solidFill>
                  <a:schemeClr val="tx2"/>
                </a:solidFill>
              </a:rPr>
              <a:t>Dostoevsky answers with Notes from Underground</a:t>
            </a:r>
            <a:endParaRPr lang="en-US" sz="1400" dirty="0"/>
          </a:p>
        </p:txBody>
      </p:sp>
      <p:sp>
        <p:nvSpPr>
          <p:cNvPr id="23" name="dot 1866"/>
          <p:cNvSpPr/>
          <p:nvPr/>
        </p:nvSpPr>
        <p:spPr>
          <a:xfrm>
            <a:off x="9343862" y="3785616"/>
            <a:ext cx="201168" cy="201168"/>
          </a:xfrm>
          <a:prstGeom prst="ellipse">
            <a:avLst/>
          </a:prstGeom>
          <a:solidFill>
            <a:schemeClr val="tx2"/>
          </a:solidFill>
          <a:ln w="25400">
            <a:solidFill>
              <a:schemeClr val="bg1"/>
            </a:solidFill>
            <a:prstDash val="solid"/>
          </a:ln>
        </p:spPr>
        <p:txBody>
          <a:bodyPr/>
          <a:lstStyle/>
          <a:p>
            <a:endParaRPr lang="en-US"/>
          </a:p>
        </p:txBody>
      </p:sp>
      <p:sp>
        <p:nvSpPr>
          <p:cNvPr id="24" name="year 1866"/>
          <p:cNvSpPr txBox="1"/>
          <p:nvPr/>
        </p:nvSpPr>
        <p:spPr>
          <a:xfrm>
            <a:off x="8644346" y="1828800"/>
            <a:ext cx="1600200" cy="411480"/>
          </a:xfrm>
          <a:prstGeom prst="rect">
            <a:avLst/>
          </a:prstGeom>
          <a:noFill/>
          <a:ln/>
        </p:spPr>
        <p:txBody>
          <a:bodyPr wrap="square" lIns="0" tIns="0" rIns="0" bIns="0" rtlCol="0" anchor="ctr"/>
          <a:lstStyle/>
          <a:p>
            <a:pPr marL="0" indent="0" algn="ctr">
              <a:buNone/>
            </a:pPr>
            <a:r>
              <a:rPr lang="en-US" sz="2200" b="1" dirty="0">
                <a:solidFill>
                  <a:schemeClr val="tx1"/>
                </a:solidFill>
                <a:latin typeface="Cambria" pitchFamily="34" charset="0"/>
                <a:ea typeface="Cambria" pitchFamily="34" charset="-122"/>
                <a:cs typeface="Cambria" pitchFamily="34" charset="-120"/>
              </a:rPr>
              <a:t>1866</a:t>
            </a:r>
            <a:endParaRPr lang="en-US" sz="2200" dirty="0"/>
          </a:p>
        </p:txBody>
      </p:sp>
      <p:sp>
        <p:nvSpPr>
          <p:cNvPr id="25" name="event 1866"/>
          <p:cNvSpPr txBox="1"/>
          <p:nvPr/>
        </p:nvSpPr>
        <p:spPr>
          <a:xfrm>
            <a:off x="8644346" y="2258568"/>
            <a:ext cx="1600200" cy="1188720"/>
          </a:xfrm>
          <a:prstGeom prst="rect">
            <a:avLst/>
          </a:prstGeom>
          <a:noFill/>
          <a:ln/>
        </p:spPr>
        <p:txBody>
          <a:bodyPr wrap="square" lIns="0" tIns="0" rIns="0" bIns="0" rtlCol="0" anchor="t"/>
          <a:lstStyle/>
          <a:p>
            <a:pPr marL="0" indent="0" algn="ctr">
              <a:buNone/>
            </a:pPr>
            <a:r>
              <a:rPr lang="en-US" sz="1400" dirty="0">
                <a:solidFill>
                  <a:schemeClr val="tx2"/>
                </a:solidFill>
              </a:rPr>
              <a:t>Karakozov tries to assassinate the Tsar</a:t>
            </a:r>
            <a:endParaRPr lang="en-US" sz="1400" dirty="0"/>
          </a:p>
        </p:txBody>
      </p:sp>
      <p:sp>
        <p:nvSpPr>
          <p:cNvPr id="26" name="dot 1881"/>
          <p:cNvSpPr/>
          <p:nvPr/>
        </p:nvSpPr>
        <p:spPr>
          <a:xfrm>
            <a:off x="10689336" y="3785616"/>
            <a:ext cx="201168" cy="201168"/>
          </a:xfrm>
          <a:prstGeom prst="ellipse">
            <a:avLst/>
          </a:prstGeom>
          <a:solidFill>
            <a:schemeClr val="tx2"/>
          </a:solidFill>
          <a:ln w="25400">
            <a:solidFill>
              <a:schemeClr val="bg1"/>
            </a:solidFill>
            <a:prstDash val="solid"/>
          </a:ln>
        </p:spPr>
        <p:txBody>
          <a:bodyPr/>
          <a:lstStyle/>
          <a:p>
            <a:endParaRPr lang="en-US"/>
          </a:p>
        </p:txBody>
      </p:sp>
      <p:sp>
        <p:nvSpPr>
          <p:cNvPr id="27" name="year 1881"/>
          <p:cNvSpPr txBox="1"/>
          <p:nvPr/>
        </p:nvSpPr>
        <p:spPr>
          <a:xfrm>
            <a:off x="9989820" y="4206240"/>
            <a:ext cx="1600200" cy="411480"/>
          </a:xfrm>
          <a:prstGeom prst="rect">
            <a:avLst/>
          </a:prstGeom>
          <a:noFill/>
          <a:ln/>
        </p:spPr>
        <p:txBody>
          <a:bodyPr wrap="square" lIns="0" tIns="0" rIns="0" bIns="0" rtlCol="0" anchor="ctr"/>
          <a:lstStyle/>
          <a:p>
            <a:pPr marL="0" indent="0" algn="ctr">
              <a:buNone/>
            </a:pPr>
            <a:r>
              <a:rPr lang="en-US" sz="2200" b="1" dirty="0">
                <a:solidFill>
                  <a:schemeClr val="tx1"/>
                </a:solidFill>
                <a:latin typeface="Cambria" pitchFamily="34" charset="0"/>
                <a:ea typeface="Cambria" pitchFamily="34" charset="-122"/>
                <a:cs typeface="Cambria" pitchFamily="34" charset="-120"/>
              </a:rPr>
              <a:t>1881</a:t>
            </a:r>
            <a:endParaRPr lang="en-US" sz="2200" dirty="0"/>
          </a:p>
        </p:txBody>
      </p:sp>
      <p:sp>
        <p:nvSpPr>
          <p:cNvPr id="28" name="event 1881"/>
          <p:cNvSpPr txBox="1"/>
          <p:nvPr/>
        </p:nvSpPr>
        <p:spPr>
          <a:xfrm>
            <a:off x="9989820" y="4636008"/>
            <a:ext cx="1600200" cy="1188720"/>
          </a:xfrm>
          <a:prstGeom prst="rect">
            <a:avLst/>
          </a:prstGeom>
          <a:noFill/>
          <a:ln/>
        </p:spPr>
        <p:txBody>
          <a:bodyPr wrap="square" lIns="0" tIns="0" rIns="0" bIns="0" rtlCol="0" anchor="t"/>
          <a:lstStyle/>
          <a:p>
            <a:pPr marL="0" indent="0" algn="ctr">
              <a:buNone/>
            </a:pPr>
            <a:r>
              <a:rPr lang="en-US" sz="1400" dirty="0">
                <a:solidFill>
                  <a:schemeClr val="tx2"/>
                </a:solidFill>
              </a:rPr>
              <a:t>People's Will kills Alexander II, weeks after Dostoevsky dies</a:t>
            </a:r>
            <a:endParaRPr lang="en-US" sz="1400" dirty="0"/>
          </a:p>
        </p:txBody>
      </p:sp>
      <p:sp>
        <p:nvSpPr>
          <p:cNvPr id="29" name="Text 27"/>
          <p:cNvSpPr txBox="1"/>
          <p:nvPr/>
        </p:nvSpPr>
        <p:spPr>
          <a:xfrm>
            <a:off x="548640" y="6263640"/>
            <a:ext cx="8229600" cy="320040"/>
          </a:xfrm>
          <a:prstGeom prst="rect">
            <a:avLst/>
          </a:prstGeom>
          <a:noFill/>
          <a:ln/>
        </p:spPr>
        <p:txBody>
          <a:bodyPr wrap="square" lIns="0" tIns="0" rIns="0" bIns="0" rtlCol="0" anchor="ctr"/>
          <a:lstStyle/>
          <a:p>
            <a:pPr marL="0" indent="0">
              <a:buNone/>
            </a:pPr>
            <a:r>
              <a:rPr lang="en-US" sz="1000" i="1" dirty="0">
                <a:solidFill>
                  <a:schemeClr val="accent4"/>
                </a:solidFill>
              </a:rPr>
              <a:t>Not to scale. Adapted from DMC Chronology and the Notes from Underground context notes.</a:t>
            </a:r>
            <a:endParaRPr lang="en-US" sz="1000" dirty="0"/>
          </a:p>
        </p:txBody>
      </p:sp>
      <p:sp>
        <p:nvSpPr>
          <p:cNvPr id="30"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CONTEXT · THE SETTING</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A reforming Tsar and the first nihilists</a:t>
            </a:r>
            <a:endParaRPr lang="en-US" sz="3400" dirty="0"/>
          </a:p>
        </p:txBody>
      </p:sp>
      <p:sp>
        <p:nvSpPr>
          <p:cNvPr id="4" name="Alexander II card"/>
          <p:cNvSpPr/>
          <p:nvPr/>
        </p:nvSpPr>
        <p:spPr>
          <a:xfrm>
            <a:off x="548640" y="1645920"/>
            <a:ext cx="5394960" cy="4480560"/>
          </a:xfrm>
          <a:prstGeom prst="roundRect">
            <a:avLst>
              <a:gd name="adj" fmla="val 1633"/>
            </a:avLst>
          </a:prstGeom>
          <a:solidFill>
            <a:schemeClr val="bg2"/>
          </a:solidFill>
          <a:ln w="12700">
            <a:solidFill>
              <a:schemeClr val="bg2"/>
            </a:solidFill>
            <a:prstDash val="solid"/>
          </a:ln>
        </p:spPr>
        <p:txBody>
          <a:bodyPr/>
          <a:lstStyle/>
          <a:p>
            <a:endParaRPr lang="en-US"/>
          </a:p>
        </p:txBody>
      </p:sp>
      <p:sp>
        <p:nvSpPr>
          <p:cNvPr id="5" name="crown circle"/>
          <p:cNvSpPr/>
          <p:nvPr/>
        </p:nvSpPr>
        <p:spPr>
          <a:xfrm>
            <a:off x="868680" y="1920240"/>
            <a:ext cx="777240" cy="777240"/>
          </a:xfrm>
          <a:prstGeom prst="ellipse">
            <a:avLst/>
          </a:prstGeom>
          <a:solidFill>
            <a:schemeClr val="tx2"/>
          </a:solidFill>
          <a:ln w="12700">
            <a:solidFill>
              <a:schemeClr val="tx2"/>
            </a:solidFill>
            <a:prstDash val="solid"/>
          </a:ln>
        </p:spPr>
        <p:txBody>
          <a:bodyPr/>
          <a:lstStyle/>
          <a:p>
            <a:endParaRPr lang="en-US"/>
          </a:p>
        </p:txBody>
      </p:sp>
      <p:pic>
        <p:nvPicPr>
          <p:cNvPr id="6" name="crown icon" descr="crown"/>
          <p:cNvPicPr>
            <a:picLocks noChangeAspect="1"/>
          </p:cNvPicPr>
          <p:nvPr/>
        </p:nvPicPr>
        <p:blipFill>
          <a:blip r:embed="rId3"/>
          <a:stretch>
            <a:fillRect/>
          </a:stretch>
        </p:blipFill>
        <p:spPr>
          <a:xfrm>
            <a:off x="1039673" y="2091233"/>
            <a:ext cx="435254" cy="435254"/>
          </a:xfrm>
          <a:prstGeom prst="rect">
            <a:avLst/>
          </a:prstGeom>
        </p:spPr>
      </p:pic>
      <p:sp>
        <p:nvSpPr>
          <p:cNvPr id="7" name="Text 4"/>
          <p:cNvSpPr txBox="1"/>
          <p:nvPr/>
        </p:nvSpPr>
        <p:spPr>
          <a:xfrm>
            <a:off x="1828800" y="2011680"/>
            <a:ext cx="3931920" cy="59436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Alexander II (r. 1855–1881)</a:t>
            </a:r>
            <a:endParaRPr lang="en-US" sz="2200" dirty="0"/>
          </a:p>
        </p:txBody>
      </p:sp>
      <p:sp>
        <p:nvSpPr>
          <p:cNvPr id="8" name="Text 5"/>
          <p:cNvSpPr txBox="1"/>
          <p:nvPr/>
        </p:nvSpPr>
        <p:spPr>
          <a:xfrm>
            <a:off x="868680" y="2926080"/>
            <a:ext cx="4846320" cy="3017520"/>
          </a:xfrm>
          <a:prstGeom prst="rect">
            <a:avLst/>
          </a:prstGeom>
          <a:noFill/>
          <a:ln/>
        </p:spPr>
        <p:txBody>
          <a:bodyPr wrap="square" rtlCol="0" anchor="t"/>
          <a:lstStyle/>
          <a:p>
            <a:pPr marL="342900" indent="-342900">
              <a:spcAft>
                <a:spcPts val="1000"/>
              </a:spcAft>
              <a:buSzPct val="100000"/>
              <a:buChar char="•"/>
            </a:pPr>
            <a:r>
              <a:rPr lang="en-US" sz="1600" dirty="0">
                <a:solidFill>
                  <a:schemeClr val="tx2"/>
                </a:solidFill>
              </a:rPr>
              <a:t>His Great Reforms, above all freeing the serfs in 1861, and looser censorship made room for a radical intelligentsia.</a:t>
            </a:r>
            <a:endParaRPr lang="en-US" sz="1600" dirty="0"/>
          </a:p>
          <a:p>
            <a:pPr marL="342900" indent="-342900">
              <a:spcAft>
                <a:spcPts val="1000"/>
              </a:spcAft>
              <a:buSzPct val="100000"/>
              <a:buChar char="•"/>
            </a:pPr>
            <a:r>
              <a:rPr lang="en-US" sz="1600" dirty="0">
                <a:solidFill>
                  <a:schemeClr val="tx2"/>
                </a:solidFill>
              </a:rPr>
              <a:t>When the reforms didn't satisfy the radicals, his government cracked down.</a:t>
            </a:r>
            <a:endParaRPr lang="en-US" sz="1600" dirty="0"/>
          </a:p>
          <a:p>
            <a:pPr marL="342900" indent="-342900">
              <a:spcAft>
                <a:spcPts val="1000"/>
              </a:spcAft>
              <a:buSzPct val="100000"/>
              <a:buChar char="•"/>
            </a:pPr>
            <a:r>
              <a:rPr lang="en-US" sz="1600" dirty="0">
                <a:solidFill>
                  <a:schemeClr val="tx2"/>
                </a:solidFill>
              </a:rPr>
              <a:t>His reign brought the movement into being, and became its target.</a:t>
            </a:r>
            <a:endParaRPr lang="en-US" sz="1600" dirty="0"/>
          </a:p>
        </p:txBody>
      </p:sp>
      <p:sp>
        <p:nvSpPr>
          <p:cNvPr id="9" name="Nihilism card"/>
          <p:cNvSpPr/>
          <p:nvPr/>
        </p:nvSpPr>
        <p:spPr>
          <a:xfrm>
            <a:off x="6263640" y="1645920"/>
            <a:ext cx="5394960" cy="4480560"/>
          </a:xfrm>
          <a:prstGeom prst="roundRect">
            <a:avLst>
              <a:gd name="adj" fmla="val 1633"/>
            </a:avLst>
          </a:prstGeom>
          <a:solidFill>
            <a:schemeClr val="bg2"/>
          </a:solidFill>
          <a:ln w="12700">
            <a:solidFill>
              <a:schemeClr val="bg2"/>
            </a:solidFill>
            <a:prstDash val="solid"/>
          </a:ln>
        </p:spPr>
        <p:txBody>
          <a:bodyPr/>
          <a:lstStyle/>
          <a:p>
            <a:endParaRPr lang="en-US"/>
          </a:p>
        </p:txBody>
      </p:sp>
      <p:sp>
        <p:nvSpPr>
          <p:cNvPr id="10" name="flask circle"/>
          <p:cNvSpPr/>
          <p:nvPr/>
        </p:nvSpPr>
        <p:spPr>
          <a:xfrm>
            <a:off x="6583680" y="1920240"/>
            <a:ext cx="777240" cy="777240"/>
          </a:xfrm>
          <a:prstGeom prst="ellipse">
            <a:avLst/>
          </a:prstGeom>
          <a:solidFill>
            <a:schemeClr val="accent3"/>
          </a:solidFill>
          <a:ln w="12700">
            <a:solidFill>
              <a:schemeClr val="accent3"/>
            </a:solidFill>
            <a:prstDash val="solid"/>
          </a:ln>
        </p:spPr>
        <p:txBody>
          <a:bodyPr/>
          <a:lstStyle/>
          <a:p>
            <a:endParaRPr lang="en-US"/>
          </a:p>
        </p:txBody>
      </p:sp>
      <p:pic>
        <p:nvPicPr>
          <p:cNvPr id="11" name="flask icon" descr="flask"/>
          <p:cNvPicPr>
            <a:picLocks noChangeAspect="1"/>
          </p:cNvPicPr>
          <p:nvPr/>
        </p:nvPicPr>
        <p:blipFill>
          <a:blip r:embed="rId4"/>
          <a:stretch>
            <a:fillRect/>
          </a:stretch>
        </p:blipFill>
        <p:spPr>
          <a:xfrm>
            <a:off x="6754673" y="2091233"/>
            <a:ext cx="435254" cy="435254"/>
          </a:xfrm>
          <a:prstGeom prst="rect">
            <a:avLst/>
          </a:prstGeom>
        </p:spPr>
      </p:pic>
      <p:sp>
        <p:nvSpPr>
          <p:cNvPr id="12" name="Text 8"/>
          <p:cNvSpPr txBox="1"/>
          <p:nvPr/>
        </p:nvSpPr>
        <p:spPr>
          <a:xfrm>
            <a:off x="7543800" y="2011680"/>
            <a:ext cx="3931920" cy="59436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Russian Nihilism</a:t>
            </a:r>
            <a:endParaRPr lang="en-US" sz="2200" dirty="0"/>
          </a:p>
        </p:txBody>
      </p:sp>
      <p:sp>
        <p:nvSpPr>
          <p:cNvPr id="13" name="Text 9"/>
          <p:cNvSpPr txBox="1"/>
          <p:nvPr/>
        </p:nvSpPr>
        <p:spPr>
          <a:xfrm>
            <a:off x="6583680" y="2926080"/>
            <a:ext cx="4846320" cy="3017520"/>
          </a:xfrm>
          <a:prstGeom prst="rect">
            <a:avLst/>
          </a:prstGeom>
          <a:noFill/>
          <a:ln/>
        </p:spPr>
        <p:txBody>
          <a:bodyPr wrap="square" rtlCol="0" anchor="t"/>
          <a:lstStyle/>
          <a:p>
            <a:pPr marL="342900" indent="-342900">
              <a:spcAft>
                <a:spcPts val="1000"/>
              </a:spcAft>
              <a:buSzPct val="100000"/>
              <a:buChar char="•"/>
            </a:pPr>
            <a:r>
              <a:rPr lang="en-US" sz="1600" dirty="0">
                <a:solidFill>
                  <a:schemeClr val="tx2"/>
                </a:solidFill>
              </a:rPr>
              <a:t>Named through Bazarov, hero of Turgenev's Fathers and Sons (1862).</a:t>
            </a:r>
            <a:endParaRPr lang="en-US" sz="1600" dirty="0"/>
          </a:p>
          <a:p>
            <a:pPr marL="342900" indent="-342900">
              <a:spcAft>
                <a:spcPts val="1000"/>
              </a:spcAft>
              <a:buSzPct val="100000"/>
              <a:buChar char="•"/>
            </a:pPr>
            <a:r>
              <a:rPr lang="en-US" sz="1600" dirty="0">
                <a:solidFill>
                  <a:schemeClr val="tx2"/>
                </a:solidFill>
              </a:rPr>
              <a:t>Less "nothing matters" than "nothing counts except what science can verify."</a:t>
            </a:r>
            <a:endParaRPr lang="en-US" sz="1600" dirty="0"/>
          </a:p>
          <a:p>
            <a:pPr marL="342900" indent="-342900">
              <a:spcAft>
                <a:spcPts val="1000"/>
              </a:spcAft>
              <a:buSzPct val="100000"/>
              <a:buChar char="•"/>
            </a:pPr>
            <a:r>
              <a:rPr lang="en-US" sz="1600" dirty="0">
                <a:solidFill>
                  <a:schemeClr val="tx2"/>
                </a:solidFill>
              </a:rPr>
              <a:t>Out: religion, tradition, art for its own sake, inherited authority. In: materialism, utilitarianism, scientism.</a:t>
            </a:r>
            <a:endParaRPr lang="en-US" sz="1600" dirty="0"/>
          </a:p>
          <a:p>
            <a:pPr marL="342900" indent="-342900">
              <a:spcAft>
                <a:spcPts val="1000"/>
              </a:spcAft>
              <a:buSzPct val="100000"/>
              <a:buChar char="•"/>
            </a:pPr>
            <a:r>
              <a:rPr lang="en-US" sz="1600" b="1" dirty="0">
                <a:solidFill>
                  <a:schemeClr val="accent1"/>
                </a:solidFill>
              </a:rPr>
              <a:t>The irony: these nihilists believed passionately in one thing, reason.</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CONTEXT · THE DREAM</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Chernyshevsky's Crystal Palace</a:t>
            </a:r>
            <a:endParaRPr lang="en-US" sz="3400" dirty="0"/>
          </a:p>
        </p:txBody>
      </p:sp>
      <p:sp>
        <p:nvSpPr>
          <p:cNvPr id="4" name="palace roof"/>
          <p:cNvSpPr/>
          <p:nvPr/>
        </p:nvSpPr>
        <p:spPr>
          <a:xfrm>
            <a:off x="822960" y="1463040"/>
            <a:ext cx="4206240" cy="914400"/>
          </a:xfrm>
          <a:prstGeom prst="triangle">
            <a:avLst/>
          </a:prstGeom>
          <a:solidFill>
            <a:schemeClr val="accent3">
              <a:alpha val="75000"/>
            </a:schemeClr>
          </a:solidFill>
          <a:ln w="19050">
            <a:solidFill>
              <a:schemeClr val="tx2"/>
            </a:solidFill>
            <a:prstDash val="solid"/>
          </a:ln>
        </p:spPr>
        <p:txBody>
          <a:bodyPr/>
          <a:lstStyle/>
          <a:p>
            <a:endParaRPr lang="en-US"/>
          </a:p>
        </p:txBody>
      </p:sp>
      <p:sp>
        <p:nvSpPr>
          <p:cNvPr id="5" name="pane 0-0"/>
          <p:cNvSpPr/>
          <p:nvPr/>
        </p:nvSpPr>
        <p:spPr>
          <a:xfrm>
            <a:off x="822960" y="2377440"/>
            <a:ext cx="701040" cy="685800"/>
          </a:xfrm>
          <a:prstGeom prst="rect">
            <a:avLst/>
          </a:prstGeom>
          <a:solidFill>
            <a:schemeClr val="accent3">
              <a:alpha val="45000"/>
            </a:schemeClr>
          </a:solidFill>
          <a:ln w="19050">
            <a:solidFill>
              <a:schemeClr val="tx2"/>
            </a:solidFill>
            <a:prstDash val="solid"/>
          </a:ln>
        </p:spPr>
        <p:txBody>
          <a:bodyPr/>
          <a:lstStyle/>
          <a:p>
            <a:endParaRPr lang="en-US"/>
          </a:p>
        </p:txBody>
      </p:sp>
      <p:sp>
        <p:nvSpPr>
          <p:cNvPr id="6" name="pane 0-1"/>
          <p:cNvSpPr/>
          <p:nvPr/>
        </p:nvSpPr>
        <p:spPr>
          <a:xfrm>
            <a:off x="1524000" y="2377440"/>
            <a:ext cx="701040" cy="685800"/>
          </a:xfrm>
          <a:prstGeom prst="rect">
            <a:avLst/>
          </a:prstGeom>
          <a:solidFill>
            <a:schemeClr val="accent3">
              <a:alpha val="33000"/>
            </a:schemeClr>
          </a:solidFill>
          <a:ln w="19050">
            <a:solidFill>
              <a:schemeClr val="tx2"/>
            </a:solidFill>
            <a:prstDash val="solid"/>
          </a:ln>
        </p:spPr>
        <p:txBody>
          <a:bodyPr/>
          <a:lstStyle/>
          <a:p>
            <a:endParaRPr lang="en-US"/>
          </a:p>
        </p:txBody>
      </p:sp>
      <p:sp>
        <p:nvSpPr>
          <p:cNvPr id="7" name="pane 0-2"/>
          <p:cNvSpPr/>
          <p:nvPr/>
        </p:nvSpPr>
        <p:spPr>
          <a:xfrm>
            <a:off x="2225040" y="2377440"/>
            <a:ext cx="701040" cy="685800"/>
          </a:xfrm>
          <a:prstGeom prst="rect">
            <a:avLst/>
          </a:prstGeom>
          <a:solidFill>
            <a:schemeClr val="accent3">
              <a:alpha val="21000"/>
            </a:schemeClr>
          </a:solidFill>
          <a:ln w="19050">
            <a:solidFill>
              <a:schemeClr val="tx2"/>
            </a:solidFill>
            <a:prstDash val="solid"/>
          </a:ln>
        </p:spPr>
        <p:txBody>
          <a:bodyPr/>
          <a:lstStyle/>
          <a:p>
            <a:endParaRPr lang="en-US"/>
          </a:p>
        </p:txBody>
      </p:sp>
      <p:sp>
        <p:nvSpPr>
          <p:cNvPr id="8" name="pane 0-3"/>
          <p:cNvSpPr/>
          <p:nvPr/>
        </p:nvSpPr>
        <p:spPr>
          <a:xfrm>
            <a:off x="2926080" y="2377440"/>
            <a:ext cx="701040" cy="685800"/>
          </a:xfrm>
          <a:prstGeom prst="rect">
            <a:avLst/>
          </a:prstGeom>
          <a:solidFill>
            <a:schemeClr val="accent3">
              <a:alpha val="45000"/>
            </a:schemeClr>
          </a:solidFill>
          <a:ln w="19050">
            <a:solidFill>
              <a:schemeClr val="tx2"/>
            </a:solidFill>
            <a:prstDash val="solid"/>
          </a:ln>
        </p:spPr>
        <p:txBody>
          <a:bodyPr/>
          <a:lstStyle/>
          <a:p>
            <a:endParaRPr lang="en-US"/>
          </a:p>
        </p:txBody>
      </p:sp>
      <p:sp>
        <p:nvSpPr>
          <p:cNvPr id="9" name="pane 0-4"/>
          <p:cNvSpPr/>
          <p:nvPr/>
        </p:nvSpPr>
        <p:spPr>
          <a:xfrm>
            <a:off x="3627120" y="2377440"/>
            <a:ext cx="701040" cy="685800"/>
          </a:xfrm>
          <a:prstGeom prst="rect">
            <a:avLst/>
          </a:prstGeom>
          <a:solidFill>
            <a:schemeClr val="accent3">
              <a:alpha val="33000"/>
            </a:schemeClr>
          </a:solidFill>
          <a:ln w="19050">
            <a:solidFill>
              <a:schemeClr val="tx2"/>
            </a:solidFill>
            <a:prstDash val="solid"/>
          </a:ln>
        </p:spPr>
        <p:txBody>
          <a:bodyPr/>
          <a:lstStyle/>
          <a:p>
            <a:endParaRPr lang="en-US"/>
          </a:p>
        </p:txBody>
      </p:sp>
      <p:sp>
        <p:nvSpPr>
          <p:cNvPr id="10" name="pane 0-5"/>
          <p:cNvSpPr/>
          <p:nvPr/>
        </p:nvSpPr>
        <p:spPr>
          <a:xfrm>
            <a:off x="4328160" y="2377440"/>
            <a:ext cx="701040" cy="685800"/>
          </a:xfrm>
          <a:prstGeom prst="rect">
            <a:avLst/>
          </a:prstGeom>
          <a:solidFill>
            <a:schemeClr val="accent3">
              <a:alpha val="21000"/>
            </a:schemeClr>
          </a:solidFill>
          <a:ln w="19050">
            <a:solidFill>
              <a:schemeClr val="tx2"/>
            </a:solidFill>
            <a:prstDash val="solid"/>
          </a:ln>
        </p:spPr>
        <p:txBody>
          <a:bodyPr/>
          <a:lstStyle/>
          <a:p>
            <a:endParaRPr lang="en-US"/>
          </a:p>
        </p:txBody>
      </p:sp>
      <p:sp>
        <p:nvSpPr>
          <p:cNvPr id="11" name="pane 1-0"/>
          <p:cNvSpPr/>
          <p:nvPr/>
        </p:nvSpPr>
        <p:spPr>
          <a:xfrm>
            <a:off x="822960" y="3063240"/>
            <a:ext cx="701040" cy="685800"/>
          </a:xfrm>
          <a:prstGeom prst="rect">
            <a:avLst/>
          </a:prstGeom>
          <a:solidFill>
            <a:schemeClr val="accent3">
              <a:alpha val="33000"/>
            </a:schemeClr>
          </a:solidFill>
          <a:ln w="19050">
            <a:solidFill>
              <a:schemeClr val="tx2"/>
            </a:solidFill>
            <a:prstDash val="solid"/>
          </a:ln>
        </p:spPr>
        <p:txBody>
          <a:bodyPr/>
          <a:lstStyle/>
          <a:p>
            <a:endParaRPr lang="en-US"/>
          </a:p>
        </p:txBody>
      </p:sp>
      <p:sp>
        <p:nvSpPr>
          <p:cNvPr id="12" name="pane 1-1"/>
          <p:cNvSpPr/>
          <p:nvPr/>
        </p:nvSpPr>
        <p:spPr>
          <a:xfrm>
            <a:off x="1524000" y="3063240"/>
            <a:ext cx="701040" cy="685800"/>
          </a:xfrm>
          <a:prstGeom prst="rect">
            <a:avLst/>
          </a:prstGeom>
          <a:solidFill>
            <a:schemeClr val="accent3">
              <a:alpha val="21000"/>
            </a:schemeClr>
          </a:solidFill>
          <a:ln w="19050">
            <a:solidFill>
              <a:schemeClr val="tx2"/>
            </a:solidFill>
            <a:prstDash val="solid"/>
          </a:ln>
        </p:spPr>
        <p:txBody>
          <a:bodyPr/>
          <a:lstStyle/>
          <a:p>
            <a:endParaRPr lang="en-US"/>
          </a:p>
        </p:txBody>
      </p:sp>
      <p:sp>
        <p:nvSpPr>
          <p:cNvPr id="13" name="pane 1-2"/>
          <p:cNvSpPr/>
          <p:nvPr/>
        </p:nvSpPr>
        <p:spPr>
          <a:xfrm>
            <a:off x="2225040" y="3063240"/>
            <a:ext cx="701040" cy="685800"/>
          </a:xfrm>
          <a:prstGeom prst="rect">
            <a:avLst/>
          </a:prstGeom>
          <a:solidFill>
            <a:schemeClr val="accent3">
              <a:alpha val="45000"/>
            </a:schemeClr>
          </a:solidFill>
          <a:ln w="19050">
            <a:solidFill>
              <a:schemeClr val="tx2"/>
            </a:solidFill>
            <a:prstDash val="solid"/>
          </a:ln>
        </p:spPr>
        <p:txBody>
          <a:bodyPr/>
          <a:lstStyle/>
          <a:p>
            <a:endParaRPr lang="en-US"/>
          </a:p>
        </p:txBody>
      </p:sp>
      <p:sp>
        <p:nvSpPr>
          <p:cNvPr id="14" name="pane 1-3"/>
          <p:cNvSpPr/>
          <p:nvPr/>
        </p:nvSpPr>
        <p:spPr>
          <a:xfrm>
            <a:off x="2926080" y="3063240"/>
            <a:ext cx="701040" cy="685800"/>
          </a:xfrm>
          <a:prstGeom prst="rect">
            <a:avLst/>
          </a:prstGeom>
          <a:solidFill>
            <a:schemeClr val="accent3">
              <a:alpha val="33000"/>
            </a:schemeClr>
          </a:solidFill>
          <a:ln w="19050">
            <a:solidFill>
              <a:schemeClr val="tx2"/>
            </a:solidFill>
            <a:prstDash val="solid"/>
          </a:ln>
        </p:spPr>
        <p:txBody>
          <a:bodyPr/>
          <a:lstStyle/>
          <a:p>
            <a:endParaRPr lang="en-US"/>
          </a:p>
        </p:txBody>
      </p:sp>
      <p:sp>
        <p:nvSpPr>
          <p:cNvPr id="15" name="pane 1-4"/>
          <p:cNvSpPr/>
          <p:nvPr/>
        </p:nvSpPr>
        <p:spPr>
          <a:xfrm>
            <a:off x="3627120" y="3063240"/>
            <a:ext cx="701040" cy="685800"/>
          </a:xfrm>
          <a:prstGeom prst="rect">
            <a:avLst/>
          </a:prstGeom>
          <a:solidFill>
            <a:schemeClr val="accent3">
              <a:alpha val="21000"/>
            </a:schemeClr>
          </a:solidFill>
          <a:ln w="19050">
            <a:solidFill>
              <a:schemeClr val="tx2"/>
            </a:solidFill>
            <a:prstDash val="solid"/>
          </a:ln>
        </p:spPr>
        <p:txBody>
          <a:bodyPr/>
          <a:lstStyle/>
          <a:p>
            <a:endParaRPr lang="en-US"/>
          </a:p>
        </p:txBody>
      </p:sp>
      <p:sp>
        <p:nvSpPr>
          <p:cNvPr id="16" name="pane 1-5"/>
          <p:cNvSpPr/>
          <p:nvPr/>
        </p:nvSpPr>
        <p:spPr>
          <a:xfrm>
            <a:off x="4328160" y="3063240"/>
            <a:ext cx="701040" cy="685800"/>
          </a:xfrm>
          <a:prstGeom prst="rect">
            <a:avLst/>
          </a:prstGeom>
          <a:solidFill>
            <a:schemeClr val="accent3">
              <a:alpha val="45000"/>
            </a:schemeClr>
          </a:solidFill>
          <a:ln w="19050">
            <a:solidFill>
              <a:schemeClr val="tx2"/>
            </a:solidFill>
            <a:prstDash val="solid"/>
          </a:ln>
        </p:spPr>
        <p:txBody>
          <a:bodyPr/>
          <a:lstStyle/>
          <a:p>
            <a:endParaRPr lang="en-US"/>
          </a:p>
        </p:txBody>
      </p:sp>
      <p:sp>
        <p:nvSpPr>
          <p:cNvPr id="17" name="pane 2-0"/>
          <p:cNvSpPr/>
          <p:nvPr/>
        </p:nvSpPr>
        <p:spPr>
          <a:xfrm>
            <a:off x="822960" y="3749040"/>
            <a:ext cx="701040" cy="685800"/>
          </a:xfrm>
          <a:prstGeom prst="rect">
            <a:avLst/>
          </a:prstGeom>
          <a:solidFill>
            <a:schemeClr val="accent3">
              <a:alpha val="21000"/>
            </a:schemeClr>
          </a:solidFill>
          <a:ln w="19050">
            <a:solidFill>
              <a:schemeClr val="tx2"/>
            </a:solidFill>
            <a:prstDash val="solid"/>
          </a:ln>
        </p:spPr>
        <p:txBody>
          <a:bodyPr/>
          <a:lstStyle/>
          <a:p>
            <a:endParaRPr lang="en-US"/>
          </a:p>
        </p:txBody>
      </p:sp>
      <p:sp>
        <p:nvSpPr>
          <p:cNvPr id="18" name="pane 2-1"/>
          <p:cNvSpPr/>
          <p:nvPr/>
        </p:nvSpPr>
        <p:spPr>
          <a:xfrm>
            <a:off x="1524000" y="3749040"/>
            <a:ext cx="701040" cy="685800"/>
          </a:xfrm>
          <a:prstGeom prst="rect">
            <a:avLst/>
          </a:prstGeom>
          <a:solidFill>
            <a:schemeClr val="accent3">
              <a:alpha val="45000"/>
            </a:schemeClr>
          </a:solidFill>
          <a:ln w="19050">
            <a:solidFill>
              <a:schemeClr val="tx2"/>
            </a:solidFill>
            <a:prstDash val="solid"/>
          </a:ln>
        </p:spPr>
        <p:txBody>
          <a:bodyPr/>
          <a:lstStyle/>
          <a:p>
            <a:endParaRPr lang="en-US"/>
          </a:p>
        </p:txBody>
      </p:sp>
      <p:sp>
        <p:nvSpPr>
          <p:cNvPr id="19" name="pane 2-2"/>
          <p:cNvSpPr/>
          <p:nvPr/>
        </p:nvSpPr>
        <p:spPr>
          <a:xfrm>
            <a:off x="2225040" y="3749040"/>
            <a:ext cx="701040" cy="685800"/>
          </a:xfrm>
          <a:prstGeom prst="rect">
            <a:avLst/>
          </a:prstGeom>
          <a:solidFill>
            <a:schemeClr val="accent3">
              <a:alpha val="33000"/>
            </a:schemeClr>
          </a:solidFill>
          <a:ln w="19050">
            <a:solidFill>
              <a:schemeClr val="tx2"/>
            </a:solidFill>
            <a:prstDash val="solid"/>
          </a:ln>
        </p:spPr>
        <p:txBody>
          <a:bodyPr/>
          <a:lstStyle/>
          <a:p>
            <a:endParaRPr lang="en-US"/>
          </a:p>
        </p:txBody>
      </p:sp>
      <p:sp>
        <p:nvSpPr>
          <p:cNvPr id="20" name="pane 2-3"/>
          <p:cNvSpPr/>
          <p:nvPr/>
        </p:nvSpPr>
        <p:spPr>
          <a:xfrm>
            <a:off x="2926080" y="3749040"/>
            <a:ext cx="701040" cy="685800"/>
          </a:xfrm>
          <a:prstGeom prst="rect">
            <a:avLst/>
          </a:prstGeom>
          <a:solidFill>
            <a:schemeClr val="accent3">
              <a:alpha val="21000"/>
            </a:schemeClr>
          </a:solidFill>
          <a:ln w="19050">
            <a:solidFill>
              <a:schemeClr val="tx2"/>
            </a:solidFill>
            <a:prstDash val="solid"/>
          </a:ln>
        </p:spPr>
        <p:txBody>
          <a:bodyPr/>
          <a:lstStyle/>
          <a:p>
            <a:endParaRPr lang="en-US"/>
          </a:p>
        </p:txBody>
      </p:sp>
      <p:sp>
        <p:nvSpPr>
          <p:cNvPr id="21" name="pane 2-4"/>
          <p:cNvSpPr/>
          <p:nvPr/>
        </p:nvSpPr>
        <p:spPr>
          <a:xfrm>
            <a:off x="3627120" y="3749040"/>
            <a:ext cx="701040" cy="685800"/>
          </a:xfrm>
          <a:prstGeom prst="rect">
            <a:avLst/>
          </a:prstGeom>
          <a:solidFill>
            <a:schemeClr val="accent3">
              <a:alpha val="45000"/>
            </a:schemeClr>
          </a:solidFill>
          <a:ln w="19050">
            <a:solidFill>
              <a:schemeClr val="tx2"/>
            </a:solidFill>
            <a:prstDash val="solid"/>
          </a:ln>
        </p:spPr>
        <p:txBody>
          <a:bodyPr/>
          <a:lstStyle/>
          <a:p>
            <a:endParaRPr lang="en-US"/>
          </a:p>
        </p:txBody>
      </p:sp>
      <p:sp>
        <p:nvSpPr>
          <p:cNvPr id="22" name="pane 2-5"/>
          <p:cNvSpPr/>
          <p:nvPr/>
        </p:nvSpPr>
        <p:spPr>
          <a:xfrm>
            <a:off x="4328160" y="3749040"/>
            <a:ext cx="701040" cy="685800"/>
          </a:xfrm>
          <a:prstGeom prst="rect">
            <a:avLst/>
          </a:prstGeom>
          <a:solidFill>
            <a:schemeClr val="accent3">
              <a:alpha val="33000"/>
            </a:schemeClr>
          </a:solidFill>
          <a:ln w="19050">
            <a:solidFill>
              <a:schemeClr val="tx2"/>
            </a:solidFill>
            <a:prstDash val="solid"/>
          </a:ln>
        </p:spPr>
        <p:txBody>
          <a:bodyPr/>
          <a:lstStyle/>
          <a:p>
            <a:endParaRPr lang="en-US"/>
          </a:p>
        </p:txBody>
      </p:sp>
      <p:sp>
        <p:nvSpPr>
          <p:cNvPr id="23" name="pane 3-0"/>
          <p:cNvSpPr/>
          <p:nvPr/>
        </p:nvSpPr>
        <p:spPr>
          <a:xfrm>
            <a:off x="822960" y="4434840"/>
            <a:ext cx="701040" cy="685800"/>
          </a:xfrm>
          <a:prstGeom prst="rect">
            <a:avLst/>
          </a:prstGeom>
          <a:solidFill>
            <a:schemeClr val="accent3">
              <a:alpha val="45000"/>
            </a:schemeClr>
          </a:solidFill>
          <a:ln w="19050">
            <a:solidFill>
              <a:schemeClr val="tx2"/>
            </a:solidFill>
            <a:prstDash val="solid"/>
          </a:ln>
        </p:spPr>
        <p:txBody>
          <a:bodyPr/>
          <a:lstStyle/>
          <a:p>
            <a:endParaRPr lang="en-US"/>
          </a:p>
        </p:txBody>
      </p:sp>
      <p:sp>
        <p:nvSpPr>
          <p:cNvPr id="24" name="pane 3-1"/>
          <p:cNvSpPr/>
          <p:nvPr/>
        </p:nvSpPr>
        <p:spPr>
          <a:xfrm>
            <a:off x="1524000" y="4434840"/>
            <a:ext cx="701040" cy="685800"/>
          </a:xfrm>
          <a:prstGeom prst="rect">
            <a:avLst/>
          </a:prstGeom>
          <a:solidFill>
            <a:schemeClr val="accent3">
              <a:alpha val="33000"/>
            </a:schemeClr>
          </a:solidFill>
          <a:ln w="19050">
            <a:solidFill>
              <a:schemeClr val="tx2"/>
            </a:solidFill>
            <a:prstDash val="solid"/>
          </a:ln>
        </p:spPr>
        <p:txBody>
          <a:bodyPr/>
          <a:lstStyle/>
          <a:p>
            <a:endParaRPr lang="en-US"/>
          </a:p>
        </p:txBody>
      </p:sp>
      <p:sp>
        <p:nvSpPr>
          <p:cNvPr id="25" name="pane 3-2"/>
          <p:cNvSpPr/>
          <p:nvPr/>
        </p:nvSpPr>
        <p:spPr>
          <a:xfrm>
            <a:off x="2225040" y="4434840"/>
            <a:ext cx="701040" cy="685800"/>
          </a:xfrm>
          <a:prstGeom prst="rect">
            <a:avLst/>
          </a:prstGeom>
          <a:solidFill>
            <a:schemeClr val="accent3">
              <a:alpha val="21000"/>
            </a:schemeClr>
          </a:solidFill>
          <a:ln w="19050">
            <a:solidFill>
              <a:schemeClr val="tx2"/>
            </a:solidFill>
            <a:prstDash val="solid"/>
          </a:ln>
        </p:spPr>
        <p:txBody>
          <a:bodyPr/>
          <a:lstStyle/>
          <a:p>
            <a:endParaRPr lang="en-US"/>
          </a:p>
        </p:txBody>
      </p:sp>
      <p:sp>
        <p:nvSpPr>
          <p:cNvPr id="26" name="pane 3-3"/>
          <p:cNvSpPr/>
          <p:nvPr/>
        </p:nvSpPr>
        <p:spPr>
          <a:xfrm>
            <a:off x="2926080" y="4434840"/>
            <a:ext cx="701040" cy="685800"/>
          </a:xfrm>
          <a:prstGeom prst="rect">
            <a:avLst/>
          </a:prstGeom>
          <a:solidFill>
            <a:schemeClr val="accent3">
              <a:alpha val="45000"/>
            </a:schemeClr>
          </a:solidFill>
          <a:ln w="19050">
            <a:solidFill>
              <a:schemeClr val="tx2"/>
            </a:solidFill>
            <a:prstDash val="solid"/>
          </a:ln>
        </p:spPr>
        <p:txBody>
          <a:bodyPr/>
          <a:lstStyle/>
          <a:p>
            <a:endParaRPr lang="en-US"/>
          </a:p>
        </p:txBody>
      </p:sp>
      <p:sp>
        <p:nvSpPr>
          <p:cNvPr id="27" name="pane 3-4"/>
          <p:cNvSpPr/>
          <p:nvPr/>
        </p:nvSpPr>
        <p:spPr>
          <a:xfrm>
            <a:off x="3627120" y="4434840"/>
            <a:ext cx="701040" cy="685800"/>
          </a:xfrm>
          <a:prstGeom prst="rect">
            <a:avLst/>
          </a:prstGeom>
          <a:solidFill>
            <a:schemeClr val="accent3">
              <a:alpha val="33000"/>
            </a:schemeClr>
          </a:solidFill>
          <a:ln w="19050">
            <a:solidFill>
              <a:schemeClr val="tx2"/>
            </a:solidFill>
            <a:prstDash val="solid"/>
          </a:ln>
        </p:spPr>
        <p:txBody>
          <a:bodyPr/>
          <a:lstStyle/>
          <a:p>
            <a:endParaRPr lang="en-US"/>
          </a:p>
        </p:txBody>
      </p:sp>
      <p:sp>
        <p:nvSpPr>
          <p:cNvPr id="28" name="pane 3-5"/>
          <p:cNvSpPr/>
          <p:nvPr/>
        </p:nvSpPr>
        <p:spPr>
          <a:xfrm>
            <a:off x="4328160" y="4434840"/>
            <a:ext cx="701040" cy="685800"/>
          </a:xfrm>
          <a:prstGeom prst="rect">
            <a:avLst/>
          </a:prstGeom>
          <a:solidFill>
            <a:schemeClr val="accent3">
              <a:alpha val="21000"/>
            </a:schemeClr>
          </a:solidFill>
          <a:ln w="19050">
            <a:solidFill>
              <a:schemeClr val="tx2"/>
            </a:solidFill>
            <a:prstDash val="solid"/>
          </a:ln>
        </p:spPr>
        <p:txBody>
          <a:bodyPr/>
          <a:lstStyle/>
          <a:p>
            <a:endParaRPr lang="en-US"/>
          </a:p>
        </p:txBody>
      </p:sp>
      <p:sp>
        <p:nvSpPr>
          <p:cNvPr id="29" name="Text 27"/>
          <p:cNvSpPr txBox="1"/>
          <p:nvPr/>
        </p:nvSpPr>
        <p:spPr>
          <a:xfrm>
            <a:off x="822960" y="5303520"/>
            <a:ext cx="4206240" cy="365760"/>
          </a:xfrm>
          <a:prstGeom prst="rect">
            <a:avLst/>
          </a:prstGeom>
          <a:noFill/>
          <a:ln/>
        </p:spPr>
        <p:txBody>
          <a:bodyPr wrap="square" lIns="0" tIns="0" rIns="0" bIns="0" rtlCol="0" anchor="ctr"/>
          <a:lstStyle/>
          <a:p>
            <a:pPr marL="0" indent="0" algn="ctr">
              <a:buNone/>
            </a:pPr>
            <a:r>
              <a:rPr lang="en-US" sz="1200" i="1" dirty="0">
                <a:solidFill>
                  <a:schemeClr val="accent4"/>
                </a:solidFill>
              </a:rPr>
              <a:t>Glass, iron, and everyone finally rational</a:t>
            </a:r>
            <a:endParaRPr lang="en-US" sz="1200" dirty="0"/>
          </a:p>
        </p:txBody>
      </p:sp>
      <p:sp>
        <p:nvSpPr>
          <p:cNvPr id="30" name="Text 28"/>
          <p:cNvSpPr txBox="1"/>
          <p:nvPr/>
        </p:nvSpPr>
        <p:spPr>
          <a:xfrm>
            <a:off x="5760720" y="1645920"/>
            <a:ext cx="5852160" cy="4572000"/>
          </a:xfrm>
          <a:prstGeom prst="rect">
            <a:avLst/>
          </a:prstGeom>
          <a:noFill/>
          <a:ln/>
        </p:spPr>
        <p:txBody>
          <a:bodyPr wrap="square" lIns="0" tIns="0" rIns="0" bIns="0" rtlCol="0" anchor="t"/>
          <a:lstStyle/>
          <a:p>
            <a:pPr marL="0" indent="0">
              <a:buNone/>
            </a:pPr>
            <a:r>
              <a:rPr lang="en-US" sz="2200" b="1" dirty="0">
                <a:solidFill>
                  <a:schemeClr val="tx1"/>
                </a:solidFill>
                <a:latin typeface="Cambria" pitchFamily="34" charset="0"/>
                <a:ea typeface="Cambria" pitchFamily="34" charset="-122"/>
                <a:cs typeface="Cambria" pitchFamily="34" charset="-120"/>
              </a:rPr>
              <a:t>What Is to Be Done? (1863)</a:t>
            </a:r>
            <a:endParaRPr lang="en-US" sz="2200" dirty="0"/>
          </a:p>
          <a:p>
            <a:pPr marL="0" indent="0">
              <a:buNone/>
            </a:pPr>
            <a:r>
              <a:rPr lang="en-US" sz="1600" dirty="0">
                <a:solidFill>
                  <a:schemeClr val="tx2"/>
                </a:solidFill>
              </a:rPr>
              <a:t>Written while Chernyshevsky was imprisoned in the Peter and Paul Fortress.</a:t>
            </a:r>
            <a:endParaRPr lang="en-US" sz="2200" dirty="0"/>
          </a:p>
          <a:p>
            <a:pPr marL="0" indent="0">
              <a:buNone/>
            </a:pPr>
            <a:r>
              <a:rPr lang="en-US" sz="800" dirty="0">
                <a:solidFill>
                  <a:srgbClr val="000000"/>
                </a:solidFill>
              </a:rPr>
              <a:t> </a:t>
            </a:r>
            <a:endParaRPr lang="en-US" sz="2200" dirty="0"/>
          </a:p>
          <a:p>
            <a:pPr marL="0" indent="0">
              <a:buNone/>
            </a:pPr>
            <a:r>
              <a:rPr lang="en-US" sz="1800" b="1" dirty="0">
                <a:solidFill>
                  <a:schemeClr val="accent1"/>
                </a:solidFill>
              </a:rPr>
              <a:t>Rational egoism</a:t>
            </a:r>
            <a:endParaRPr lang="en-US" sz="2200" dirty="0"/>
          </a:p>
          <a:p>
            <a:pPr marL="0" indent="0">
              <a:buNone/>
            </a:pPr>
            <a:r>
              <a:rPr lang="en-US" sz="1600" dirty="0">
                <a:solidFill>
                  <a:schemeClr val="tx2"/>
                </a:solidFill>
              </a:rPr>
              <a:t>People always act in their own interest. Show them where it truly lies, and they will behave well.</a:t>
            </a:r>
            <a:endParaRPr lang="en-US" sz="2200" dirty="0"/>
          </a:p>
          <a:p>
            <a:pPr marL="0" indent="0">
              <a:buNone/>
            </a:pPr>
            <a:r>
              <a:rPr lang="en-US" sz="800" dirty="0">
                <a:solidFill>
                  <a:srgbClr val="000000"/>
                </a:solidFill>
              </a:rPr>
              <a:t> </a:t>
            </a:r>
            <a:endParaRPr lang="en-US" sz="2200" dirty="0"/>
          </a:p>
          <a:p>
            <a:pPr marL="0" indent="0">
              <a:buNone/>
            </a:pPr>
            <a:r>
              <a:rPr lang="en-US" sz="1800" b="1" dirty="0">
                <a:solidFill>
                  <a:schemeClr val="accent1"/>
                </a:solidFill>
              </a:rPr>
              <a:t>The Crystal Palace</a:t>
            </a:r>
            <a:endParaRPr lang="en-US" sz="2200" dirty="0"/>
          </a:p>
          <a:p>
            <a:pPr marL="0" indent="0">
              <a:buNone/>
            </a:pPr>
            <a:r>
              <a:rPr lang="en-US" sz="1600" dirty="0">
                <a:solidFill>
                  <a:schemeClr val="tx2"/>
                </a:solidFill>
              </a:rPr>
              <a:t>In Vera Pavlovna's Fourth Dream: a glass-and-iron communal paradise, modeled on London's 1851 exhibition hall and Fourier's phalanstery. Society designed by reason, where conflict disappears.</a:t>
            </a:r>
            <a:endParaRPr lang="en-US" sz="2200" dirty="0"/>
          </a:p>
          <a:p>
            <a:pPr marL="0" indent="0">
              <a:buNone/>
            </a:pPr>
            <a:r>
              <a:rPr lang="en-US" sz="800" dirty="0">
                <a:solidFill>
                  <a:srgbClr val="000000"/>
                </a:solidFill>
              </a:rPr>
              <a:t> </a:t>
            </a:r>
            <a:endParaRPr lang="en-US" sz="2200" dirty="0"/>
          </a:p>
          <a:p>
            <a:pPr marL="0" indent="0">
              <a:buNone/>
            </a:pPr>
            <a:r>
              <a:rPr lang="en-US" sz="1500" i="1" dirty="0">
                <a:solidFill>
                  <a:schemeClr val="accent4"/>
                </a:solidFill>
              </a:rPr>
              <a:t>Afterward: a "civil execution" (public degradation), Siberian prison, exile. Lenin later reused the title.</a:t>
            </a:r>
            <a:endParaRPr lang="en-US" sz="2200" dirty="0"/>
          </a:p>
        </p:txBody>
      </p:sp>
      <p:sp>
        <p:nvSpPr>
          <p:cNvPr id="31"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CONTEXT · THE REBUTTAL</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Two writers, two Siberias, in opposite order</a:t>
            </a:r>
            <a:endParaRPr lang="en-US" sz="3400" dirty="0"/>
          </a:p>
        </p:txBody>
      </p:sp>
      <p:sp>
        <p:nvSpPr>
          <p:cNvPr id="4" name="Dostoevsky card"/>
          <p:cNvSpPr/>
          <p:nvPr/>
        </p:nvSpPr>
        <p:spPr>
          <a:xfrm>
            <a:off x="548640" y="1645920"/>
            <a:ext cx="5394960" cy="4206240"/>
          </a:xfrm>
          <a:prstGeom prst="roundRect">
            <a:avLst>
              <a:gd name="adj" fmla="val 1739"/>
            </a:avLst>
          </a:prstGeom>
          <a:solidFill>
            <a:schemeClr val="bg2"/>
          </a:solidFill>
          <a:ln w="12700">
            <a:solidFill>
              <a:schemeClr val="bg2"/>
            </a:solidFill>
            <a:prstDash val="solid"/>
          </a:ln>
        </p:spPr>
        <p:txBody>
          <a:bodyPr/>
          <a:lstStyle/>
          <a:p>
            <a:endParaRPr lang="en-US"/>
          </a:p>
        </p:txBody>
      </p:sp>
      <p:sp>
        <p:nvSpPr>
          <p:cNvPr id="5" name="Dostoevsky circle"/>
          <p:cNvSpPr/>
          <p:nvPr/>
        </p:nvSpPr>
        <p:spPr>
          <a:xfrm>
            <a:off x="868680" y="1874520"/>
            <a:ext cx="685800" cy="685800"/>
          </a:xfrm>
          <a:prstGeom prst="ellipse">
            <a:avLst/>
          </a:prstGeom>
          <a:solidFill>
            <a:schemeClr val="tx2"/>
          </a:solidFill>
          <a:ln w="12700">
            <a:solidFill>
              <a:schemeClr val="tx2"/>
            </a:solidFill>
            <a:prstDash val="solid"/>
          </a:ln>
        </p:spPr>
        <p:txBody>
          <a:bodyPr/>
          <a:lstStyle/>
          <a:p>
            <a:endParaRPr lang="en-US"/>
          </a:p>
        </p:txBody>
      </p:sp>
      <p:pic>
        <p:nvPicPr>
          <p:cNvPr id="6" name="Dostoevsky icon" descr="Dostoevsky"/>
          <p:cNvPicPr>
            <a:picLocks noChangeAspect="1"/>
          </p:cNvPicPr>
          <p:nvPr/>
        </p:nvPicPr>
        <p:blipFill>
          <a:blip r:embed="rId3"/>
          <a:stretch>
            <a:fillRect/>
          </a:stretch>
        </p:blipFill>
        <p:spPr>
          <a:xfrm>
            <a:off x="1019556" y="2025396"/>
            <a:ext cx="384048" cy="384048"/>
          </a:xfrm>
          <a:prstGeom prst="rect">
            <a:avLst/>
          </a:prstGeom>
        </p:spPr>
      </p:pic>
      <p:sp>
        <p:nvSpPr>
          <p:cNvPr id="7" name="Text 4"/>
          <p:cNvSpPr txBox="1"/>
          <p:nvPr/>
        </p:nvSpPr>
        <p:spPr>
          <a:xfrm>
            <a:off x="1737360" y="1920240"/>
            <a:ext cx="4023360" cy="59436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Dostoevsky</a:t>
            </a:r>
            <a:endParaRPr lang="en-US" sz="2400" dirty="0"/>
          </a:p>
        </p:txBody>
      </p:sp>
      <p:sp>
        <p:nvSpPr>
          <p:cNvPr id="8" name="Dostoevsky step 0"/>
          <p:cNvSpPr/>
          <p:nvPr/>
        </p:nvSpPr>
        <p:spPr>
          <a:xfrm>
            <a:off x="868680" y="2788920"/>
            <a:ext cx="1005840" cy="685800"/>
          </a:xfrm>
          <a:prstGeom prst="roundRect">
            <a:avLst>
              <a:gd name="adj" fmla="val 8000"/>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68680" y="2788920"/>
            <a:ext cx="1005840" cy="685800"/>
          </a:xfrm>
          <a:prstGeom prst="rect">
            <a:avLst/>
          </a:prstGeom>
          <a:noFill/>
          <a:ln/>
        </p:spPr>
        <p:txBody>
          <a:bodyPr wrap="square" lIns="0" tIns="0" rIns="0" bIns="0" rtlCol="0" anchor="ctr"/>
          <a:lstStyle/>
          <a:p>
            <a:pPr marL="0" indent="0" algn="ctr">
              <a:buNone/>
            </a:pPr>
            <a:r>
              <a:rPr lang="en-US" sz="1500" b="1" dirty="0">
                <a:solidFill>
                  <a:schemeClr val="bg1"/>
                </a:solidFill>
              </a:rPr>
              <a:t>1849</a:t>
            </a:r>
            <a:endParaRPr lang="en-US" sz="1500" dirty="0"/>
          </a:p>
        </p:txBody>
      </p:sp>
      <p:sp>
        <p:nvSpPr>
          <p:cNvPr id="10" name="Text 7"/>
          <p:cNvSpPr txBox="1"/>
          <p:nvPr/>
        </p:nvSpPr>
        <p:spPr>
          <a:xfrm>
            <a:off x="2057400" y="2788920"/>
            <a:ext cx="3657600" cy="685800"/>
          </a:xfrm>
          <a:prstGeom prst="rect">
            <a:avLst/>
          </a:prstGeom>
          <a:noFill/>
          <a:ln/>
        </p:spPr>
        <p:txBody>
          <a:bodyPr wrap="square" lIns="0" tIns="0" rIns="0" bIns="0" rtlCol="0" anchor="ctr"/>
          <a:lstStyle/>
          <a:p>
            <a:pPr marL="0" indent="0">
              <a:buNone/>
            </a:pPr>
            <a:r>
              <a:rPr lang="en-US" sz="1500" dirty="0">
                <a:solidFill>
                  <a:schemeClr val="tx2"/>
                </a:solidFill>
              </a:rPr>
              <a:t>Petrashevsky circle: utopian socialism and banned books</a:t>
            </a:r>
            <a:endParaRPr lang="en-US" sz="1500" dirty="0"/>
          </a:p>
        </p:txBody>
      </p:sp>
      <p:sp>
        <p:nvSpPr>
          <p:cNvPr id="11" name="Dostoevsky step 1"/>
          <p:cNvSpPr/>
          <p:nvPr/>
        </p:nvSpPr>
        <p:spPr>
          <a:xfrm>
            <a:off x="868680" y="3703320"/>
            <a:ext cx="1005840" cy="685800"/>
          </a:xfrm>
          <a:prstGeom prst="roundRect">
            <a:avLst>
              <a:gd name="adj" fmla="val 8000"/>
            </a:avLst>
          </a:prstGeom>
          <a:solidFill>
            <a:schemeClr val="tx2"/>
          </a:solidFill>
          <a:ln w="12700">
            <a:solidFill>
              <a:schemeClr val="tx2"/>
            </a:solidFill>
            <a:prstDash val="solid"/>
          </a:ln>
        </p:spPr>
        <p:txBody>
          <a:bodyPr/>
          <a:lstStyle/>
          <a:p>
            <a:endParaRPr lang="en-US"/>
          </a:p>
        </p:txBody>
      </p:sp>
      <p:sp>
        <p:nvSpPr>
          <p:cNvPr id="12" name="Text 9"/>
          <p:cNvSpPr txBox="1"/>
          <p:nvPr/>
        </p:nvSpPr>
        <p:spPr>
          <a:xfrm>
            <a:off x="868680" y="3703320"/>
            <a:ext cx="1005840" cy="685800"/>
          </a:xfrm>
          <a:prstGeom prst="rect">
            <a:avLst/>
          </a:prstGeom>
          <a:noFill/>
          <a:ln/>
        </p:spPr>
        <p:txBody>
          <a:bodyPr wrap="square" lIns="0" tIns="0" rIns="0" bIns="0" rtlCol="0" anchor="ctr"/>
          <a:lstStyle/>
          <a:p>
            <a:pPr marL="0" indent="0" algn="ctr">
              <a:buNone/>
            </a:pPr>
            <a:r>
              <a:rPr lang="en-US" sz="1500" b="1" dirty="0">
                <a:solidFill>
                  <a:schemeClr val="bg1"/>
                </a:solidFill>
              </a:rPr>
              <a:t>Punished</a:t>
            </a:r>
            <a:endParaRPr lang="en-US" sz="1500" dirty="0"/>
          </a:p>
        </p:txBody>
      </p:sp>
      <p:sp>
        <p:nvSpPr>
          <p:cNvPr id="13" name="Text 10"/>
          <p:cNvSpPr txBox="1"/>
          <p:nvPr/>
        </p:nvSpPr>
        <p:spPr>
          <a:xfrm>
            <a:off x="2057400" y="3703320"/>
            <a:ext cx="3657600" cy="685800"/>
          </a:xfrm>
          <a:prstGeom prst="rect">
            <a:avLst/>
          </a:prstGeom>
          <a:noFill/>
          <a:ln/>
        </p:spPr>
        <p:txBody>
          <a:bodyPr wrap="square" lIns="0" tIns="0" rIns="0" bIns="0" rtlCol="0" anchor="ctr"/>
          <a:lstStyle/>
          <a:p>
            <a:pPr marL="0" indent="0">
              <a:buNone/>
            </a:pPr>
            <a:r>
              <a:rPr lang="en-US" sz="1500" dirty="0">
                <a:solidFill>
                  <a:schemeClr val="tx2"/>
                </a:solidFill>
              </a:rPr>
              <a:t>Mock execution, hard labor in Siberia, exile in the army</a:t>
            </a:r>
            <a:endParaRPr lang="en-US" sz="1500" dirty="0"/>
          </a:p>
        </p:txBody>
      </p:sp>
      <p:sp>
        <p:nvSpPr>
          <p:cNvPr id="14" name="Dostoevsky step 2"/>
          <p:cNvSpPr/>
          <p:nvPr/>
        </p:nvSpPr>
        <p:spPr>
          <a:xfrm>
            <a:off x="868680" y="4617720"/>
            <a:ext cx="1005840" cy="685800"/>
          </a:xfrm>
          <a:prstGeom prst="roundRect">
            <a:avLst>
              <a:gd name="adj" fmla="val 8000"/>
            </a:avLst>
          </a:prstGeom>
          <a:solidFill>
            <a:schemeClr val="accent1"/>
          </a:solidFill>
          <a:ln w="12700">
            <a:solidFill>
              <a:schemeClr val="accent1"/>
            </a:solidFill>
            <a:prstDash val="solid"/>
          </a:ln>
        </p:spPr>
        <p:txBody>
          <a:bodyPr/>
          <a:lstStyle/>
          <a:p>
            <a:endParaRPr lang="en-US"/>
          </a:p>
        </p:txBody>
      </p:sp>
      <p:sp>
        <p:nvSpPr>
          <p:cNvPr id="15" name="Text 12"/>
          <p:cNvSpPr txBox="1"/>
          <p:nvPr/>
        </p:nvSpPr>
        <p:spPr>
          <a:xfrm>
            <a:off x="868680" y="4617720"/>
            <a:ext cx="1005840" cy="685800"/>
          </a:xfrm>
          <a:prstGeom prst="rect">
            <a:avLst/>
          </a:prstGeom>
          <a:noFill/>
          <a:ln/>
        </p:spPr>
        <p:txBody>
          <a:bodyPr wrap="square" lIns="0" tIns="0" rIns="0" bIns="0" rtlCol="0" anchor="ctr"/>
          <a:lstStyle/>
          <a:p>
            <a:pPr marL="0" indent="0" algn="ctr">
              <a:buNone/>
            </a:pPr>
            <a:r>
              <a:rPr lang="en-US" sz="1500" b="1" dirty="0">
                <a:solidFill>
                  <a:schemeClr val="bg1"/>
                </a:solidFill>
              </a:rPr>
              <a:t>1864</a:t>
            </a:r>
            <a:endParaRPr lang="en-US" sz="1500" dirty="0"/>
          </a:p>
        </p:txBody>
      </p:sp>
      <p:sp>
        <p:nvSpPr>
          <p:cNvPr id="16" name="Text 13"/>
          <p:cNvSpPr txBox="1"/>
          <p:nvPr/>
        </p:nvSpPr>
        <p:spPr>
          <a:xfrm>
            <a:off x="2057400" y="4617720"/>
            <a:ext cx="3657600" cy="685800"/>
          </a:xfrm>
          <a:prstGeom prst="rect">
            <a:avLst/>
          </a:prstGeom>
          <a:noFill/>
          <a:ln/>
        </p:spPr>
        <p:txBody>
          <a:bodyPr wrap="square" lIns="0" tIns="0" rIns="0" bIns="0" rtlCol="0" anchor="ctr"/>
          <a:lstStyle/>
          <a:p>
            <a:pPr marL="0" indent="0">
              <a:buNone/>
            </a:pPr>
            <a:r>
              <a:rPr lang="en-US" sz="1500" dirty="0">
                <a:solidFill>
                  <a:schemeClr val="tx2"/>
                </a:solidFill>
              </a:rPr>
              <a:t>Then writes Notes from Underground</a:t>
            </a:r>
            <a:endParaRPr lang="en-US" sz="1500" dirty="0"/>
          </a:p>
        </p:txBody>
      </p:sp>
      <p:sp>
        <p:nvSpPr>
          <p:cNvPr id="17" name="Text 14"/>
          <p:cNvSpPr txBox="1"/>
          <p:nvPr/>
        </p:nvSpPr>
        <p:spPr>
          <a:xfrm>
            <a:off x="868680" y="5486400"/>
            <a:ext cx="4846320" cy="320040"/>
          </a:xfrm>
          <a:prstGeom prst="rect">
            <a:avLst/>
          </a:prstGeom>
          <a:noFill/>
          <a:ln/>
        </p:spPr>
        <p:txBody>
          <a:bodyPr wrap="square" lIns="0" tIns="0" rIns="0" bIns="0" rtlCol="0" anchor="ctr"/>
          <a:lstStyle/>
          <a:p>
            <a:pPr marL="0" indent="0">
              <a:buNone/>
            </a:pPr>
            <a:r>
              <a:rPr lang="en-US" sz="1300" i="1" dirty="0">
                <a:solidFill>
                  <a:schemeClr val="accent1"/>
                </a:solidFill>
              </a:rPr>
              <a:t>Punished first, then attacks a dream he once partly shared</a:t>
            </a:r>
            <a:endParaRPr lang="en-US" sz="1300" dirty="0"/>
          </a:p>
        </p:txBody>
      </p:sp>
      <p:sp>
        <p:nvSpPr>
          <p:cNvPr id="18" name="Chernyshevsky card"/>
          <p:cNvSpPr/>
          <p:nvPr/>
        </p:nvSpPr>
        <p:spPr>
          <a:xfrm>
            <a:off x="6263640" y="1645920"/>
            <a:ext cx="5394960" cy="4206240"/>
          </a:xfrm>
          <a:prstGeom prst="roundRect">
            <a:avLst>
              <a:gd name="adj" fmla="val 1739"/>
            </a:avLst>
          </a:prstGeom>
          <a:solidFill>
            <a:schemeClr val="bg2"/>
          </a:solidFill>
          <a:ln w="12700">
            <a:solidFill>
              <a:schemeClr val="bg2"/>
            </a:solidFill>
            <a:prstDash val="solid"/>
          </a:ln>
        </p:spPr>
        <p:txBody>
          <a:bodyPr/>
          <a:lstStyle/>
          <a:p>
            <a:endParaRPr lang="en-US"/>
          </a:p>
        </p:txBody>
      </p:sp>
      <p:sp>
        <p:nvSpPr>
          <p:cNvPr id="19" name="Chernyshevsky circle"/>
          <p:cNvSpPr/>
          <p:nvPr/>
        </p:nvSpPr>
        <p:spPr>
          <a:xfrm>
            <a:off x="6583680" y="1874520"/>
            <a:ext cx="685800" cy="685800"/>
          </a:xfrm>
          <a:prstGeom prst="ellipse">
            <a:avLst/>
          </a:prstGeom>
          <a:solidFill>
            <a:schemeClr val="accent3"/>
          </a:solidFill>
          <a:ln w="12700">
            <a:solidFill>
              <a:schemeClr val="accent3"/>
            </a:solidFill>
            <a:prstDash val="solid"/>
          </a:ln>
        </p:spPr>
        <p:txBody>
          <a:bodyPr/>
          <a:lstStyle/>
          <a:p>
            <a:endParaRPr lang="en-US"/>
          </a:p>
        </p:txBody>
      </p:sp>
      <p:pic>
        <p:nvPicPr>
          <p:cNvPr id="20" name="Chernyshevsky icon" descr="Chernyshevsky"/>
          <p:cNvPicPr>
            <a:picLocks noChangeAspect="1"/>
          </p:cNvPicPr>
          <p:nvPr/>
        </p:nvPicPr>
        <p:blipFill>
          <a:blip r:embed="rId4"/>
          <a:stretch>
            <a:fillRect/>
          </a:stretch>
        </p:blipFill>
        <p:spPr>
          <a:xfrm>
            <a:off x="6734556" y="2025396"/>
            <a:ext cx="384048" cy="384048"/>
          </a:xfrm>
          <a:prstGeom prst="rect">
            <a:avLst/>
          </a:prstGeom>
        </p:spPr>
      </p:pic>
      <p:sp>
        <p:nvSpPr>
          <p:cNvPr id="21" name="Text 17"/>
          <p:cNvSpPr txBox="1"/>
          <p:nvPr/>
        </p:nvSpPr>
        <p:spPr>
          <a:xfrm>
            <a:off x="7452360" y="1920240"/>
            <a:ext cx="4023360" cy="59436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Chernyshevsky</a:t>
            </a:r>
            <a:endParaRPr lang="en-US" sz="2400" dirty="0"/>
          </a:p>
        </p:txBody>
      </p:sp>
      <p:sp>
        <p:nvSpPr>
          <p:cNvPr id="22" name="Chernyshevsky step 0"/>
          <p:cNvSpPr/>
          <p:nvPr/>
        </p:nvSpPr>
        <p:spPr>
          <a:xfrm>
            <a:off x="6583680" y="2788920"/>
            <a:ext cx="1005840" cy="685800"/>
          </a:xfrm>
          <a:prstGeom prst="roundRect">
            <a:avLst>
              <a:gd name="adj" fmla="val 8000"/>
            </a:avLst>
          </a:prstGeom>
          <a:solidFill>
            <a:schemeClr val="accent1"/>
          </a:solidFill>
          <a:ln w="12700">
            <a:solidFill>
              <a:schemeClr val="accent1"/>
            </a:solidFill>
            <a:prstDash val="solid"/>
          </a:ln>
        </p:spPr>
        <p:txBody>
          <a:bodyPr/>
          <a:lstStyle/>
          <a:p>
            <a:endParaRPr lang="en-US"/>
          </a:p>
        </p:txBody>
      </p:sp>
      <p:sp>
        <p:nvSpPr>
          <p:cNvPr id="23" name="Text 19"/>
          <p:cNvSpPr txBox="1"/>
          <p:nvPr/>
        </p:nvSpPr>
        <p:spPr>
          <a:xfrm>
            <a:off x="6583680" y="2788920"/>
            <a:ext cx="1005840" cy="685800"/>
          </a:xfrm>
          <a:prstGeom prst="rect">
            <a:avLst/>
          </a:prstGeom>
          <a:noFill/>
          <a:ln/>
        </p:spPr>
        <p:txBody>
          <a:bodyPr wrap="square" lIns="0" tIns="0" rIns="0" bIns="0" rtlCol="0" anchor="ctr"/>
          <a:lstStyle/>
          <a:p>
            <a:pPr marL="0" indent="0" algn="ctr">
              <a:buNone/>
            </a:pPr>
            <a:r>
              <a:rPr lang="en-US" sz="1500" b="1" dirty="0">
                <a:solidFill>
                  <a:schemeClr val="bg1"/>
                </a:solidFill>
              </a:rPr>
              <a:t>1863</a:t>
            </a:r>
            <a:endParaRPr lang="en-US" sz="1500" dirty="0"/>
          </a:p>
        </p:txBody>
      </p:sp>
      <p:sp>
        <p:nvSpPr>
          <p:cNvPr id="24" name="Text 20"/>
          <p:cNvSpPr txBox="1"/>
          <p:nvPr/>
        </p:nvSpPr>
        <p:spPr>
          <a:xfrm>
            <a:off x="7772400" y="2788920"/>
            <a:ext cx="3657600" cy="685800"/>
          </a:xfrm>
          <a:prstGeom prst="rect">
            <a:avLst/>
          </a:prstGeom>
          <a:noFill/>
          <a:ln/>
        </p:spPr>
        <p:txBody>
          <a:bodyPr wrap="square" lIns="0" tIns="0" rIns="0" bIns="0" rtlCol="0" anchor="ctr"/>
          <a:lstStyle/>
          <a:p>
            <a:pPr marL="0" indent="0">
              <a:buNone/>
            </a:pPr>
            <a:r>
              <a:rPr lang="en-US" sz="1500" dirty="0">
                <a:solidFill>
                  <a:schemeClr val="tx2"/>
                </a:solidFill>
              </a:rPr>
              <a:t>Writes What Is to Be Done? in prison</a:t>
            </a:r>
            <a:endParaRPr lang="en-US" sz="1500" dirty="0"/>
          </a:p>
        </p:txBody>
      </p:sp>
      <p:sp>
        <p:nvSpPr>
          <p:cNvPr id="25" name="Chernyshevsky step 1"/>
          <p:cNvSpPr/>
          <p:nvPr/>
        </p:nvSpPr>
        <p:spPr>
          <a:xfrm>
            <a:off x="6583680" y="3703320"/>
            <a:ext cx="1005840" cy="685800"/>
          </a:xfrm>
          <a:prstGeom prst="roundRect">
            <a:avLst>
              <a:gd name="adj" fmla="val 8000"/>
            </a:avLst>
          </a:prstGeom>
          <a:solidFill>
            <a:schemeClr val="tx2"/>
          </a:solidFill>
          <a:ln w="12700">
            <a:solidFill>
              <a:schemeClr val="tx2"/>
            </a:solidFill>
            <a:prstDash val="solid"/>
          </a:ln>
        </p:spPr>
        <p:txBody>
          <a:bodyPr/>
          <a:lstStyle/>
          <a:p>
            <a:endParaRPr lang="en-US"/>
          </a:p>
        </p:txBody>
      </p:sp>
      <p:sp>
        <p:nvSpPr>
          <p:cNvPr id="26" name="Text 22"/>
          <p:cNvSpPr txBox="1"/>
          <p:nvPr/>
        </p:nvSpPr>
        <p:spPr>
          <a:xfrm>
            <a:off x="6583680" y="3703320"/>
            <a:ext cx="1005840" cy="685800"/>
          </a:xfrm>
          <a:prstGeom prst="rect">
            <a:avLst/>
          </a:prstGeom>
          <a:noFill/>
          <a:ln/>
        </p:spPr>
        <p:txBody>
          <a:bodyPr wrap="square" lIns="0" tIns="0" rIns="0" bIns="0" rtlCol="0" anchor="ctr"/>
          <a:lstStyle/>
          <a:p>
            <a:pPr marL="0" indent="0" algn="ctr">
              <a:buNone/>
            </a:pPr>
            <a:r>
              <a:rPr lang="en-US" sz="1500" b="1" dirty="0">
                <a:solidFill>
                  <a:schemeClr val="bg1"/>
                </a:solidFill>
              </a:rPr>
              <a:t>Punished</a:t>
            </a:r>
            <a:endParaRPr lang="en-US" sz="1500" dirty="0"/>
          </a:p>
        </p:txBody>
      </p:sp>
      <p:sp>
        <p:nvSpPr>
          <p:cNvPr id="27" name="Text 23"/>
          <p:cNvSpPr txBox="1"/>
          <p:nvPr/>
        </p:nvSpPr>
        <p:spPr>
          <a:xfrm>
            <a:off x="7772400" y="3703320"/>
            <a:ext cx="3657600" cy="685800"/>
          </a:xfrm>
          <a:prstGeom prst="rect">
            <a:avLst/>
          </a:prstGeom>
          <a:noFill/>
          <a:ln/>
        </p:spPr>
        <p:txBody>
          <a:bodyPr wrap="square" lIns="0" tIns="0" rIns="0" bIns="0" rtlCol="0" anchor="ctr"/>
          <a:lstStyle/>
          <a:p>
            <a:pPr marL="0" indent="0">
              <a:buNone/>
            </a:pPr>
            <a:r>
              <a:rPr lang="en-US" sz="1500" dirty="0">
                <a:solidFill>
                  <a:schemeClr val="tx2"/>
                </a:solidFill>
              </a:rPr>
              <a:t>Civil execution, Siberian prison, exile</a:t>
            </a:r>
            <a:endParaRPr lang="en-US" sz="1500" dirty="0"/>
          </a:p>
        </p:txBody>
      </p:sp>
      <p:sp>
        <p:nvSpPr>
          <p:cNvPr id="28" name="Chernyshevsky step 2"/>
          <p:cNvSpPr/>
          <p:nvPr/>
        </p:nvSpPr>
        <p:spPr>
          <a:xfrm>
            <a:off x="6583680" y="4617720"/>
            <a:ext cx="1005840" cy="685800"/>
          </a:xfrm>
          <a:prstGeom prst="roundRect">
            <a:avLst>
              <a:gd name="adj" fmla="val 8000"/>
            </a:avLst>
          </a:prstGeom>
          <a:solidFill>
            <a:schemeClr val="tx2"/>
          </a:solidFill>
          <a:ln w="12700">
            <a:solidFill>
              <a:schemeClr val="tx2"/>
            </a:solidFill>
            <a:prstDash val="solid"/>
          </a:ln>
        </p:spPr>
        <p:txBody>
          <a:bodyPr/>
          <a:lstStyle/>
          <a:p>
            <a:endParaRPr lang="en-US"/>
          </a:p>
        </p:txBody>
      </p:sp>
      <p:sp>
        <p:nvSpPr>
          <p:cNvPr id="29" name="Text 25"/>
          <p:cNvSpPr txBox="1"/>
          <p:nvPr/>
        </p:nvSpPr>
        <p:spPr>
          <a:xfrm>
            <a:off x="6583680" y="4617720"/>
            <a:ext cx="1005840" cy="685800"/>
          </a:xfrm>
          <a:prstGeom prst="rect">
            <a:avLst/>
          </a:prstGeom>
          <a:noFill/>
          <a:ln/>
        </p:spPr>
        <p:txBody>
          <a:bodyPr wrap="square" lIns="0" tIns="0" rIns="0" bIns="0" rtlCol="0" anchor="ctr"/>
          <a:lstStyle/>
          <a:p>
            <a:pPr marL="0" indent="0" algn="ctr">
              <a:buNone/>
            </a:pPr>
            <a:r>
              <a:rPr lang="en-US" sz="1500" b="1" dirty="0">
                <a:solidFill>
                  <a:schemeClr val="bg1"/>
                </a:solidFill>
              </a:rPr>
              <a:t>Legacy</a:t>
            </a:r>
            <a:endParaRPr lang="en-US" sz="1500" dirty="0"/>
          </a:p>
        </p:txBody>
      </p:sp>
      <p:sp>
        <p:nvSpPr>
          <p:cNvPr id="30" name="Text 26"/>
          <p:cNvSpPr txBox="1"/>
          <p:nvPr/>
        </p:nvSpPr>
        <p:spPr>
          <a:xfrm>
            <a:off x="7772400" y="4617720"/>
            <a:ext cx="3657600" cy="685800"/>
          </a:xfrm>
          <a:prstGeom prst="rect">
            <a:avLst/>
          </a:prstGeom>
          <a:noFill/>
          <a:ln/>
        </p:spPr>
        <p:txBody>
          <a:bodyPr wrap="square" lIns="0" tIns="0" rIns="0" bIns="0" rtlCol="0" anchor="ctr"/>
          <a:lstStyle/>
          <a:p>
            <a:pPr marL="0" indent="0">
              <a:buNone/>
            </a:pPr>
            <a:r>
              <a:rPr lang="en-US" sz="1500" dirty="0">
                <a:solidFill>
                  <a:schemeClr val="tx2"/>
                </a:solidFill>
              </a:rPr>
              <a:t>His novel inspires anti-tsarist radicals</a:t>
            </a:r>
            <a:endParaRPr lang="en-US" sz="1500" dirty="0"/>
          </a:p>
        </p:txBody>
      </p:sp>
      <p:sp>
        <p:nvSpPr>
          <p:cNvPr id="31" name="Text 27"/>
          <p:cNvSpPr txBox="1"/>
          <p:nvPr/>
        </p:nvSpPr>
        <p:spPr>
          <a:xfrm>
            <a:off x="6583680" y="5486400"/>
            <a:ext cx="4846320" cy="320040"/>
          </a:xfrm>
          <a:prstGeom prst="rect">
            <a:avLst/>
          </a:prstGeom>
          <a:noFill/>
          <a:ln/>
        </p:spPr>
        <p:txBody>
          <a:bodyPr wrap="square" lIns="0" tIns="0" rIns="0" bIns="0" rtlCol="0" anchor="ctr"/>
          <a:lstStyle/>
          <a:p>
            <a:pPr marL="0" indent="0">
              <a:buNone/>
            </a:pPr>
            <a:r>
              <a:rPr lang="en-US" sz="1300" i="1" dirty="0">
                <a:solidFill>
                  <a:schemeClr val="accent1"/>
                </a:solidFill>
              </a:rPr>
              <a:t>Writes first, then is punished</a:t>
            </a:r>
            <a:endParaRPr lang="en-US" sz="1300" dirty="0"/>
          </a:p>
        </p:txBody>
      </p:sp>
      <p:sp>
        <p:nvSpPr>
          <p:cNvPr id="32"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CONTEXT · THE UNDERGROUND MAN</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"I am a sick man.... I am a spiteful man."</a:t>
            </a:r>
            <a:endParaRPr lang="en-US" sz="3400" dirty="0"/>
          </a:p>
        </p:txBody>
      </p:sp>
      <p:sp>
        <p:nvSpPr>
          <p:cNvPr id="4" name="argument 1"/>
          <p:cNvSpPr/>
          <p:nvPr/>
        </p:nvSpPr>
        <p:spPr>
          <a:xfrm>
            <a:off x="548640" y="1645920"/>
            <a:ext cx="3474720" cy="3429000"/>
          </a:xfrm>
          <a:prstGeom prst="roundRect">
            <a:avLst>
              <a:gd name="adj" fmla="val 2133"/>
            </a:avLst>
          </a:prstGeom>
          <a:solidFill>
            <a:schemeClr val="bg2"/>
          </a:solidFill>
          <a:ln w="12700">
            <a:solidFill>
              <a:schemeClr val="bg2"/>
            </a:solidFill>
            <a:prstDash val="solid"/>
          </a:ln>
        </p:spPr>
        <p:txBody>
          <a:bodyPr/>
          <a:lstStyle/>
          <a:p>
            <a:endParaRPr lang="en-US"/>
          </a:p>
        </p:txBody>
      </p:sp>
      <p:sp>
        <p:nvSpPr>
          <p:cNvPr id="5" name="Not piano keys circle"/>
          <p:cNvSpPr/>
          <p:nvPr/>
        </p:nvSpPr>
        <p:spPr>
          <a:xfrm>
            <a:off x="1828800" y="1874520"/>
            <a:ext cx="914400" cy="914400"/>
          </a:xfrm>
          <a:prstGeom prst="ellipse">
            <a:avLst/>
          </a:prstGeom>
          <a:solidFill>
            <a:schemeClr val="accent1"/>
          </a:solidFill>
          <a:ln w="12700">
            <a:solidFill>
              <a:schemeClr val="accent1"/>
            </a:solidFill>
            <a:prstDash val="solid"/>
          </a:ln>
        </p:spPr>
        <p:txBody>
          <a:bodyPr/>
          <a:lstStyle/>
          <a:p>
            <a:endParaRPr lang="en-US"/>
          </a:p>
        </p:txBody>
      </p:sp>
      <p:pic>
        <p:nvPicPr>
          <p:cNvPr id="6" name="Not piano keys icon" descr="Not piano keys"/>
          <p:cNvPicPr>
            <a:picLocks noChangeAspect="1"/>
          </p:cNvPicPr>
          <p:nvPr/>
        </p:nvPicPr>
        <p:blipFill>
          <a:blip r:embed="rId3"/>
          <a:stretch>
            <a:fillRect/>
          </a:stretch>
        </p:blipFill>
        <p:spPr>
          <a:xfrm>
            <a:off x="2029968" y="2075688"/>
            <a:ext cx="512064" cy="512064"/>
          </a:xfrm>
          <a:prstGeom prst="rect">
            <a:avLst/>
          </a:prstGeom>
        </p:spPr>
      </p:pic>
      <p:sp>
        <p:nvSpPr>
          <p:cNvPr id="7" name="Text 4"/>
          <p:cNvSpPr txBox="1"/>
          <p:nvPr/>
        </p:nvSpPr>
        <p:spPr>
          <a:xfrm>
            <a:off x="822960" y="2926080"/>
            <a:ext cx="2926080" cy="457200"/>
          </a:xfrm>
          <a:prstGeom prst="rect">
            <a:avLst/>
          </a:prstGeom>
          <a:noFill/>
          <a:ln/>
        </p:spPr>
        <p:txBody>
          <a:bodyPr wrap="square" lIns="0" tIns="0" rIns="0" bIns="0" rtlCol="0" anchor="ctr"/>
          <a:lstStyle/>
          <a:p>
            <a:pPr marL="0" indent="0" algn="ctr">
              <a:buNone/>
            </a:pPr>
            <a:r>
              <a:rPr lang="en-US" sz="2000" b="1" dirty="0">
                <a:solidFill>
                  <a:schemeClr val="tx1"/>
                </a:solidFill>
                <a:latin typeface="Cambria" pitchFamily="34" charset="0"/>
                <a:ea typeface="Cambria" pitchFamily="34" charset="-122"/>
                <a:cs typeface="Cambria" pitchFamily="34" charset="-120"/>
              </a:rPr>
              <a:t>Not piano keys</a:t>
            </a:r>
            <a:endParaRPr lang="en-US" sz="2000" dirty="0"/>
          </a:p>
        </p:txBody>
      </p:sp>
      <p:sp>
        <p:nvSpPr>
          <p:cNvPr id="8" name="Text 5"/>
          <p:cNvSpPr txBox="1"/>
          <p:nvPr/>
        </p:nvSpPr>
        <p:spPr>
          <a:xfrm>
            <a:off x="822960" y="3474720"/>
            <a:ext cx="2926080" cy="1463040"/>
          </a:xfrm>
          <a:prstGeom prst="rect">
            <a:avLst/>
          </a:prstGeom>
          <a:noFill/>
          <a:ln/>
        </p:spPr>
        <p:txBody>
          <a:bodyPr wrap="square" lIns="0" tIns="0" rIns="0" bIns="0" rtlCol="0" anchor="t"/>
          <a:lstStyle/>
          <a:p>
            <a:pPr marL="0" indent="0">
              <a:buNone/>
            </a:pPr>
            <a:r>
              <a:rPr lang="en-US" sz="1500" dirty="0">
                <a:solidFill>
                  <a:schemeClr val="tx2"/>
                </a:solidFill>
              </a:rPr>
              <a:t>People will act against their own interest just to prove they are free, and not keys on a piano.</a:t>
            </a:r>
            <a:endParaRPr lang="en-US" sz="1500" dirty="0"/>
          </a:p>
        </p:txBody>
      </p:sp>
      <p:sp>
        <p:nvSpPr>
          <p:cNvPr id="9" name="argument 2"/>
          <p:cNvSpPr/>
          <p:nvPr/>
        </p:nvSpPr>
        <p:spPr>
          <a:xfrm>
            <a:off x="4297680" y="1645920"/>
            <a:ext cx="3474720" cy="3429000"/>
          </a:xfrm>
          <a:prstGeom prst="roundRect">
            <a:avLst>
              <a:gd name="adj" fmla="val 2133"/>
            </a:avLst>
          </a:prstGeom>
          <a:solidFill>
            <a:schemeClr val="bg2"/>
          </a:solidFill>
          <a:ln w="12700">
            <a:solidFill>
              <a:schemeClr val="bg2"/>
            </a:solidFill>
            <a:prstDash val="solid"/>
          </a:ln>
        </p:spPr>
        <p:txBody>
          <a:bodyPr/>
          <a:lstStyle/>
          <a:p>
            <a:endParaRPr lang="en-US"/>
          </a:p>
        </p:txBody>
      </p:sp>
      <p:sp>
        <p:nvSpPr>
          <p:cNvPr id="10" name="2x2 circle"/>
          <p:cNvSpPr/>
          <p:nvPr/>
        </p:nvSpPr>
        <p:spPr>
          <a:xfrm>
            <a:off x="5577840" y="1874520"/>
            <a:ext cx="914400" cy="914400"/>
          </a:xfrm>
          <a:prstGeom prst="ellipse">
            <a:avLst/>
          </a:prstGeom>
          <a:solidFill>
            <a:schemeClr val="accent1"/>
          </a:solidFill>
          <a:ln w="12700">
            <a:solidFill>
              <a:schemeClr val="accent1"/>
            </a:solidFill>
            <a:prstDash val="solid"/>
          </a:ln>
        </p:spPr>
        <p:txBody>
          <a:bodyPr/>
          <a:lstStyle/>
          <a:p>
            <a:endParaRPr lang="en-US"/>
          </a:p>
        </p:txBody>
      </p:sp>
      <p:sp>
        <p:nvSpPr>
          <p:cNvPr id="11" name="Text 8"/>
          <p:cNvSpPr txBox="1"/>
          <p:nvPr/>
        </p:nvSpPr>
        <p:spPr>
          <a:xfrm>
            <a:off x="5577840" y="1874520"/>
            <a:ext cx="914400" cy="91440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2×2</a:t>
            </a:r>
            <a:endParaRPr lang="en-US" sz="2200" dirty="0"/>
          </a:p>
        </p:txBody>
      </p:sp>
      <p:sp>
        <p:nvSpPr>
          <p:cNvPr id="12" name="Text 9"/>
          <p:cNvSpPr txBox="1"/>
          <p:nvPr/>
        </p:nvSpPr>
        <p:spPr>
          <a:xfrm>
            <a:off x="4572000" y="2926080"/>
            <a:ext cx="2926080" cy="457200"/>
          </a:xfrm>
          <a:prstGeom prst="rect">
            <a:avLst/>
          </a:prstGeom>
          <a:noFill/>
          <a:ln/>
        </p:spPr>
        <p:txBody>
          <a:bodyPr wrap="square" lIns="0" tIns="0" rIns="0" bIns="0" rtlCol="0" anchor="ctr"/>
          <a:lstStyle/>
          <a:p>
            <a:pPr marL="0" indent="0" algn="ctr">
              <a:buNone/>
            </a:pPr>
            <a:r>
              <a:rPr lang="en-US" sz="2000" b="1" dirty="0">
                <a:solidFill>
                  <a:schemeClr val="tx1"/>
                </a:solidFill>
                <a:latin typeface="Cambria" pitchFamily="34" charset="0"/>
                <a:ea typeface="Cambria" pitchFamily="34" charset="-122"/>
                <a:cs typeface="Cambria" pitchFamily="34" charset="-120"/>
              </a:rPr>
              <a:t>2 × 2 = 4</a:t>
            </a:r>
            <a:endParaRPr lang="en-US" sz="2000" dirty="0"/>
          </a:p>
        </p:txBody>
      </p:sp>
      <p:sp>
        <p:nvSpPr>
          <p:cNvPr id="13" name="Text 10"/>
          <p:cNvSpPr txBox="1"/>
          <p:nvPr/>
        </p:nvSpPr>
        <p:spPr>
          <a:xfrm>
            <a:off x="4572000" y="3474720"/>
            <a:ext cx="2926080" cy="1463040"/>
          </a:xfrm>
          <a:prstGeom prst="rect">
            <a:avLst/>
          </a:prstGeom>
          <a:noFill/>
          <a:ln/>
        </p:spPr>
        <p:txBody>
          <a:bodyPr wrap="square" lIns="0" tIns="0" rIns="0" bIns="0" rtlCol="0" anchor="t"/>
          <a:lstStyle/>
          <a:p>
            <a:pPr marL="0" indent="0">
              <a:buNone/>
            </a:pPr>
            <a:r>
              <a:rPr lang="en-US" sz="1500" dirty="0">
                <a:solidFill>
                  <a:schemeClr val="tx2"/>
                </a:solidFill>
              </a:rPr>
              <a:t>"Two times two makes four" is the beginning of death. Twice two makes five can be charming too.</a:t>
            </a:r>
            <a:endParaRPr lang="en-US" sz="1500" dirty="0"/>
          </a:p>
        </p:txBody>
      </p:sp>
      <p:sp>
        <p:nvSpPr>
          <p:cNvPr id="14" name="argument 3"/>
          <p:cNvSpPr/>
          <p:nvPr/>
        </p:nvSpPr>
        <p:spPr>
          <a:xfrm>
            <a:off x="8046720" y="1645920"/>
            <a:ext cx="3474720" cy="3429000"/>
          </a:xfrm>
          <a:prstGeom prst="roundRect">
            <a:avLst>
              <a:gd name="adj" fmla="val 2133"/>
            </a:avLst>
          </a:prstGeom>
          <a:solidFill>
            <a:schemeClr val="bg2"/>
          </a:solidFill>
          <a:ln w="12700">
            <a:solidFill>
              <a:schemeClr val="bg2"/>
            </a:solidFill>
            <a:prstDash val="solid"/>
          </a:ln>
        </p:spPr>
        <p:txBody>
          <a:bodyPr/>
          <a:lstStyle/>
          <a:p>
            <a:endParaRPr lang="en-US"/>
          </a:p>
        </p:txBody>
      </p:sp>
      <p:sp>
        <p:nvSpPr>
          <p:cNvPr id="15" name="No tongue allowed circle"/>
          <p:cNvSpPr/>
          <p:nvPr/>
        </p:nvSpPr>
        <p:spPr>
          <a:xfrm>
            <a:off x="9326880" y="1874520"/>
            <a:ext cx="914400" cy="914400"/>
          </a:xfrm>
          <a:prstGeom prst="ellipse">
            <a:avLst/>
          </a:prstGeom>
          <a:solidFill>
            <a:schemeClr val="accent1"/>
          </a:solidFill>
          <a:ln w="12700">
            <a:solidFill>
              <a:schemeClr val="accent1"/>
            </a:solidFill>
            <a:prstDash val="solid"/>
          </a:ln>
        </p:spPr>
        <p:txBody>
          <a:bodyPr/>
          <a:lstStyle/>
          <a:p>
            <a:endParaRPr lang="en-US"/>
          </a:p>
        </p:txBody>
      </p:sp>
      <p:pic>
        <p:nvPicPr>
          <p:cNvPr id="16" name="No tongue allowed icon" descr="No tongue allowed"/>
          <p:cNvPicPr>
            <a:picLocks noChangeAspect="1"/>
          </p:cNvPicPr>
          <p:nvPr/>
        </p:nvPicPr>
        <p:blipFill>
          <a:blip r:embed="rId4"/>
          <a:stretch>
            <a:fillRect/>
          </a:stretch>
        </p:blipFill>
        <p:spPr>
          <a:xfrm>
            <a:off x="9528048" y="2075688"/>
            <a:ext cx="512064" cy="512064"/>
          </a:xfrm>
          <a:prstGeom prst="rect">
            <a:avLst/>
          </a:prstGeom>
        </p:spPr>
      </p:pic>
      <p:sp>
        <p:nvSpPr>
          <p:cNvPr id="17" name="Text 13"/>
          <p:cNvSpPr txBox="1"/>
          <p:nvPr/>
        </p:nvSpPr>
        <p:spPr>
          <a:xfrm>
            <a:off x="8321040" y="2926080"/>
            <a:ext cx="2926080" cy="457200"/>
          </a:xfrm>
          <a:prstGeom prst="rect">
            <a:avLst/>
          </a:prstGeom>
          <a:noFill/>
          <a:ln/>
        </p:spPr>
        <p:txBody>
          <a:bodyPr wrap="square" lIns="0" tIns="0" rIns="0" bIns="0" rtlCol="0" anchor="ctr"/>
          <a:lstStyle/>
          <a:p>
            <a:pPr marL="0" indent="0" algn="ctr">
              <a:buNone/>
            </a:pPr>
            <a:r>
              <a:rPr lang="en-US" sz="2000" b="1" dirty="0">
                <a:solidFill>
                  <a:schemeClr val="tx1"/>
                </a:solidFill>
                <a:latin typeface="Cambria" pitchFamily="34" charset="0"/>
                <a:ea typeface="Cambria" pitchFamily="34" charset="-122"/>
                <a:cs typeface="Cambria" pitchFamily="34" charset="-120"/>
              </a:rPr>
              <a:t>No tongue allowed</a:t>
            </a:r>
            <a:endParaRPr lang="en-US" sz="2000" dirty="0"/>
          </a:p>
        </p:txBody>
      </p:sp>
      <p:sp>
        <p:nvSpPr>
          <p:cNvPr id="18" name="Text 14"/>
          <p:cNvSpPr txBox="1"/>
          <p:nvPr/>
        </p:nvSpPr>
        <p:spPr>
          <a:xfrm>
            <a:off x="8321040" y="3474720"/>
            <a:ext cx="2926080" cy="1463040"/>
          </a:xfrm>
          <a:prstGeom prst="rect">
            <a:avLst/>
          </a:prstGeom>
          <a:noFill/>
          <a:ln/>
        </p:spPr>
        <p:txBody>
          <a:bodyPr wrap="square" lIns="0" tIns="0" rIns="0" bIns="0" rtlCol="0" anchor="t"/>
          <a:lstStyle/>
          <a:p>
            <a:pPr marL="0" indent="0">
              <a:buNone/>
            </a:pPr>
            <a:r>
              <a:rPr lang="en-US" sz="1500" dirty="0">
                <a:solidFill>
                  <a:schemeClr val="tx2"/>
                </a:solidFill>
              </a:rPr>
              <a:t>The Crystal Palace is an anthill, a place where you can't even stick out your tongue.</a:t>
            </a:r>
            <a:endParaRPr lang="en-US" sz="1500" dirty="0"/>
          </a:p>
        </p:txBody>
      </p:sp>
      <p:sp>
        <p:nvSpPr>
          <p:cNvPr id="19" name="target banner"/>
          <p:cNvSpPr/>
          <p:nvPr/>
        </p:nvSpPr>
        <p:spPr>
          <a:xfrm>
            <a:off x="548640" y="5349240"/>
            <a:ext cx="11064240" cy="868680"/>
          </a:xfrm>
          <a:prstGeom prst="roundRect">
            <a:avLst>
              <a:gd name="adj" fmla="val 8421"/>
            </a:avLst>
          </a:prstGeom>
          <a:solidFill>
            <a:schemeClr val="tx2"/>
          </a:solidFill>
          <a:ln w="12700">
            <a:solidFill>
              <a:schemeClr val="tx2"/>
            </a:solidFill>
            <a:prstDash val="solid"/>
          </a:ln>
        </p:spPr>
        <p:txBody>
          <a:bodyPr/>
          <a:lstStyle/>
          <a:p>
            <a:endParaRPr lang="en-US"/>
          </a:p>
        </p:txBody>
      </p:sp>
      <p:sp>
        <p:nvSpPr>
          <p:cNvPr id="20" name="Text 16"/>
          <p:cNvSpPr txBox="1"/>
          <p:nvPr/>
        </p:nvSpPr>
        <p:spPr>
          <a:xfrm>
            <a:off x="822960" y="5349240"/>
            <a:ext cx="10515600" cy="868680"/>
          </a:xfrm>
          <a:prstGeom prst="rect">
            <a:avLst/>
          </a:prstGeom>
          <a:noFill/>
          <a:ln/>
        </p:spPr>
        <p:txBody>
          <a:bodyPr wrap="square" lIns="0" tIns="0" rIns="0" bIns="0" rtlCol="0" anchor="ctr"/>
          <a:lstStyle/>
          <a:p>
            <a:pPr marL="0" indent="0">
              <a:buNone/>
            </a:pPr>
            <a:r>
              <a:rPr lang="en-US" sz="1800" b="1" dirty="0">
                <a:solidFill>
                  <a:schemeClr val="accent2"/>
                </a:solidFill>
              </a:rPr>
              <a:t>The target is not reason itself. </a:t>
            </a:r>
            <a:r>
              <a:rPr lang="en-US" sz="1800" dirty="0">
                <a:solidFill>
                  <a:schemeClr val="bg1"/>
                </a:solidFill>
              </a:rPr>
              <a:t>It is reason claiming totality: if science can fully predict us, freedom is gone.</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CONTEXT · LEGACY</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What came after: a literary line and a violent one</a:t>
            </a:r>
            <a:endParaRPr lang="en-US" sz="3400" dirty="0"/>
          </a:p>
        </p:txBody>
      </p:sp>
      <p:sp>
        <p:nvSpPr>
          <p:cNvPr id="4" name="Text 2"/>
          <p:cNvSpPr txBox="1"/>
          <p:nvPr/>
        </p:nvSpPr>
        <p:spPr>
          <a:xfrm>
            <a:off x="548640" y="1600200"/>
            <a:ext cx="11064240" cy="411480"/>
          </a:xfrm>
          <a:prstGeom prst="rect">
            <a:avLst/>
          </a:prstGeom>
          <a:noFill/>
          <a:ln/>
        </p:spPr>
        <p:txBody>
          <a:bodyPr wrap="square" lIns="0" tIns="0" rIns="0" bIns="0" rtlCol="0" anchor="ctr"/>
          <a:lstStyle/>
          <a:p>
            <a:pPr marL="0" indent="0">
              <a:buNone/>
            </a:pPr>
            <a:r>
              <a:rPr lang="en-US" sz="2000" b="1" dirty="0">
                <a:solidFill>
                  <a:schemeClr val="accent3"/>
                </a:solidFill>
                <a:latin typeface="Cambria" pitchFamily="34" charset="0"/>
                <a:ea typeface="Cambria" pitchFamily="34" charset="-122"/>
                <a:cs typeface="Cambria" pitchFamily="34" charset="-120"/>
              </a:rPr>
              <a:t>The literary line: engineering human behavior</a:t>
            </a:r>
            <a:endParaRPr lang="en-US" sz="2000" dirty="0"/>
          </a:p>
        </p:txBody>
      </p:sp>
      <p:sp>
        <p:nvSpPr>
          <p:cNvPr id="5" name="chain 0"/>
          <p:cNvSpPr/>
          <p:nvPr/>
        </p:nvSpPr>
        <p:spPr>
          <a:xfrm>
            <a:off x="548640" y="2148840"/>
            <a:ext cx="2514600" cy="2331720"/>
          </a:xfrm>
          <a:prstGeom prst="roundRect">
            <a:avLst>
              <a:gd name="adj" fmla="val 3137"/>
            </a:avLst>
          </a:prstGeom>
          <a:solidFill>
            <a:schemeClr val="accent1"/>
          </a:solidFill>
          <a:ln w="12700">
            <a:solidFill>
              <a:schemeClr val="accent1"/>
            </a:solidFill>
            <a:prstDash val="solid"/>
          </a:ln>
        </p:spPr>
        <p:txBody>
          <a:bodyPr/>
          <a:lstStyle/>
          <a:p>
            <a:endParaRPr lang="en-US"/>
          </a:p>
        </p:txBody>
      </p:sp>
      <p:sp>
        <p:nvSpPr>
          <p:cNvPr id="6" name="Text 4"/>
          <p:cNvSpPr txBox="1"/>
          <p:nvPr/>
        </p:nvSpPr>
        <p:spPr>
          <a:xfrm>
            <a:off x="731520" y="2286000"/>
            <a:ext cx="2148840" cy="365760"/>
          </a:xfrm>
          <a:prstGeom prst="rect">
            <a:avLst/>
          </a:prstGeom>
          <a:noFill/>
          <a:ln/>
        </p:spPr>
        <p:txBody>
          <a:bodyPr wrap="square" lIns="0" tIns="0" rIns="0" bIns="0" rtlCol="0" anchor="ctr"/>
          <a:lstStyle/>
          <a:p>
            <a:pPr marL="0" indent="0">
              <a:buNone/>
            </a:pPr>
            <a:r>
              <a:rPr lang="en-US" sz="1400" b="1" dirty="0">
                <a:solidFill>
                  <a:schemeClr val="accent5"/>
                </a:solidFill>
              </a:rPr>
              <a:t>1864</a:t>
            </a:r>
            <a:endParaRPr lang="en-US" sz="1400" dirty="0"/>
          </a:p>
        </p:txBody>
      </p:sp>
      <p:sp>
        <p:nvSpPr>
          <p:cNvPr id="7" name="Text 5"/>
          <p:cNvSpPr txBox="1"/>
          <p:nvPr/>
        </p:nvSpPr>
        <p:spPr>
          <a:xfrm>
            <a:off x="731520" y="2651760"/>
            <a:ext cx="2148840" cy="548640"/>
          </a:xfrm>
          <a:prstGeom prst="rect">
            <a:avLst/>
          </a:prstGeom>
          <a:noFill/>
          <a:ln/>
        </p:spPr>
        <p:txBody>
          <a:bodyPr wrap="square" lIns="0" tIns="0" rIns="0" bIns="0" rtlCol="0" anchor="ctr"/>
          <a:lstStyle/>
          <a:p>
            <a:pPr marL="0" indent="0">
              <a:buNone/>
            </a:pPr>
            <a:r>
              <a:rPr lang="en-US" sz="1800" b="1" dirty="0">
                <a:solidFill>
                  <a:schemeClr val="bg1"/>
                </a:solidFill>
                <a:latin typeface="Cambria" pitchFamily="34" charset="0"/>
                <a:ea typeface="Cambria" pitchFamily="34" charset="-122"/>
                <a:cs typeface="Cambria" pitchFamily="34" charset="-120"/>
              </a:rPr>
              <a:t>Notes from Underground</a:t>
            </a:r>
            <a:endParaRPr lang="en-US" sz="1800" dirty="0"/>
          </a:p>
        </p:txBody>
      </p:sp>
      <p:sp>
        <p:nvSpPr>
          <p:cNvPr id="8" name="Text 6"/>
          <p:cNvSpPr txBox="1"/>
          <p:nvPr/>
        </p:nvSpPr>
        <p:spPr>
          <a:xfrm>
            <a:off x="731520" y="3246120"/>
            <a:ext cx="2148840" cy="1143000"/>
          </a:xfrm>
          <a:prstGeom prst="rect">
            <a:avLst/>
          </a:prstGeom>
          <a:noFill/>
          <a:ln/>
        </p:spPr>
        <p:txBody>
          <a:bodyPr wrap="square" lIns="0" tIns="0" rIns="0" bIns="0" rtlCol="0" anchor="t"/>
          <a:lstStyle/>
          <a:p>
            <a:pPr marL="0" indent="0">
              <a:buNone/>
            </a:pPr>
            <a:r>
              <a:rPr lang="en-US" sz="1500" dirty="0">
                <a:solidFill>
                  <a:schemeClr val="bg1"/>
                </a:solidFill>
              </a:rPr>
              <a:t>Later adopted as a forerunner of existentialism</a:t>
            </a:r>
            <a:endParaRPr lang="en-US" sz="1500" dirty="0"/>
          </a:p>
        </p:txBody>
      </p:sp>
      <p:sp>
        <p:nvSpPr>
          <p:cNvPr id="9" name="arrow 0"/>
          <p:cNvSpPr/>
          <p:nvPr/>
        </p:nvSpPr>
        <p:spPr>
          <a:xfrm>
            <a:off x="3127248" y="3154680"/>
            <a:ext cx="201168" cy="320040"/>
          </a:xfrm>
          <a:prstGeom prst="rightArrow">
            <a:avLst/>
          </a:prstGeom>
          <a:solidFill>
            <a:schemeClr val="accent4"/>
          </a:solidFill>
          <a:ln w="12700">
            <a:solidFill>
              <a:schemeClr val="accent4"/>
            </a:solidFill>
            <a:prstDash val="solid"/>
          </a:ln>
        </p:spPr>
        <p:txBody>
          <a:bodyPr/>
          <a:lstStyle/>
          <a:p>
            <a:endParaRPr lang="en-US"/>
          </a:p>
        </p:txBody>
      </p:sp>
      <p:sp>
        <p:nvSpPr>
          <p:cNvPr id="10" name="chain 1"/>
          <p:cNvSpPr/>
          <p:nvPr/>
        </p:nvSpPr>
        <p:spPr>
          <a:xfrm>
            <a:off x="3383280" y="2148840"/>
            <a:ext cx="2514600" cy="2331720"/>
          </a:xfrm>
          <a:prstGeom prst="roundRect">
            <a:avLst>
              <a:gd name="adj" fmla="val 3137"/>
            </a:avLst>
          </a:prstGeom>
          <a:solidFill>
            <a:schemeClr val="bg2"/>
          </a:solidFill>
          <a:ln w="12700">
            <a:solidFill>
              <a:schemeClr val="bg2"/>
            </a:solidFill>
            <a:prstDash val="solid"/>
          </a:ln>
        </p:spPr>
        <p:txBody>
          <a:bodyPr/>
          <a:lstStyle/>
          <a:p>
            <a:endParaRPr lang="en-US"/>
          </a:p>
        </p:txBody>
      </p:sp>
      <p:sp>
        <p:nvSpPr>
          <p:cNvPr id="11" name="Text 9"/>
          <p:cNvSpPr txBox="1"/>
          <p:nvPr/>
        </p:nvSpPr>
        <p:spPr>
          <a:xfrm>
            <a:off x="3566160" y="2286000"/>
            <a:ext cx="2148840" cy="365760"/>
          </a:xfrm>
          <a:prstGeom prst="rect">
            <a:avLst/>
          </a:prstGeom>
          <a:noFill/>
          <a:ln/>
        </p:spPr>
        <p:txBody>
          <a:bodyPr wrap="square" lIns="0" tIns="0" rIns="0" bIns="0" rtlCol="0" anchor="ctr"/>
          <a:lstStyle/>
          <a:p>
            <a:pPr marL="0" indent="0">
              <a:buNone/>
            </a:pPr>
            <a:r>
              <a:rPr lang="en-US" sz="1400" b="1" dirty="0">
                <a:solidFill>
                  <a:schemeClr val="accent1"/>
                </a:solidFill>
              </a:rPr>
              <a:t>1920–21</a:t>
            </a:r>
            <a:endParaRPr lang="en-US" sz="1400" dirty="0"/>
          </a:p>
        </p:txBody>
      </p:sp>
      <p:sp>
        <p:nvSpPr>
          <p:cNvPr id="12" name="Text 10"/>
          <p:cNvSpPr txBox="1"/>
          <p:nvPr/>
        </p:nvSpPr>
        <p:spPr>
          <a:xfrm>
            <a:off x="3566160" y="2651760"/>
            <a:ext cx="2148840" cy="54864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Zamyatin, We</a:t>
            </a:r>
            <a:endParaRPr lang="en-US" sz="1800" dirty="0"/>
          </a:p>
        </p:txBody>
      </p:sp>
      <p:sp>
        <p:nvSpPr>
          <p:cNvPr id="13" name="Text 11"/>
          <p:cNvSpPr txBox="1"/>
          <p:nvPr/>
        </p:nvSpPr>
        <p:spPr>
          <a:xfrm>
            <a:off x="3566160" y="3246120"/>
            <a:ext cx="2148840" cy="1143000"/>
          </a:xfrm>
          <a:prstGeom prst="rect">
            <a:avLst/>
          </a:prstGeom>
          <a:noFill/>
          <a:ln/>
        </p:spPr>
        <p:txBody>
          <a:bodyPr wrap="square" lIns="0" tIns="0" rIns="0" bIns="0" rtlCol="0" anchor="t"/>
          <a:lstStyle/>
          <a:p>
            <a:pPr marL="0" indent="0">
              <a:buNone/>
            </a:pPr>
            <a:r>
              <a:rPr lang="en-US" sz="1500" dirty="0">
                <a:solidFill>
                  <a:schemeClr val="tx2"/>
                </a:solidFill>
              </a:rPr>
              <a:t>Glass apartments; citizens reduced to numbers</a:t>
            </a:r>
            <a:endParaRPr lang="en-US" sz="1500" dirty="0"/>
          </a:p>
        </p:txBody>
      </p:sp>
      <p:sp>
        <p:nvSpPr>
          <p:cNvPr id="14" name="arrow 1"/>
          <p:cNvSpPr/>
          <p:nvPr/>
        </p:nvSpPr>
        <p:spPr>
          <a:xfrm>
            <a:off x="5961888" y="3154680"/>
            <a:ext cx="201168" cy="320040"/>
          </a:xfrm>
          <a:prstGeom prst="rightArrow">
            <a:avLst/>
          </a:prstGeom>
          <a:solidFill>
            <a:schemeClr val="accent4"/>
          </a:solidFill>
          <a:ln w="12700">
            <a:solidFill>
              <a:schemeClr val="accent4"/>
            </a:solidFill>
            <a:prstDash val="solid"/>
          </a:ln>
        </p:spPr>
        <p:txBody>
          <a:bodyPr/>
          <a:lstStyle/>
          <a:p>
            <a:endParaRPr lang="en-US"/>
          </a:p>
        </p:txBody>
      </p:sp>
      <p:sp>
        <p:nvSpPr>
          <p:cNvPr id="15" name="chain 2"/>
          <p:cNvSpPr/>
          <p:nvPr/>
        </p:nvSpPr>
        <p:spPr>
          <a:xfrm>
            <a:off x="6217920" y="2148840"/>
            <a:ext cx="2514600" cy="2331720"/>
          </a:xfrm>
          <a:prstGeom prst="roundRect">
            <a:avLst>
              <a:gd name="adj" fmla="val 3137"/>
            </a:avLst>
          </a:prstGeom>
          <a:solidFill>
            <a:schemeClr val="bg2"/>
          </a:solidFill>
          <a:ln w="12700">
            <a:solidFill>
              <a:schemeClr val="bg2"/>
            </a:solidFill>
            <a:prstDash val="solid"/>
          </a:ln>
        </p:spPr>
        <p:txBody>
          <a:bodyPr/>
          <a:lstStyle/>
          <a:p>
            <a:endParaRPr lang="en-US"/>
          </a:p>
        </p:txBody>
      </p:sp>
      <p:sp>
        <p:nvSpPr>
          <p:cNvPr id="16" name="Text 14"/>
          <p:cNvSpPr txBox="1"/>
          <p:nvPr/>
        </p:nvSpPr>
        <p:spPr>
          <a:xfrm>
            <a:off x="6400800" y="2286000"/>
            <a:ext cx="2148840" cy="365760"/>
          </a:xfrm>
          <a:prstGeom prst="rect">
            <a:avLst/>
          </a:prstGeom>
          <a:noFill/>
          <a:ln/>
        </p:spPr>
        <p:txBody>
          <a:bodyPr wrap="square" lIns="0" tIns="0" rIns="0" bIns="0" rtlCol="0" anchor="ctr"/>
          <a:lstStyle/>
          <a:p>
            <a:pPr marL="0" indent="0">
              <a:buNone/>
            </a:pPr>
            <a:r>
              <a:rPr lang="en-US" sz="1400" b="1" dirty="0">
                <a:solidFill>
                  <a:schemeClr val="accent1"/>
                </a:solidFill>
              </a:rPr>
              <a:t>1932</a:t>
            </a:r>
            <a:endParaRPr lang="en-US" sz="1400" dirty="0"/>
          </a:p>
        </p:txBody>
      </p:sp>
      <p:sp>
        <p:nvSpPr>
          <p:cNvPr id="17" name="Text 15"/>
          <p:cNvSpPr txBox="1"/>
          <p:nvPr/>
        </p:nvSpPr>
        <p:spPr>
          <a:xfrm>
            <a:off x="6400800" y="2651760"/>
            <a:ext cx="2148840" cy="54864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Huxley, Brave New World</a:t>
            </a:r>
            <a:endParaRPr lang="en-US" sz="1800" dirty="0"/>
          </a:p>
        </p:txBody>
      </p:sp>
      <p:sp>
        <p:nvSpPr>
          <p:cNvPr id="18" name="Text 16"/>
          <p:cNvSpPr txBox="1"/>
          <p:nvPr/>
        </p:nvSpPr>
        <p:spPr>
          <a:xfrm>
            <a:off x="6400800" y="3246120"/>
            <a:ext cx="2148840" cy="1143000"/>
          </a:xfrm>
          <a:prstGeom prst="rect">
            <a:avLst/>
          </a:prstGeom>
          <a:noFill/>
          <a:ln/>
        </p:spPr>
        <p:txBody>
          <a:bodyPr wrap="square" lIns="0" tIns="0" rIns="0" bIns="0" rtlCol="0" anchor="t"/>
          <a:lstStyle/>
          <a:p>
            <a:pPr marL="0" indent="0">
              <a:buNone/>
            </a:pPr>
            <a:r>
              <a:rPr lang="en-US" sz="1500" dirty="0">
                <a:solidFill>
                  <a:schemeClr val="tx2"/>
                </a:solidFill>
              </a:rPr>
              <a:t>Lessons whispered before birth</a:t>
            </a:r>
            <a:endParaRPr lang="en-US" sz="1500" dirty="0"/>
          </a:p>
        </p:txBody>
      </p:sp>
      <p:sp>
        <p:nvSpPr>
          <p:cNvPr id="19" name="arrow 2"/>
          <p:cNvSpPr/>
          <p:nvPr/>
        </p:nvSpPr>
        <p:spPr>
          <a:xfrm>
            <a:off x="8796528" y="3154680"/>
            <a:ext cx="201168" cy="320040"/>
          </a:xfrm>
          <a:prstGeom prst="rightArrow">
            <a:avLst/>
          </a:prstGeom>
          <a:solidFill>
            <a:schemeClr val="accent4"/>
          </a:solidFill>
          <a:ln w="12700">
            <a:solidFill>
              <a:schemeClr val="accent4"/>
            </a:solidFill>
            <a:prstDash val="solid"/>
          </a:ln>
        </p:spPr>
        <p:txBody>
          <a:bodyPr/>
          <a:lstStyle/>
          <a:p>
            <a:endParaRPr lang="en-US"/>
          </a:p>
        </p:txBody>
      </p:sp>
      <p:sp>
        <p:nvSpPr>
          <p:cNvPr id="20" name="chain 3"/>
          <p:cNvSpPr/>
          <p:nvPr/>
        </p:nvSpPr>
        <p:spPr>
          <a:xfrm>
            <a:off x="9052560" y="2148840"/>
            <a:ext cx="2514600" cy="2331720"/>
          </a:xfrm>
          <a:prstGeom prst="roundRect">
            <a:avLst>
              <a:gd name="adj" fmla="val 3137"/>
            </a:avLst>
          </a:prstGeom>
          <a:solidFill>
            <a:schemeClr val="bg2"/>
          </a:solidFill>
          <a:ln w="12700">
            <a:solidFill>
              <a:schemeClr val="bg2"/>
            </a:solidFill>
            <a:prstDash val="solid"/>
          </a:ln>
        </p:spPr>
        <p:txBody>
          <a:bodyPr/>
          <a:lstStyle/>
          <a:p>
            <a:endParaRPr lang="en-US"/>
          </a:p>
        </p:txBody>
      </p:sp>
      <p:sp>
        <p:nvSpPr>
          <p:cNvPr id="21" name="Text 19"/>
          <p:cNvSpPr txBox="1"/>
          <p:nvPr/>
        </p:nvSpPr>
        <p:spPr>
          <a:xfrm>
            <a:off x="9235440" y="2286000"/>
            <a:ext cx="2148840" cy="365760"/>
          </a:xfrm>
          <a:prstGeom prst="rect">
            <a:avLst/>
          </a:prstGeom>
          <a:noFill/>
          <a:ln/>
        </p:spPr>
        <p:txBody>
          <a:bodyPr wrap="square" lIns="0" tIns="0" rIns="0" bIns="0" rtlCol="0" anchor="ctr"/>
          <a:lstStyle/>
          <a:p>
            <a:pPr marL="0" indent="0">
              <a:buNone/>
            </a:pPr>
            <a:r>
              <a:rPr lang="en-US" sz="1400" b="1" dirty="0">
                <a:solidFill>
                  <a:schemeClr val="accent1"/>
                </a:solidFill>
              </a:rPr>
              <a:t>1949</a:t>
            </a:r>
            <a:endParaRPr lang="en-US" sz="1400" dirty="0"/>
          </a:p>
        </p:txBody>
      </p:sp>
      <p:sp>
        <p:nvSpPr>
          <p:cNvPr id="22" name="Text 20"/>
          <p:cNvSpPr txBox="1"/>
          <p:nvPr/>
        </p:nvSpPr>
        <p:spPr>
          <a:xfrm>
            <a:off x="9235440" y="2651760"/>
            <a:ext cx="2148840" cy="54864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Orwell, 1984</a:t>
            </a:r>
            <a:endParaRPr lang="en-US" sz="1800" dirty="0"/>
          </a:p>
        </p:txBody>
      </p:sp>
      <p:sp>
        <p:nvSpPr>
          <p:cNvPr id="23" name="Text 21"/>
          <p:cNvSpPr txBox="1"/>
          <p:nvPr/>
        </p:nvSpPr>
        <p:spPr>
          <a:xfrm>
            <a:off x="9235440" y="3246120"/>
            <a:ext cx="2148840" cy="1143000"/>
          </a:xfrm>
          <a:prstGeom prst="rect">
            <a:avLst/>
          </a:prstGeom>
          <a:noFill/>
          <a:ln/>
        </p:spPr>
        <p:txBody>
          <a:bodyPr wrap="square" lIns="0" tIns="0" rIns="0" bIns="0" rtlCol="0" anchor="t"/>
          <a:lstStyle/>
          <a:p>
            <a:pPr marL="0" indent="0">
              <a:buNone/>
            </a:pPr>
            <a:r>
              <a:rPr lang="en-US" sz="1500" dirty="0">
                <a:solidFill>
                  <a:schemeClr val="tx2"/>
                </a:solidFill>
              </a:rPr>
              <a:t>Our next tale</a:t>
            </a:r>
            <a:endParaRPr lang="en-US" sz="1500" dirty="0"/>
          </a:p>
        </p:txBody>
      </p:sp>
      <p:sp>
        <p:nvSpPr>
          <p:cNvPr id="24" name="Text 22"/>
          <p:cNvSpPr txBox="1"/>
          <p:nvPr/>
        </p:nvSpPr>
        <p:spPr>
          <a:xfrm>
            <a:off x="548640" y="4800600"/>
            <a:ext cx="11064240" cy="411480"/>
          </a:xfrm>
          <a:prstGeom prst="rect">
            <a:avLst/>
          </a:prstGeom>
          <a:noFill/>
          <a:ln/>
        </p:spPr>
        <p:txBody>
          <a:bodyPr wrap="square" lIns="0" tIns="0" rIns="0" bIns="0" rtlCol="0" anchor="ctr"/>
          <a:lstStyle/>
          <a:p>
            <a:pPr marL="0" indent="0">
              <a:buNone/>
            </a:pPr>
            <a:r>
              <a:rPr lang="en-US" sz="2000" b="1" dirty="0">
                <a:solidFill>
                  <a:schemeClr val="accent1"/>
                </a:solidFill>
                <a:latin typeface="Cambria" pitchFamily="34" charset="0"/>
                <a:ea typeface="Cambria" pitchFamily="34" charset="-122"/>
                <a:cs typeface="Cambria" pitchFamily="34" charset="-120"/>
              </a:rPr>
              <a:t>The violent line: from ideas to terror</a:t>
            </a:r>
            <a:endParaRPr lang="en-US" sz="2000" dirty="0"/>
          </a:p>
        </p:txBody>
      </p:sp>
      <p:sp>
        <p:nvSpPr>
          <p:cNvPr id="25" name="Text 23"/>
          <p:cNvSpPr txBox="1"/>
          <p:nvPr/>
        </p:nvSpPr>
        <p:spPr>
          <a:xfrm>
            <a:off x="548640" y="5349240"/>
            <a:ext cx="868680" cy="822960"/>
          </a:xfrm>
          <a:prstGeom prst="rect">
            <a:avLst/>
          </a:prstGeom>
          <a:noFill/>
          <a:ln/>
        </p:spPr>
        <p:txBody>
          <a:bodyPr wrap="square" lIns="0" tIns="0" rIns="0" bIns="0" rtlCol="0" anchor="t"/>
          <a:lstStyle/>
          <a:p>
            <a:pPr marL="0" indent="0">
              <a:buNone/>
            </a:pPr>
            <a:r>
              <a:rPr lang="en-US" sz="2400" b="1" dirty="0">
                <a:solidFill>
                  <a:schemeClr val="tx1"/>
                </a:solidFill>
                <a:latin typeface="Cambria" pitchFamily="34" charset="0"/>
                <a:ea typeface="Cambria" pitchFamily="34" charset="-122"/>
                <a:cs typeface="Cambria" pitchFamily="34" charset="-120"/>
              </a:rPr>
              <a:t>1866</a:t>
            </a:r>
            <a:endParaRPr lang="en-US" sz="2400" dirty="0"/>
          </a:p>
        </p:txBody>
      </p:sp>
      <p:sp>
        <p:nvSpPr>
          <p:cNvPr id="26" name="Text 24"/>
          <p:cNvSpPr txBox="1"/>
          <p:nvPr/>
        </p:nvSpPr>
        <p:spPr>
          <a:xfrm>
            <a:off x="1508760" y="5349240"/>
            <a:ext cx="2606040" cy="914400"/>
          </a:xfrm>
          <a:prstGeom prst="rect">
            <a:avLst/>
          </a:prstGeom>
          <a:noFill/>
          <a:ln/>
        </p:spPr>
        <p:txBody>
          <a:bodyPr wrap="square" lIns="0" tIns="0" rIns="0" bIns="0" rtlCol="0" anchor="t"/>
          <a:lstStyle/>
          <a:p>
            <a:pPr marL="0" indent="0">
              <a:buNone/>
            </a:pPr>
            <a:r>
              <a:rPr lang="en-US" sz="1600" dirty="0">
                <a:solidFill>
                  <a:schemeClr val="tx2"/>
                </a:solidFill>
              </a:rPr>
              <a:t>Karakozov, influenced by Chernyshevsky's novel, tries to kill the Tsar</a:t>
            </a:r>
            <a:endParaRPr lang="en-US" sz="1600" dirty="0"/>
          </a:p>
        </p:txBody>
      </p:sp>
      <p:sp>
        <p:nvSpPr>
          <p:cNvPr id="27" name="Text 25"/>
          <p:cNvSpPr txBox="1"/>
          <p:nvPr/>
        </p:nvSpPr>
        <p:spPr>
          <a:xfrm>
            <a:off x="4297680" y="5349240"/>
            <a:ext cx="868680" cy="822960"/>
          </a:xfrm>
          <a:prstGeom prst="rect">
            <a:avLst/>
          </a:prstGeom>
          <a:noFill/>
          <a:ln/>
        </p:spPr>
        <p:txBody>
          <a:bodyPr wrap="square" lIns="0" tIns="0" rIns="0" bIns="0" rtlCol="0" anchor="t"/>
          <a:lstStyle/>
          <a:p>
            <a:pPr marL="0" indent="0">
              <a:buNone/>
            </a:pPr>
            <a:r>
              <a:rPr lang="en-US" sz="2400" b="1" dirty="0">
                <a:solidFill>
                  <a:schemeClr val="tx1"/>
                </a:solidFill>
                <a:latin typeface="Cambria" pitchFamily="34" charset="0"/>
                <a:ea typeface="Cambria" pitchFamily="34" charset="-122"/>
                <a:cs typeface="Cambria" pitchFamily="34" charset="-120"/>
              </a:rPr>
              <a:t>1872</a:t>
            </a:r>
            <a:endParaRPr lang="en-US" sz="2400" dirty="0"/>
          </a:p>
        </p:txBody>
      </p:sp>
      <p:sp>
        <p:nvSpPr>
          <p:cNvPr id="28" name="Text 26"/>
          <p:cNvSpPr txBox="1"/>
          <p:nvPr/>
        </p:nvSpPr>
        <p:spPr>
          <a:xfrm>
            <a:off x="5257800" y="5349240"/>
            <a:ext cx="2606040" cy="914400"/>
          </a:xfrm>
          <a:prstGeom prst="rect">
            <a:avLst/>
          </a:prstGeom>
          <a:noFill/>
          <a:ln/>
        </p:spPr>
        <p:txBody>
          <a:bodyPr wrap="square" lIns="0" tIns="0" rIns="0" bIns="0" rtlCol="0" anchor="t"/>
          <a:lstStyle/>
          <a:p>
            <a:pPr marL="0" indent="0">
              <a:buNone/>
            </a:pPr>
            <a:r>
              <a:rPr lang="en-US" sz="1600" dirty="0">
                <a:solidFill>
                  <a:schemeClr val="tx2"/>
                </a:solidFill>
              </a:rPr>
              <a:t>Dostoevsky's Demons depicts nihilism turning into terror</a:t>
            </a:r>
            <a:endParaRPr lang="en-US" sz="1600" dirty="0"/>
          </a:p>
        </p:txBody>
      </p:sp>
      <p:sp>
        <p:nvSpPr>
          <p:cNvPr id="29" name="Text 27"/>
          <p:cNvSpPr txBox="1"/>
          <p:nvPr/>
        </p:nvSpPr>
        <p:spPr>
          <a:xfrm>
            <a:off x="8046720" y="5349240"/>
            <a:ext cx="868680" cy="822960"/>
          </a:xfrm>
          <a:prstGeom prst="rect">
            <a:avLst/>
          </a:prstGeom>
          <a:noFill/>
          <a:ln/>
        </p:spPr>
        <p:txBody>
          <a:bodyPr wrap="square" lIns="0" tIns="0" rIns="0" bIns="0" rtlCol="0" anchor="t"/>
          <a:lstStyle/>
          <a:p>
            <a:pPr marL="0" indent="0">
              <a:buNone/>
            </a:pPr>
            <a:r>
              <a:rPr lang="en-US" sz="2400" b="1" dirty="0">
                <a:solidFill>
                  <a:schemeClr val="tx1"/>
                </a:solidFill>
                <a:latin typeface="Cambria" pitchFamily="34" charset="0"/>
                <a:ea typeface="Cambria" pitchFamily="34" charset="-122"/>
                <a:cs typeface="Cambria" pitchFamily="34" charset="-120"/>
              </a:rPr>
              <a:t>1881</a:t>
            </a:r>
            <a:endParaRPr lang="en-US" sz="2400" dirty="0"/>
          </a:p>
        </p:txBody>
      </p:sp>
      <p:sp>
        <p:nvSpPr>
          <p:cNvPr id="30" name="Text 28"/>
          <p:cNvSpPr txBox="1"/>
          <p:nvPr/>
        </p:nvSpPr>
        <p:spPr>
          <a:xfrm>
            <a:off x="9006840" y="5349240"/>
            <a:ext cx="2606040" cy="914400"/>
          </a:xfrm>
          <a:prstGeom prst="rect">
            <a:avLst/>
          </a:prstGeom>
          <a:noFill/>
          <a:ln/>
        </p:spPr>
        <p:txBody>
          <a:bodyPr wrap="square" lIns="0" tIns="0" rIns="0" bIns="0" rtlCol="0" anchor="t"/>
          <a:lstStyle/>
          <a:p>
            <a:pPr marL="0" indent="0">
              <a:buNone/>
            </a:pPr>
            <a:r>
              <a:rPr lang="en-US" sz="1600" dirty="0">
                <a:solidFill>
                  <a:schemeClr val="tx2"/>
                </a:solidFill>
              </a:rPr>
              <a:t>People's Will assassinates Alexander II</a:t>
            </a:r>
            <a:endParaRPr lang="en-US" sz="1600" dirty="0"/>
          </a:p>
        </p:txBody>
      </p:sp>
      <p:sp>
        <p:nvSpPr>
          <p:cNvPr id="31"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731520"/>
            <a:ext cx="10698480" cy="457200"/>
          </a:xfrm>
          <a:prstGeom prst="rect">
            <a:avLst/>
          </a:prstGeom>
          <a:noFill/>
          <a:ln/>
        </p:spPr>
        <p:txBody>
          <a:bodyPr wrap="square" rtlCol="0"/>
          <a:lstStyle/>
          <a:p>
            <a:pPr marL="0" indent="0">
              <a:buNone/>
            </a:pPr>
            <a:r>
              <a:rPr lang="en-US" sz="1600" b="1" kern="0" spc="300" dirty="0">
                <a:solidFill>
                  <a:schemeClr val="accent2"/>
                </a:solidFill>
                <a:latin typeface="Calibri" pitchFamily="34" charset="0"/>
                <a:ea typeface="Calibri" pitchFamily="34" charset="-122"/>
                <a:cs typeface="Calibri" pitchFamily="34" charset="-120"/>
              </a:rPr>
              <a:t>CLIP 1 · BEFORE THE DIALOGUE</a:t>
            </a:r>
            <a:endParaRPr lang="en-US" sz="1600" dirty="0"/>
          </a:p>
        </p:txBody>
      </p:sp>
      <p:sp>
        <p:nvSpPr>
          <p:cNvPr id="3" name="Text 0"/>
          <p:cNvSpPr>
            <a:spLocks noGrp="1"/>
          </p:cNvSpPr>
          <p:nvPr>
            <p:ph type="title" idx="101" hasCustomPrompt="1"/>
          </p:nvPr>
        </p:nvSpPr>
        <p:spPr>
          <a:xfrm>
            <a:off x="731520" y="1188720"/>
            <a:ext cx="10698480" cy="914400"/>
          </a:xfrm>
          <a:prstGeom prst="rect">
            <a:avLst/>
          </a:prstGeom>
          <a:noFill/>
          <a:ln/>
        </p:spPr>
        <p:txBody>
          <a:bodyPr wrap="square" rtlCol="0" anchor="t"/>
          <a:lstStyle/>
          <a:p>
            <a:pPr marL="0" indent="0" algn="l">
              <a:buNone/>
            </a:pPr>
            <a:r>
              <a:rPr lang="en-US" sz="4000" b="1" dirty="0">
                <a:solidFill>
                  <a:schemeClr val="bg1"/>
                </a:solidFill>
                <a:latin typeface="Cambria" pitchFamily="34" charset="0"/>
                <a:ea typeface="Cambria" pitchFamily="34" charset="-122"/>
                <a:cs typeface="Cambria" pitchFamily="34" charset="-120"/>
              </a:rPr>
              <a:t>Larry Cedar as the Underground Man</a:t>
            </a:r>
            <a:endParaRPr lang="en-US" sz="4000" dirty="0"/>
          </a:p>
        </p:txBody>
      </p:sp>
      <p:sp>
        <p:nvSpPr>
          <p:cNvPr id="4" name="play clip 1 circle"/>
          <p:cNvSpPr/>
          <p:nvPr/>
        </p:nvSpPr>
        <p:spPr>
          <a:xfrm>
            <a:off x="731520" y="2514600"/>
            <a:ext cx="1463040" cy="1463040"/>
          </a:xfrm>
          <a:prstGeom prst="ellipse">
            <a:avLst/>
          </a:prstGeom>
          <a:solidFill>
            <a:schemeClr val="accent1"/>
          </a:solidFill>
          <a:ln w="12700">
            <a:solidFill>
              <a:schemeClr val="accent1"/>
            </a:solidFill>
            <a:prstDash val="solid"/>
          </a:ln>
        </p:spPr>
        <p:txBody>
          <a:bodyPr/>
          <a:lstStyle/>
          <a:p>
            <a:endParaRPr lang="en-US"/>
          </a:p>
        </p:txBody>
      </p:sp>
      <p:pic>
        <p:nvPicPr>
          <p:cNvPr id="5" name="play clip 1 icon" descr="play clip 1"/>
          <p:cNvPicPr>
            <a:picLocks noChangeAspect="1"/>
          </p:cNvPicPr>
          <p:nvPr/>
        </p:nvPicPr>
        <p:blipFill>
          <a:blip r:embed="rId3"/>
          <a:stretch>
            <a:fillRect/>
          </a:stretch>
        </p:blipFill>
        <p:spPr>
          <a:xfrm>
            <a:off x="1053389" y="2836469"/>
            <a:ext cx="819302" cy="819302"/>
          </a:xfrm>
          <a:prstGeom prst="rect">
            <a:avLst/>
          </a:prstGeom>
        </p:spPr>
      </p:pic>
      <p:sp>
        <p:nvSpPr>
          <p:cNvPr id="6" name="Text 3"/>
          <p:cNvSpPr txBox="1"/>
          <p:nvPr/>
        </p:nvSpPr>
        <p:spPr>
          <a:xfrm>
            <a:off x="2560320" y="2377440"/>
            <a:ext cx="8869680" cy="1828800"/>
          </a:xfrm>
          <a:prstGeom prst="rect">
            <a:avLst/>
          </a:prstGeom>
          <a:noFill/>
          <a:ln/>
        </p:spPr>
        <p:txBody>
          <a:bodyPr wrap="square" lIns="0" tIns="0" rIns="0" bIns="0" rtlCol="0" anchor="ctr"/>
          <a:lstStyle/>
          <a:p>
            <a:pPr marL="0" indent="0">
              <a:buNone/>
            </a:pPr>
            <a:r>
              <a:rPr lang="en-US" sz="3000" i="1" dirty="0">
                <a:solidFill>
                  <a:schemeClr val="bg1"/>
                </a:solidFill>
                <a:latin typeface="Cambria" pitchFamily="34" charset="0"/>
                <a:ea typeface="Cambria" pitchFamily="34" charset="-122"/>
                <a:cs typeface="Cambria" pitchFamily="34" charset="-120"/>
              </a:rPr>
              <a:t>"I am a sick man.... I am a spiteful man."</a:t>
            </a:r>
            <a:endParaRPr lang="en-US" sz="3000" dirty="0"/>
          </a:p>
          <a:p>
            <a:pPr marL="0" indent="0">
              <a:buNone/>
            </a:pPr>
            <a:r>
              <a:rPr lang="en-US" sz="1000" dirty="0">
                <a:solidFill>
                  <a:srgbClr val="000000"/>
                </a:solidFill>
              </a:rPr>
              <a:t> </a:t>
            </a:r>
            <a:endParaRPr lang="en-US" sz="3000" dirty="0"/>
          </a:p>
          <a:p>
            <a:pPr marL="0" indent="0">
              <a:buNone/>
            </a:pPr>
            <a:r>
              <a:rPr lang="en-US" sz="2200" b="1" u="sng" dirty="0">
                <a:solidFill>
                  <a:schemeClr val="accent2"/>
                </a:solidFill>
                <a:hlinkClick r:id="rId4">
                  <a:extLst>
                    <a:ext uri="{A12FA001-AC4F-418D-AE19-62706E023703}">
                      <ahyp:hlinkClr xmlns:ahyp="http://schemas.microsoft.com/office/drawing/2018/hyperlinkcolor" val="tx"/>
                    </a:ext>
                  </a:extLst>
                </a:hlinkClick>
              </a:rPr>
              <a:t>Watch from 1:30</a:t>
            </a:r>
            <a:endParaRPr lang="en-US" sz="3000" dirty="0"/>
          </a:p>
        </p:txBody>
      </p:sp>
      <p:sp>
        <p:nvSpPr>
          <p:cNvPr id="7" name="Text 4"/>
          <p:cNvSpPr txBox="1"/>
          <p:nvPr/>
        </p:nvSpPr>
        <p:spPr>
          <a:xfrm>
            <a:off x="731520" y="5943600"/>
            <a:ext cx="10515600" cy="365760"/>
          </a:xfrm>
          <a:prstGeom prst="rect">
            <a:avLst/>
          </a:prstGeom>
          <a:noFill/>
          <a:ln/>
        </p:spPr>
        <p:txBody>
          <a:bodyPr wrap="square" lIns="0" tIns="0" rIns="0" bIns="0" rtlCol="0" anchor="ctr"/>
          <a:lstStyle/>
          <a:p>
            <a:pPr marL="0" indent="0">
              <a:buNone/>
            </a:pPr>
            <a:r>
              <a:rPr lang="en-US" sz="1200" dirty="0">
                <a:solidFill>
                  <a:schemeClr val="accent5"/>
                </a:solidFill>
              </a:rPr>
              <a:t>Notes from Underground, one-man show, Garnett translation · youtube.com/watch?v=asp5tqDql0g</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DIALOGUE · PART 1 OF 3 · READERS: RUTH AND DEV</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Not the Keys of a Piano</a:t>
            </a:r>
            <a:endParaRPr lang="en-US" sz="3400" dirty="0"/>
          </a:p>
        </p:txBody>
      </p:sp>
      <p:sp>
        <p:nvSpPr>
          <p:cNvPr id="4" name="dialogue text"/>
          <p:cNvSpPr txBox="1"/>
          <p:nvPr/>
        </p:nvSpPr>
        <p:spPr>
          <a:xfrm>
            <a:off x="548640" y="1554480"/>
            <a:ext cx="11064240" cy="4754880"/>
          </a:xfrm>
          <a:prstGeom prst="rect">
            <a:avLst/>
          </a:prstGeom>
          <a:noFill/>
          <a:ln/>
        </p:spPr>
        <p:txBody>
          <a:bodyPr wrap="square" lIns="0" tIns="0" rIns="0" bIns="0" rtlCol="0" anchor="t"/>
          <a:lstStyle/>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"I am a sick man. I am a spiteful man." That's how Dostoevsky's Notes from Underground begins.</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Not exactly a warm welcome.</a:t>
            </a:r>
            <a:endParaRPr lang="en-US" sz="1900" dirty="0"/>
          </a:p>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He doesn't want one. He's a retired clerk who has spent forty years in his corner, and he tells us that to be too conscious is an illness.</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An illness? Most of us think knowing ourselves is the cure.</a:t>
            </a:r>
            <a:endParaRPr lang="en-US" sz="1900" dirty="0"/>
          </a:p>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Not for him. He sees through every motive, including his own, so he can't become anything. Not spiteful, not kind, not a hero, not even an insect.</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So what's he arguing against?</a:t>
            </a:r>
            <a:endParaRPr lang="en-US" sz="1900" dirty="0"/>
          </a:p>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The confident people who say we only do nasty things because we don't know our own interests. Show us our real advantage, they say, and we'll be good out of sheer necessity.</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That sounds reasonable.</a:t>
            </a:r>
            <a:endParaRPr lang="en-US" sz="19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DIALOGUE · PART 2 OF 3 · READERS: RUTH AND DEV</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Not the Keys of a Piano</a:t>
            </a:r>
            <a:endParaRPr lang="en-US" sz="3400" dirty="0"/>
          </a:p>
        </p:txBody>
      </p:sp>
      <p:sp>
        <p:nvSpPr>
          <p:cNvPr id="4" name="dialogue text"/>
          <p:cNvSpPr txBox="1"/>
          <p:nvPr/>
        </p:nvSpPr>
        <p:spPr>
          <a:xfrm>
            <a:off x="548640" y="1554480"/>
            <a:ext cx="11064240" cy="4754880"/>
          </a:xfrm>
          <a:prstGeom prst="rect">
            <a:avLst/>
          </a:prstGeom>
          <a:noFill/>
          <a:ln/>
        </p:spPr>
        <p:txBody>
          <a:bodyPr wrap="square" lIns="0" tIns="0" rIns="0" bIns="0" rtlCol="0" anchor="t"/>
          <a:lstStyle/>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That's exactly his target. He says what a person wants is simply independent choice, whatever that independence may cost and wherever it may lead.</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Even if the choice is stupid?</a:t>
            </a:r>
            <a:endParaRPr lang="en-US" sz="1900" dirty="0"/>
          </a:p>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Especially then. A man may choose something stupid just to keep the right to choose it. Otherwise, he says, we'd be nothing but the keys of a piano.</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Press the key, and the note sounds.</a:t>
            </a:r>
            <a:endParaRPr lang="en-US" sz="1900" dirty="0"/>
          </a:p>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And he asks the reformers a question: how do you know it's even desirable to reform people that way?</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But he's hardly a hero of freedom.</a:t>
            </a:r>
            <a:endParaRPr lang="en-US" sz="1900" dirty="0"/>
          </a:p>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No, and the second half shows it. He meets Liza, a young woman in a brothel, and gives her a moving speech about the life she could still have. He gives her his address.</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And she comes.</a:t>
            </a:r>
            <a:endParaRPr lang="en-US" sz="19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DIALOGUE · PART 3 OF 3 · READERS: RUTH AND DEV</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Not the Keys of a Piano</a:t>
            </a:r>
            <a:endParaRPr lang="en-US" sz="3400" dirty="0"/>
          </a:p>
        </p:txBody>
      </p:sp>
      <p:sp>
        <p:nvSpPr>
          <p:cNvPr id="4" name="dialogue text"/>
          <p:cNvSpPr txBox="1"/>
          <p:nvPr/>
        </p:nvSpPr>
        <p:spPr>
          <a:xfrm>
            <a:off x="548640" y="1554480"/>
            <a:ext cx="11064240" cy="4754880"/>
          </a:xfrm>
          <a:prstGeom prst="rect">
            <a:avLst/>
          </a:prstGeom>
          <a:noFill/>
          <a:ln/>
        </p:spPr>
        <p:txBody>
          <a:bodyPr wrap="square" lIns="0" tIns="0" rIns="0" bIns="0" rtlCol="0" anchor="t"/>
          <a:lstStyle/>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She does. And he turns on her. He tells her it was all a game, that power was what he wanted. Then he breaks down and says, "I can't be good."</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So he can stand up to the reformers, but he can't accept one person's kindness.</a:t>
            </a:r>
            <a:endParaRPr lang="en-US" sz="1900" dirty="0"/>
          </a:p>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He even admits that, for him, loving meant showing his moral superiority.</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And how does he leave us?</a:t>
            </a:r>
            <a:endParaRPr lang="en-US" sz="1900" dirty="0"/>
          </a:p>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He turns the mirror on us. Give any one of us a little more independence, he says, relax the control, and we'd be begging to be under control again at once.</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That's chilling.</a:t>
            </a:r>
            <a:endParaRPr lang="en-US" sz="1900" dirty="0"/>
          </a:p>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It's why this is a good place to start thinking about defiance and control. He sees the danger of being managed for our own good. But he also suspects we might want it.</a:t>
            </a:r>
            <a:endParaRPr lang="en-US" sz="1900" dirty="0"/>
          </a:p>
          <a:p>
            <a:pPr marL="0" indent="0">
              <a:lnSpc>
                <a:spcPct val="100000"/>
              </a:lnSpc>
              <a:spcAft>
                <a:spcPts val="900"/>
              </a:spcAft>
              <a:buNone/>
            </a:pPr>
            <a:r>
              <a:rPr lang="en-US" sz="1500" b="1" kern="0" spc="100" dirty="0">
                <a:solidFill>
                  <a:schemeClr val="accent3"/>
                </a:solidFill>
              </a:rPr>
              <a:t>DEV   </a:t>
            </a:r>
            <a:r>
              <a:rPr lang="en-US" sz="1900" dirty="0">
                <a:solidFill>
                  <a:schemeClr val="tx1"/>
                </a:solidFill>
              </a:rPr>
              <a:t>Then the question is whether we can choose freely without ending up alone in his corner.</a:t>
            </a:r>
            <a:endParaRPr lang="en-US" sz="1900" dirty="0"/>
          </a:p>
          <a:p>
            <a:pPr marL="0" indent="0">
              <a:lnSpc>
                <a:spcPct val="100000"/>
              </a:lnSpc>
              <a:spcAft>
                <a:spcPts val="900"/>
              </a:spcAft>
              <a:buNone/>
            </a:pPr>
            <a:r>
              <a:rPr lang="en-US" sz="1500" b="1" kern="0" spc="100" dirty="0">
                <a:solidFill>
                  <a:schemeClr val="accent1"/>
                </a:solidFill>
              </a:rPr>
              <a:t>RUTH   </a:t>
            </a:r>
            <a:r>
              <a:rPr lang="en-US" sz="1900" dirty="0">
                <a:solidFill>
                  <a:schemeClr val="tx1"/>
                </a:solidFill>
              </a:rPr>
              <a:t>Or whether we'd even notice we'd stopped choosing.</a:t>
            </a:r>
            <a:endParaRPr lang="en-US" sz="19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731520"/>
            <a:ext cx="10698480" cy="457200"/>
          </a:xfrm>
          <a:prstGeom prst="rect">
            <a:avLst/>
          </a:prstGeom>
          <a:noFill/>
          <a:ln/>
        </p:spPr>
        <p:txBody>
          <a:bodyPr wrap="square" rtlCol="0"/>
          <a:lstStyle/>
          <a:p>
            <a:pPr marL="0" indent="0">
              <a:buNone/>
            </a:pPr>
            <a:r>
              <a:rPr lang="en-US" sz="1600" b="1" kern="0" spc="300" dirty="0">
                <a:solidFill>
                  <a:schemeClr val="accent2"/>
                </a:solidFill>
                <a:latin typeface="Calibri" pitchFamily="34" charset="0"/>
                <a:ea typeface="Calibri" pitchFamily="34" charset="-122"/>
                <a:cs typeface="Calibri" pitchFamily="34" charset="-120"/>
              </a:rPr>
              <a:t>CLIP 2 · AFTER THE DIALOGUE</a:t>
            </a:r>
            <a:endParaRPr lang="en-US" sz="1600" dirty="0"/>
          </a:p>
        </p:txBody>
      </p:sp>
      <p:sp>
        <p:nvSpPr>
          <p:cNvPr id="3" name="Text 0"/>
          <p:cNvSpPr>
            <a:spLocks noGrp="1"/>
          </p:cNvSpPr>
          <p:nvPr>
            <p:ph type="title" idx="101" hasCustomPrompt="1"/>
          </p:nvPr>
        </p:nvSpPr>
        <p:spPr>
          <a:xfrm>
            <a:off x="731520" y="1188720"/>
            <a:ext cx="10698480" cy="914400"/>
          </a:xfrm>
          <a:prstGeom prst="rect">
            <a:avLst/>
          </a:prstGeom>
          <a:noFill/>
          <a:ln/>
        </p:spPr>
        <p:txBody>
          <a:bodyPr wrap="square" rtlCol="0" anchor="t"/>
          <a:lstStyle/>
          <a:p>
            <a:pPr marL="0" indent="0" algn="l">
              <a:buNone/>
            </a:pPr>
            <a:r>
              <a:rPr lang="en-US" sz="4000" b="1" dirty="0">
                <a:solidFill>
                  <a:schemeClr val="bg1"/>
                </a:solidFill>
                <a:latin typeface="Cambria" pitchFamily="34" charset="0"/>
                <a:ea typeface="Cambria" pitchFamily="34" charset="-122"/>
                <a:cs typeface="Cambria" pitchFamily="34" charset="-120"/>
              </a:rPr>
              <a:t>How he leaves us</a:t>
            </a:r>
            <a:endParaRPr lang="en-US" sz="4000" dirty="0"/>
          </a:p>
        </p:txBody>
      </p:sp>
      <p:sp>
        <p:nvSpPr>
          <p:cNvPr id="4" name="mirror clip 2 circle"/>
          <p:cNvSpPr/>
          <p:nvPr/>
        </p:nvSpPr>
        <p:spPr>
          <a:xfrm>
            <a:off x="731520" y="2514600"/>
            <a:ext cx="1463040" cy="1463040"/>
          </a:xfrm>
          <a:prstGeom prst="ellipse">
            <a:avLst/>
          </a:prstGeom>
          <a:solidFill>
            <a:schemeClr val="accent1"/>
          </a:solidFill>
          <a:ln w="12700">
            <a:solidFill>
              <a:schemeClr val="accent1"/>
            </a:solidFill>
            <a:prstDash val="solid"/>
          </a:ln>
        </p:spPr>
        <p:txBody>
          <a:bodyPr/>
          <a:lstStyle/>
          <a:p>
            <a:endParaRPr lang="en-US"/>
          </a:p>
        </p:txBody>
      </p:sp>
      <p:pic>
        <p:nvPicPr>
          <p:cNvPr id="5" name="mirror clip 2 icon" descr="mirror clip 2"/>
          <p:cNvPicPr>
            <a:picLocks noChangeAspect="1"/>
          </p:cNvPicPr>
          <p:nvPr/>
        </p:nvPicPr>
        <p:blipFill>
          <a:blip r:embed="rId3"/>
          <a:stretch>
            <a:fillRect/>
          </a:stretch>
        </p:blipFill>
        <p:spPr>
          <a:xfrm>
            <a:off x="1053389" y="2836469"/>
            <a:ext cx="819302" cy="819302"/>
          </a:xfrm>
          <a:prstGeom prst="rect">
            <a:avLst/>
          </a:prstGeom>
        </p:spPr>
      </p:pic>
      <p:sp>
        <p:nvSpPr>
          <p:cNvPr id="6" name="Text 3"/>
          <p:cNvSpPr txBox="1"/>
          <p:nvPr/>
        </p:nvSpPr>
        <p:spPr>
          <a:xfrm>
            <a:off x="2560320" y="2194560"/>
            <a:ext cx="8869680" cy="2377440"/>
          </a:xfrm>
          <a:prstGeom prst="rect">
            <a:avLst/>
          </a:prstGeom>
          <a:noFill/>
          <a:ln/>
        </p:spPr>
        <p:txBody>
          <a:bodyPr wrap="square" lIns="0" tIns="0" rIns="0" bIns="0" rtlCol="0" anchor="ctr"/>
          <a:lstStyle/>
          <a:p>
            <a:pPr marL="0" indent="0">
              <a:buNone/>
            </a:pPr>
            <a:r>
              <a:rPr lang="en-US" sz="2800" i="1" dirty="0">
                <a:solidFill>
                  <a:schemeClr val="bg1"/>
                </a:solidFill>
                <a:latin typeface="Cambria" pitchFamily="34" charset="0"/>
                <a:ea typeface="Cambria" pitchFamily="34" charset="-122"/>
                <a:cs typeface="Cambria" pitchFamily="34" charset="-120"/>
              </a:rPr>
              <a:t>Give us a little more independence, relax the control, and we'd be begging to be under control again at once.</a:t>
            </a:r>
            <a:endParaRPr lang="en-US" sz="2800" dirty="0"/>
          </a:p>
          <a:p>
            <a:pPr marL="0" indent="0">
              <a:buNone/>
            </a:pPr>
            <a:r>
              <a:rPr lang="en-US" sz="1000" dirty="0">
                <a:solidFill>
                  <a:srgbClr val="000000"/>
                </a:solidFill>
              </a:rPr>
              <a:t> </a:t>
            </a:r>
            <a:endParaRPr lang="en-US" sz="2800" dirty="0"/>
          </a:p>
          <a:p>
            <a:pPr marL="0" indent="0">
              <a:buNone/>
            </a:pPr>
            <a:r>
              <a:rPr lang="en-US" sz="2200" b="1" u="sng" dirty="0">
                <a:solidFill>
                  <a:schemeClr val="accent2"/>
                </a:solidFill>
                <a:hlinkClick r:id="rId4">
                  <a:extLst>
                    <a:ext uri="{A12FA001-AC4F-418D-AE19-62706E023703}">
                      <ahyp:hlinkClr xmlns:ahyp="http://schemas.microsoft.com/office/drawing/2018/hyperlinkcolor" val="tx"/>
                    </a:ext>
                  </a:extLst>
                </a:hlinkClick>
              </a:rPr>
              <a:t>Watch from 1:29:45</a:t>
            </a:r>
            <a:endParaRPr lang="en-US" sz="2800" dirty="0"/>
          </a:p>
        </p:txBody>
      </p:sp>
      <p:sp>
        <p:nvSpPr>
          <p:cNvPr id="7" name="Text 4"/>
          <p:cNvSpPr txBox="1"/>
          <p:nvPr/>
        </p:nvSpPr>
        <p:spPr>
          <a:xfrm>
            <a:off x="731520" y="5943600"/>
            <a:ext cx="10515600" cy="365760"/>
          </a:xfrm>
          <a:prstGeom prst="rect">
            <a:avLst/>
          </a:prstGeom>
          <a:noFill/>
          <a:ln/>
        </p:spPr>
        <p:txBody>
          <a:bodyPr wrap="square" lIns="0" tIns="0" rIns="0" bIns="0" rtlCol="0" anchor="ctr"/>
          <a:lstStyle/>
          <a:p>
            <a:pPr marL="0" indent="0">
              <a:buNone/>
            </a:pPr>
            <a:r>
              <a:rPr lang="en-US" sz="1200" dirty="0">
                <a:solidFill>
                  <a:schemeClr val="accent5"/>
                </a:solidFill>
              </a:rPr>
              <a:t>Ruth's paraphrase of the closing pages, from the dialogue</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QUESTIONS · FROM THE HOMEWORK</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Concrete questions about the Underground Man</a:t>
            </a:r>
            <a:endParaRPr lang="en-US" sz="3400" dirty="0"/>
          </a:p>
        </p:txBody>
      </p:sp>
      <p:sp>
        <p:nvSpPr>
          <p:cNvPr id="4" name="question 1"/>
          <p:cNvSpPr/>
          <p:nvPr/>
        </p:nvSpPr>
        <p:spPr>
          <a:xfrm>
            <a:off x="548640" y="1691640"/>
            <a:ext cx="5440680" cy="1874520"/>
          </a:xfrm>
          <a:prstGeom prst="roundRect">
            <a:avLst>
              <a:gd name="adj" fmla="val 3902"/>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822960" y="1920240"/>
            <a:ext cx="914400" cy="1417320"/>
          </a:xfrm>
          <a:prstGeom prst="rect">
            <a:avLst/>
          </a:prstGeom>
          <a:noFill/>
          <a:ln/>
        </p:spPr>
        <p:txBody>
          <a:bodyPr wrap="square" lIns="0" tIns="0" rIns="0" bIns="0" rtlCol="0" anchor="ctr"/>
          <a:lstStyle/>
          <a:p>
            <a:pPr marL="0" indent="0">
              <a:buNone/>
            </a:pPr>
            <a:r>
              <a:rPr lang="en-US" sz="6000" b="1" dirty="0">
                <a:solidFill>
                  <a:schemeClr val="accent1"/>
                </a:solidFill>
                <a:latin typeface="Cambria" pitchFamily="34" charset="0"/>
                <a:ea typeface="Cambria" pitchFamily="34" charset="-122"/>
                <a:cs typeface="Cambria" pitchFamily="34" charset="-120"/>
              </a:rPr>
              <a:t>1</a:t>
            </a:r>
            <a:endParaRPr lang="en-US" sz="6000" dirty="0"/>
          </a:p>
        </p:txBody>
      </p:sp>
      <p:sp>
        <p:nvSpPr>
          <p:cNvPr id="6" name="Text 4"/>
          <p:cNvSpPr txBox="1"/>
          <p:nvPr/>
        </p:nvSpPr>
        <p:spPr>
          <a:xfrm>
            <a:off x="1828800" y="1920240"/>
            <a:ext cx="3931920" cy="1417320"/>
          </a:xfrm>
          <a:prstGeom prst="rect">
            <a:avLst/>
          </a:prstGeom>
          <a:noFill/>
          <a:ln/>
        </p:spPr>
        <p:txBody>
          <a:bodyPr wrap="square" lIns="0" tIns="0" rIns="0" bIns="0" rtlCol="0" anchor="ctr"/>
          <a:lstStyle/>
          <a:p>
            <a:pPr marL="0" indent="0">
              <a:buNone/>
            </a:pPr>
            <a:r>
              <a:rPr lang="en-US" sz="2200" dirty="0">
                <a:solidFill>
                  <a:schemeClr val="tx1"/>
                </a:solidFill>
              </a:rPr>
              <a:t>What is his situation?</a:t>
            </a:r>
            <a:endParaRPr lang="en-US" sz="2200" dirty="0"/>
          </a:p>
        </p:txBody>
      </p:sp>
      <p:sp>
        <p:nvSpPr>
          <p:cNvPr id="7" name="question 2"/>
          <p:cNvSpPr/>
          <p:nvPr/>
        </p:nvSpPr>
        <p:spPr>
          <a:xfrm>
            <a:off x="6172200" y="1691640"/>
            <a:ext cx="5440680" cy="1874520"/>
          </a:xfrm>
          <a:prstGeom prst="roundRect">
            <a:avLst>
              <a:gd name="adj" fmla="val 3902"/>
            </a:avLst>
          </a:prstGeom>
          <a:solidFill>
            <a:schemeClr val="bg2"/>
          </a:solidFill>
          <a:ln w="12700">
            <a:solidFill>
              <a:schemeClr val="bg2"/>
            </a:solidFill>
            <a:prstDash val="solid"/>
          </a:ln>
        </p:spPr>
        <p:txBody>
          <a:bodyPr/>
          <a:lstStyle/>
          <a:p>
            <a:endParaRPr lang="en-US"/>
          </a:p>
        </p:txBody>
      </p:sp>
      <p:sp>
        <p:nvSpPr>
          <p:cNvPr id="8" name="Text 6"/>
          <p:cNvSpPr txBox="1"/>
          <p:nvPr/>
        </p:nvSpPr>
        <p:spPr>
          <a:xfrm>
            <a:off x="6446520" y="1920240"/>
            <a:ext cx="914400" cy="1417320"/>
          </a:xfrm>
          <a:prstGeom prst="rect">
            <a:avLst/>
          </a:prstGeom>
          <a:noFill/>
          <a:ln/>
        </p:spPr>
        <p:txBody>
          <a:bodyPr wrap="square" lIns="0" tIns="0" rIns="0" bIns="0" rtlCol="0" anchor="ctr"/>
          <a:lstStyle/>
          <a:p>
            <a:pPr marL="0" indent="0">
              <a:buNone/>
            </a:pPr>
            <a:r>
              <a:rPr lang="en-US" sz="6000" b="1" dirty="0">
                <a:solidFill>
                  <a:schemeClr val="accent1"/>
                </a:solidFill>
                <a:latin typeface="Cambria" pitchFamily="34" charset="0"/>
                <a:ea typeface="Cambria" pitchFamily="34" charset="-122"/>
                <a:cs typeface="Cambria" pitchFamily="34" charset="-120"/>
              </a:rPr>
              <a:t>2</a:t>
            </a:r>
            <a:endParaRPr lang="en-US" sz="6000" dirty="0"/>
          </a:p>
        </p:txBody>
      </p:sp>
      <p:sp>
        <p:nvSpPr>
          <p:cNvPr id="9" name="Text 7"/>
          <p:cNvSpPr txBox="1"/>
          <p:nvPr/>
        </p:nvSpPr>
        <p:spPr>
          <a:xfrm>
            <a:off x="7452360" y="1920240"/>
            <a:ext cx="3931920" cy="1417320"/>
          </a:xfrm>
          <a:prstGeom prst="rect">
            <a:avLst/>
          </a:prstGeom>
          <a:noFill/>
          <a:ln/>
        </p:spPr>
        <p:txBody>
          <a:bodyPr wrap="square" lIns="0" tIns="0" rIns="0" bIns="0" rtlCol="0" anchor="ctr"/>
          <a:lstStyle/>
          <a:p>
            <a:pPr marL="0" indent="0">
              <a:buNone/>
            </a:pPr>
            <a:r>
              <a:rPr lang="en-US" sz="2200" dirty="0">
                <a:solidFill>
                  <a:schemeClr val="tx1"/>
                </a:solidFill>
              </a:rPr>
              <a:t>How did he get into it?</a:t>
            </a:r>
            <a:endParaRPr lang="en-US" sz="2200" dirty="0"/>
          </a:p>
        </p:txBody>
      </p:sp>
      <p:sp>
        <p:nvSpPr>
          <p:cNvPr id="10" name="question 3"/>
          <p:cNvSpPr/>
          <p:nvPr/>
        </p:nvSpPr>
        <p:spPr>
          <a:xfrm>
            <a:off x="548640" y="3794760"/>
            <a:ext cx="5440680" cy="1874520"/>
          </a:xfrm>
          <a:prstGeom prst="roundRect">
            <a:avLst>
              <a:gd name="adj" fmla="val 3902"/>
            </a:avLst>
          </a:prstGeom>
          <a:solidFill>
            <a:schemeClr val="bg2"/>
          </a:solidFill>
          <a:ln w="12700">
            <a:solidFill>
              <a:schemeClr val="bg2"/>
            </a:solidFill>
            <a:prstDash val="solid"/>
          </a:ln>
        </p:spPr>
        <p:txBody>
          <a:bodyPr/>
          <a:lstStyle/>
          <a:p>
            <a:endParaRPr lang="en-US"/>
          </a:p>
        </p:txBody>
      </p:sp>
      <p:sp>
        <p:nvSpPr>
          <p:cNvPr id="11" name="Text 9"/>
          <p:cNvSpPr txBox="1"/>
          <p:nvPr/>
        </p:nvSpPr>
        <p:spPr>
          <a:xfrm>
            <a:off x="822960" y="4023360"/>
            <a:ext cx="914400" cy="1417320"/>
          </a:xfrm>
          <a:prstGeom prst="rect">
            <a:avLst/>
          </a:prstGeom>
          <a:noFill/>
          <a:ln/>
        </p:spPr>
        <p:txBody>
          <a:bodyPr wrap="square" lIns="0" tIns="0" rIns="0" bIns="0" rtlCol="0" anchor="ctr"/>
          <a:lstStyle/>
          <a:p>
            <a:pPr marL="0" indent="0">
              <a:buNone/>
            </a:pPr>
            <a:r>
              <a:rPr lang="en-US" sz="6000" b="1" dirty="0">
                <a:solidFill>
                  <a:schemeClr val="accent1"/>
                </a:solidFill>
                <a:latin typeface="Cambria" pitchFamily="34" charset="0"/>
                <a:ea typeface="Cambria" pitchFamily="34" charset="-122"/>
                <a:cs typeface="Cambria" pitchFamily="34" charset="-120"/>
              </a:rPr>
              <a:t>3</a:t>
            </a:r>
            <a:endParaRPr lang="en-US" sz="6000" dirty="0"/>
          </a:p>
        </p:txBody>
      </p:sp>
      <p:sp>
        <p:nvSpPr>
          <p:cNvPr id="12" name="Text 10"/>
          <p:cNvSpPr txBox="1"/>
          <p:nvPr/>
        </p:nvSpPr>
        <p:spPr>
          <a:xfrm>
            <a:off x="1828800" y="4023360"/>
            <a:ext cx="3931920" cy="1417320"/>
          </a:xfrm>
          <a:prstGeom prst="rect">
            <a:avLst/>
          </a:prstGeom>
          <a:noFill/>
          <a:ln/>
        </p:spPr>
        <p:txBody>
          <a:bodyPr wrap="square" lIns="0" tIns="0" rIns="0" bIns="0" rtlCol="0" anchor="ctr"/>
          <a:lstStyle/>
          <a:p>
            <a:pPr marL="0" indent="0">
              <a:buNone/>
            </a:pPr>
            <a:r>
              <a:rPr lang="en-US" sz="2200" dirty="0">
                <a:solidFill>
                  <a:schemeClr val="tx1"/>
                </a:solidFill>
              </a:rPr>
              <a:t>What was his dilemma?</a:t>
            </a:r>
            <a:endParaRPr lang="en-US" sz="2200" dirty="0"/>
          </a:p>
        </p:txBody>
      </p:sp>
      <p:sp>
        <p:nvSpPr>
          <p:cNvPr id="13" name="question 4"/>
          <p:cNvSpPr/>
          <p:nvPr/>
        </p:nvSpPr>
        <p:spPr>
          <a:xfrm>
            <a:off x="6172200" y="3794760"/>
            <a:ext cx="5440680" cy="1874520"/>
          </a:xfrm>
          <a:prstGeom prst="roundRect">
            <a:avLst>
              <a:gd name="adj" fmla="val 3902"/>
            </a:avLst>
          </a:prstGeom>
          <a:solidFill>
            <a:schemeClr val="bg2"/>
          </a:solidFill>
          <a:ln w="12700">
            <a:solidFill>
              <a:schemeClr val="bg2"/>
            </a:solidFill>
            <a:prstDash val="solid"/>
          </a:ln>
        </p:spPr>
        <p:txBody>
          <a:bodyPr/>
          <a:lstStyle/>
          <a:p>
            <a:endParaRPr lang="en-US"/>
          </a:p>
        </p:txBody>
      </p:sp>
      <p:sp>
        <p:nvSpPr>
          <p:cNvPr id="14" name="Text 12"/>
          <p:cNvSpPr txBox="1"/>
          <p:nvPr/>
        </p:nvSpPr>
        <p:spPr>
          <a:xfrm>
            <a:off x="6446520" y="4023360"/>
            <a:ext cx="914400" cy="1417320"/>
          </a:xfrm>
          <a:prstGeom prst="rect">
            <a:avLst/>
          </a:prstGeom>
          <a:noFill/>
          <a:ln/>
        </p:spPr>
        <p:txBody>
          <a:bodyPr wrap="square" lIns="0" tIns="0" rIns="0" bIns="0" rtlCol="0" anchor="ctr"/>
          <a:lstStyle/>
          <a:p>
            <a:pPr marL="0" indent="0">
              <a:buNone/>
            </a:pPr>
            <a:r>
              <a:rPr lang="en-US" sz="6000" b="1" dirty="0">
                <a:solidFill>
                  <a:schemeClr val="accent1"/>
                </a:solidFill>
                <a:latin typeface="Cambria" pitchFamily="34" charset="0"/>
                <a:ea typeface="Cambria" pitchFamily="34" charset="-122"/>
                <a:cs typeface="Cambria" pitchFamily="34" charset="-120"/>
              </a:rPr>
              <a:t>4</a:t>
            </a:r>
            <a:endParaRPr lang="en-US" sz="6000" dirty="0"/>
          </a:p>
        </p:txBody>
      </p:sp>
      <p:sp>
        <p:nvSpPr>
          <p:cNvPr id="15" name="Text 13"/>
          <p:cNvSpPr txBox="1"/>
          <p:nvPr/>
        </p:nvSpPr>
        <p:spPr>
          <a:xfrm>
            <a:off x="7452360" y="4023360"/>
            <a:ext cx="3931920" cy="1417320"/>
          </a:xfrm>
          <a:prstGeom prst="rect">
            <a:avLst/>
          </a:prstGeom>
          <a:noFill/>
          <a:ln/>
        </p:spPr>
        <p:txBody>
          <a:bodyPr wrap="square" lIns="0" tIns="0" rIns="0" bIns="0" rtlCol="0" anchor="ctr"/>
          <a:lstStyle/>
          <a:p>
            <a:pPr marL="0" indent="0">
              <a:buNone/>
            </a:pPr>
            <a:r>
              <a:rPr lang="en-US" sz="2200" dirty="0">
                <a:solidFill>
                  <a:schemeClr val="tx1"/>
                </a:solidFill>
              </a:rPr>
              <a:t>What about his personality might have caused him difficulty?</a:t>
            </a:r>
            <a:endParaRPr lang="en-US" sz="2200" dirty="0"/>
          </a:p>
        </p:txBody>
      </p:sp>
      <p:sp>
        <p:nvSpPr>
          <p:cNvPr id="16" name="Text 14"/>
          <p:cNvSpPr txBox="1"/>
          <p:nvPr/>
        </p:nvSpPr>
        <p:spPr>
          <a:xfrm>
            <a:off x="548640" y="6035040"/>
            <a:ext cx="10058400" cy="365760"/>
          </a:xfrm>
          <a:prstGeom prst="rect">
            <a:avLst/>
          </a:prstGeom>
          <a:noFill/>
          <a:ln/>
        </p:spPr>
        <p:txBody>
          <a:bodyPr wrap="square" lIns="0" tIns="0" rIns="0" bIns="0" rtlCol="0" anchor="ctr"/>
          <a:lstStyle/>
          <a:p>
            <a:pPr marL="0" indent="0">
              <a:buNone/>
            </a:pPr>
            <a:r>
              <a:rPr lang="en-US" sz="1300" i="1" dirty="0">
                <a:solidFill>
                  <a:schemeClr val="accent4"/>
                </a:solidFill>
              </a:rPr>
              <a:t>The protagonist is never named; by convention he is called the Underground Man.</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QUESTIONS · MORE ABSTRACT / SUBJECTIVE</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Through the lens of human outlier analysis</a:t>
            </a:r>
            <a:endParaRPr lang="en-US" sz="3400" dirty="0"/>
          </a:p>
        </p:txBody>
      </p:sp>
      <p:sp>
        <p:nvSpPr>
          <p:cNvPr id="4" name="abstract q1 circle"/>
          <p:cNvSpPr/>
          <p:nvPr/>
        </p:nvSpPr>
        <p:spPr>
          <a:xfrm>
            <a:off x="548640" y="1691640"/>
            <a:ext cx="731520" cy="731520"/>
          </a:xfrm>
          <a:prstGeom prst="ellipse">
            <a:avLst/>
          </a:prstGeom>
          <a:solidFill>
            <a:schemeClr val="accent3"/>
          </a:solidFill>
          <a:ln w="12700">
            <a:solidFill>
              <a:schemeClr val="accent3"/>
            </a:solidFill>
            <a:prstDash val="solid"/>
          </a:ln>
        </p:spPr>
        <p:txBody>
          <a:bodyPr/>
          <a:lstStyle/>
          <a:p>
            <a:endParaRPr lang="en-US"/>
          </a:p>
        </p:txBody>
      </p:sp>
      <p:pic>
        <p:nvPicPr>
          <p:cNvPr id="5" name="abstract q1 icon" descr="abstract q1"/>
          <p:cNvPicPr>
            <a:picLocks noChangeAspect="1"/>
          </p:cNvPicPr>
          <p:nvPr/>
        </p:nvPicPr>
        <p:blipFill>
          <a:blip r:embed="rId3"/>
          <a:stretch>
            <a:fillRect/>
          </a:stretch>
        </p:blipFill>
        <p:spPr>
          <a:xfrm>
            <a:off x="709574" y="1852574"/>
            <a:ext cx="409651" cy="409651"/>
          </a:xfrm>
          <a:prstGeom prst="rect">
            <a:avLst/>
          </a:prstGeom>
        </p:spPr>
      </p:pic>
      <p:sp>
        <p:nvSpPr>
          <p:cNvPr id="6" name="Text 3"/>
          <p:cNvSpPr txBox="1"/>
          <p:nvPr/>
        </p:nvSpPr>
        <p:spPr>
          <a:xfrm>
            <a:off x="1508760" y="1645920"/>
            <a:ext cx="6400800" cy="822960"/>
          </a:xfrm>
          <a:prstGeom prst="rect">
            <a:avLst/>
          </a:prstGeom>
          <a:noFill/>
          <a:ln/>
        </p:spPr>
        <p:txBody>
          <a:bodyPr wrap="square" lIns="0" tIns="0" rIns="0" bIns="0" rtlCol="0" anchor="ctr"/>
          <a:lstStyle/>
          <a:p>
            <a:pPr marL="0" indent="0">
              <a:buNone/>
            </a:pPr>
            <a:r>
              <a:rPr lang="en-US" sz="1900" dirty="0">
                <a:solidFill>
                  <a:schemeClr val="tx1"/>
                </a:solidFill>
              </a:rPr>
              <a:t>How is the protagonist unusual in the society in which he lives, and how is he trying to influence that society?</a:t>
            </a:r>
            <a:endParaRPr lang="en-US" sz="1900" dirty="0"/>
          </a:p>
        </p:txBody>
      </p:sp>
      <p:sp>
        <p:nvSpPr>
          <p:cNvPr id="7" name="abstract q2 circle"/>
          <p:cNvSpPr/>
          <p:nvPr/>
        </p:nvSpPr>
        <p:spPr>
          <a:xfrm>
            <a:off x="548640" y="2715768"/>
            <a:ext cx="731520" cy="731520"/>
          </a:xfrm>
          <a:prstGeom prst="ellipse">
            <a:avLst/>
          </a:prstGeom>
          <a:solidFill>
            <a:schemeClr val="accent3"/>
          </a:solidFill>
          <a:ln w="12700">
            <a:solidFill>
              <a:schemeClr val="accent3"/>
            </a:solidFill>
            <a:prstDash val="solid"/>
          </a:ln>
        </p:spPr>
        <p:txBody>
          <a:bodyPr/>
          <a:lstStyle/>
          <a:p>
            <a:endParaRPr lang="en-US"/>
          </a:p>
        </p:txBody>
      </p:sp>
      <p:pic>
        <p:nvPicPr>
          <p:cNvPr id="8" name="abstract q2 icon" descr="abstract q2"/>
          <p:cNvPicPr>
            <a:picLocks noChangeAspect="1"/>
          </p:cNvPicPr>
          <p:nvPr/>
        </p:nvPicPr>
        <p:blipFill>
          <a:blip r:embed="rId4"/>
          <a:stretch>
            <a:fillRect/>
          </a:stretch>
        </p:blipFill>
        <p:spPr>
          <a:xfrm>
            <a:off x="709574" y="2876702"/>
            <a:ext cx="409651" cy="409651"/>
          </a:xfrm>
          <a:prstGeom prst="rect">
            <a:avLst/>
          </a:prstGeom>
        </p:spPr>
      </p:pic>
      <p:sp>
        <p:nvSpPr>
          <p:cNvPr id="9" name="Text 5"/>
          <p:cNvSpPr txBox="1"/>
          <p:nvPr/>
        </p:nvSpPr>
        <p:spPr>
          <a:xfrm>
            <a:off x="1508760" y="2670048"/>
            <a:ext cx="6400800" cy="822960"/>
          </a:xfrm>
          <a:prstGeom prst="rect">
            <a:avLst/>
          </a:prstGeom>
          <a:noFill/>
          <a:ln/>
        </p:spPr>
        <p:txBody>
          <a:bodyPr wrap="square" lIns="0" tIns="0" rIns="0" bIns="0" rtlCol="0" anchor="ctr"/>
          <a:lstStyle/>
          <a:p>
            <a:pPr marL="0" indent="0">
              <a:buNone/>
            </a:pPr>
            <a:r>
              <a:rPr lang="en-US" sz="1900" dirty="0">
                <a:solidFill>
                  <a:schemeClr val="tx1"/>
                </a:solidFill>
              </a:rPr>
              <a:t>Do you sympathize with the protagonist and his plight? What about the other characters?</a:t>
            </a:r>
            <a:endParaRPr lang="en-US" sz="1900" dirty="0"/>
          </a:p>
        </p:txBody>
      </p:sp>
      <p:sp>
        <p:nvSpPr>
          <p:cNvPr id="10" name="abstract q3 circle"/>
          <p:cNvSpPr/>
          <p:nvPr/>
        </p:nvSpPr>
        <p:spPr>
          <a:xfrm>
            <a:off x="548640" y="3739896"/>
            <a:ext cx="731520" cy="731520"/>
          </a:xfrm>
          <a:prstGeom prst="ellipse">
            <a:avLst/>
          </a:prstGeom>
          <a:solidFill>
            <a:schemeClr val="accent3"/>
          </a:solidFill>
          <a:ln w="12700">
            <a:solidFill>
              <a:schemeClr val="accent3"/>
            </a:solidFill>
            <a:prstDash val="solid"/>
          </a:ln>
        </p:spPr>
        <p:txBody>
          <a:bodyPr/>
          <a:lstStyle/>
          <a:p>
            <a:endParaRPr lang="en-US"/>
          </a:p>
        </p:txBody>
      </p:sp>
      <p:pic>
        <p:nvPicPr>
          <p:cNvPr id="11" name="abstract q3 icon" descr="abstract q3"/>
          <p:cNvPicPr>
            <a:picLocks noChangeAspect="1"/>
          </p:cNvPicPr>
          <p:nvPr/>
        </p:nvPicPr>
        <p:blipFill>
          <a:blip r:embed="rId5"/>
          <a:stretch>
            <a:fillRect/>
          </a:stretch>
        </p:blipFill>
        <p:spPr>
          <a:xfrm>
            <a:off x="709574" y="3900830"/>
            <a:ext cx="409651" cy="409651"/>
          </a:xfrm>
          <a:prstGeom prst="rect">
            <a:avLst/>
          </a:prstGeom>
        </p:spPr>
      </p:pic>
      <p:sp>
        <p:nvSpPr>
          <p:cNvPr id="12" name="Text 7"/>
          <p:cNvSpPr txBox="1"/>
          <p:nvPr/>
        </p:nvSpPr>
        <p:spPr>
          <a:xfrm>
            <a:off x="1508760" y="3694176"/>
            <a:ext cx="6400800" cy="822960"/>
          </a:xfrm>
          <a:prstGeom prst="rect">
            <a:avLst/>
          </a:prstGeom>
          <a:noFill/>
          <a:ln/>
        </p:spPr>
        <p:txBody>
          <a:bodyPr wrap="square" lIns="0" tIns="0" rIns="0" bIns="0" rtlCol="0" anchor="ctr"/>
          <a:lstStyle/>
          <a:p>
            <a:pPr marL="0" indent="0">
              <a:buNone/>
            </a:pPr>
            <a:r>
              <a:rPr lang="en-US" sz="1900" dirty="0">
                <a:solidFill>
                  <a:schemeClr val="tx1"/>
                </a:solidFill>
              </a:rPr>
              <a:t>Can we usefully separate out the dysfunction from the creative insight?</a:t>
            </a:r>
            <a:endParaRPr lang="en-US" sz="1900" dirty="0"/>
          </a:p>
        </p:txBody>
      </p:sp>
      <p:sp>
        <p:nvSpPr>
          <p:cNvPr id="13" name="abstract q4 circle"/>
          <p:cNvSpPr/>
          <p:nvPr/>
        </p:nvSpPr>
        <p:spPr>
          <a:xfrm>
            <a:off x="548640" y="4764024"/>
            <a:ext cx="731520" cy="731520"/>
          </a:xfrm>
          <a:prstGeom prst="ellipse">
            <a:avLst/>
          </a:prstGeom>
          <a:solidFill>
            <a:schemeClr val="accent3"/>
          </a:solidFill>
          <a:ln w="12700">
            <a:solidFill>
              <a:schemeClr val="accent3"/>
            </a:solidFill>
            <a:prstDash val="solid"/>
          </a:ln>
        </p:spPr>
        <p:txBody>
          <a:bodyPr/>
          <a:lstStyle/>
          <a:p>
            <a:endParaRPr lang="en-US"/>
          </a:p>
        </p:txBody>
      </p:sp>
      <p:pic>
        <p:nvPicPr>
          <p:cNvPr id="14" name="abstract q4 icon" descr="abstract q4"/>
          <p:cNvPicPr>
            <a:picLocks noChangeAspect="1"/>
          </p:cNvPicPr>
          <p:nvPr/>
        </p:nvPicPr>
        <p:blipFill>
          <a:blip r:embed="rId6"/>
          <a:stretch>
            <a:fillRect/>
          </a:stretch>
        </p:blipFill>
        <p:spPr>
          <a:xfrm>
            <a:off x="709574" y="4924958"/>
            <a:ext cx="409651" cy="409651"/>
          </a:xfrm>
          <a:prstGeom prst="rect">
            <a:avLst/>
          </a:prstGeom>
        </p:spPr>
      </p:pic>
      <p:sp>
        <p:nvSpPr>
          <p:cNvPr id="15" name="Text 9"/>
          <p:cNvSpPr txBox="1"/>
          <p:nvPr/>
        </p:nvSpPr>
        <p:spPr>
          <a:xfrm>
            <a:off x="1508760" y="4718304"/>
            <a:ext cx="6400800" cy="822960"/>
          </a:xfrm>
          <a:prstGeom prst="rect">
            <a:avLst/>
          </a:prstGeom>
          <a:noFill/>
          <a:ln/>
        </p:spPr>
        <p:txBody>
          <a:bodyPr wrap="square" lIns="0" tIns="0" rIns="0" bIns="0" rtlCol="0" anchor="ctr"/>
          <a:lstStyle/>
          <a:p>
            <a:pPr marL="0" indent="0">
              <a:buNone/>
            </a:pPr>
            <a:r>
              <a:rPr lang="en-US" sz="1900" dirty="0">
                <a:solidFill>
                  <a:schemeClr val="tx1"/>
                </a:solidFill>
              </a:rPr>
              <a:t>What does the protagonist see about society that those around him do not see?</a:t>
            </a:r>
            <a:endParaRPr lang="en-US" sz="1900" dirty="0"/>
          </a:p>
        </p:txBody>
      </p:sp>
      <p:sp>
        <p:nvSpPr>
          <p:cNvPr id="16" name="lens card"/>
          <p:cNvSpPr/>
          <p:nvPr/>
        </p:nvSpPr>
        <p:spPr>
          <a:xfrm>
            <a:off x="8321040" y="1645920"/>
            <a:ext cx="3291840" cy="4023360"/>
          </a:xfrm>
          <a:prstGeom prst="roundRect">
            <a:avLst>
              <a:gd name="adj" fmla="val 2222"/>
            </a:avLst>
          </a:prstGeom>
          <a:solidFill>
            <a:schemeClr val="tx2"/>
          </a:solidFill>
          <a:ln w="12700">
            <a:solidFill>
              <a:schemeClr val="tx2"/>
            </a:solidFill>
            <a:prstDash val="solid"/>
          </a:ln>
        </p:spPr>
        <p:txBody>
          <a:bodyPr/>
          <a:lstStyle/>
          <a:p>
            <a:endParaRPr lang="en-US"/>
          </a:p>
        </p:txBody>
      </p:sp>
      <p:sp>
        <p:nvSpPr>
          <p:cNvPr id="17" name="Text 11"/>
          <p:cNvSpPr txBox="1"/>
          <p:nvPr/>
        </p:nvSpPr>
        <p:spPr>
          <a:xfrm>
            <a:off x="8595360" y="1874520"/>
            <a:ext cx="2743200" cy="3566160"/>
          </a:xfrm>
          <a:prstGeom prst="rect">
            <a:avLst/>
          </a:prstGeom>
          <a:noFill/>
          <a:ln/>
        </p:spPr>
        <p:txBody>
          <a:bodyPr wrap="square" lIns="0" tIns="0" rIns="0" bIns="0" rtlCol="0" anchor="t"/>
          <a:lstStyle/>
          <a:p>
            <a:pPr marL="0" indent="0">
              <a:buNone/>
            </a:pPr>
            <a:r>
              <a:rPr lang="en-US" sz="1200" b="1" kern="0" spc="200" dirty="0">
                <a:solidFill>
                  <a:schemeClr val="accent2"/>
                </a:solidFill>
              </a:rPr>
              <a:t>THE LENS</a:t>
            </a:r>
            <a:endParaRPr lang="en-US" sz="1200" dirty="0"/>
          </a:p>
          <a:p>
            <a:pPr marL="0" indent="0">
              <a:buNone/>
            </a:pPr>
            <a:r>
              <a:rPr lang="en-US" sz="2000" b="1" dirty="0">
                <a:solidFill>
                  <a:schemeClr val="bg1"/>
                </a:solidFill>
                <a:latin typeface="Cambria" pitchFamily="34" charset="0"/>
                <a:ea typeface="Cambria" pitchFamily="34" charset="-122"/>
                <a:cs typeface="Cambria" pitchFamily="34" charset="-120"/>
              </a:rPr>
              <a:t>Human Outlier Analysis</a:t>
            </a:r>
            <a:endParaRPr lang="en-US" sz="1200" dirty="0"/>
          </a:p>
          <a:p>
            <a:pPr marL="0" indent="0">
              <a:buNone/>
            </a:pPr>
            <a:r>
              <a:rPr lang="en-US" sz="800" dirty="0">
                <a:solidFill>
                  <a:srgbClr val="000000"/>
                </a:solidFill>
              </a:rPr>
              <a:t> </a:t>
            </a:r>
            <a:endParaRPr lang="en-US" sz="1200" dirty="0"/>
          </a:p>
          <a:p>
            <a:pPr marL="0" indent="0">
              <a:buNone/>
            </a:pPr>
            <a:r>
              <a:rPr lang="en-US" sz="1400" dirty="0">
                <a:solidFill>
                  <a:schemeClr val="accent5"/>
                </a:solidFill>
              </a:rPr>
              <a:t>Foucault, Madness and Civilization (1961): the Age of Reason built institutions to cast radical thinkers out as mad or criminal.</a:t>
            </a:r>
            <a:endParaRPr lang="en-US" sz="1200" dirty="0"/>
          </a:p>
          <a:p>
            <a:pPr marL="0" indent="0">
              <a:buNone/>
            </a:pPr>
            <a:r>
              <a:rPr lang="en-US" sz="800" dirty="0">
                <a:solidFill>
                  <a:srgbClr val="000000"/>
                </a:solidFill>
              </a:rPr>
              <a:t> </a:t>
            </a:r>
            <a:endParaRPr lang="en-US" sz="1200" dirty="0"/>
          </a:p>
          <a:p>
            <a:pPr marL="0" indent="0">
              <a:buNone/>
            </a:pPr>
            <a:r>
              <a:rPr lang="en-US" sz="1400" i="1" dirty="0">
                <a:solidFill>
                  <a:schemeClr val="bg1"/>
                </a:solidFill>
              </a:rPr>
              <a:t>Do we lose something if we dismiss him as mad?</a:t>
            </a:r>
            <a:endParaRPr lang="en-US" sz="1200" dirty="0"/>
          </a:p>
        </p:txBody>
      </p:sp>
      <p:sp>
        <p:nvSpPr>
          <p:cNvPr id="18" name="Text 12"/>
          <p:cNvSpPr txBox="1"/>
          <p:nvPr/>
        </p:nvSpPr>
        <p:spPr>
          <a:xfrm>
            <a:off x="548640" y="6035040"/>
            <a:ext cx="10058400" cy="365760"/>
          </a:xfrm>
          <a:prstGeom prst="rect">
            <a:avLst/>
          </a:prstGeom>
          <a:noFill/>
          <a:ln/>
        </p:spPr>
        <p:txBody>
          <a:bodyPr wrap="square" lIns="0" tIns="0" rIns="0" bIns="0" rtlCol="0" anchor="ctr"/>
          <a:lstStyle/>
          <a:p>
            <a:pPr marL="0" indent="0">
              <a:buNone/>
            </a:pPr>
            <a:r>
              <a:rPr lang="en-US" sz="1300" i="1" dirty="0">
                <a:solidFill>
                  <a:schemeClr val="accent4"/>
                </a:solidFill>
              </a:rPr>
              <a:t>These also appear under Tale 1 in the Preface to the course.</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SESSION 1 PRESENTATION</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Course overview</a:t>
            </a:r>
            <a:endParaRPr lang="en-US" sz="3400" dirty="0"/>
          </a:p>
        </p:txBody>
      </p:sp>
      <p:pic>
        <p:nvPicPr>
          <p:cNvPr id="4" name="overview illustration" descr="Mad scientist manipulating a fan of dystopian stories, with lenses labeled police state, surveillance state, narrative analysis, societal control, human outliers and false needs"/>
          <p:cNvPicPr>
            <a:picLocks noChangeAspect="1"/>
          </p:cNvPicPr>
          <p:nvPr/>
        </p:nvPicPr>
        <p:blipFill>
          <a:blip r:embed="rId3"/>
          <a:stretch>
            <a:fillRect/>
          </a:stretch>
        </p:blipFill>
        <p:spPr>
          <a:xfrm>
            <a:off x="548640" y="1554480"/>
            <a:ext cx="7863840" cy="4427051"/>
          </a:xfrm>
          <a:prstGeom prst="rect">
            <a:avLst/>
          </a:prstGeom>
        </p:spPr>
      </p:pic>
      <p:sp>
        <p:nvSpPr>
          <p:cNvPr id="5" name="overview points"/>
          <p:cNvSpPr/>
          <p:nvPr/>
        </p:nvSpPr>
        <p:spPr>
          <a:xfrm>
            <a:off x="8686800" y="1554480"/>
            <a:ext cx="2926080" cy="4425696"/>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6" name="Text 3"/>
          <p:cNvSpPr txBox="1"/>
          <p:nvPr/>
        </p:nvSpPr>
        <p:spPr>
          <a:xfrm>
            <a:off x="8869680" y="1783080"/>
            <a:ext cx="2606040" cy="4023360"/>
          </a:xfrm>
          <a:prstGeom prst="rect">
            <a:avLst/>
          </a:prstGeom>
          <a:noFill/>
          <a:ln/>
        </p:spPr>
        <p:txBody>
          <a:bodyPr wrap="square" rtlCol="0" anchor="t"/>
          <a:lstStyle/>
          <a:p>
            <a:pPr marL="342900" indent="-342900">
              <a:spcAft>
                <a:spcPts val="1600"/>
              </a:spcAft>
              <a:buSzPct val="100000"/>
              <a:buChar char="•"/>
            </a:pPr>
            <a:r>
              <a:rPr lang="en-US" sz="1800" dirty="0">
                <a:solidFill>
                  <a:schemeClr val="tx1"/>
                </a:solidFill>
              </a:rPr>
              <a:t>Look at modern-age stories where societies impose or offer mind control.</a:t>
            </a:r>
            <a:endParaRPr lang="en-US" sz="1800" dirty="0"/>
          </a:p>
          <a:p>
            <a:pPr marL="342900" indent="-342900">
              <a:spcAft>
                <a:spcPts val="1600"/>
              </a:spcAft>
              <a:buSzPct val="100000"/>
              <a:buChar char="•"/>
            </a:pPr>
            <a:r>
              <a:rPr lang="en-US" sz="1800" dirty="0">
                <a:solidFill>
                  <a:schemeClr val="tx1"/>
                </a:solidFill>
              </a:rPr>
              <a:t>Consider characters who are rebelling.</a:t>
            </a:r>
            <a:endParaRPr lang="en-US" sz="1800" dirty="0"/>
          </a:p>
          <a:p>
            <a:pPr marL="342900" indent="-342900">
              <a:spcAft>
                <a:spcPts val="1600"/>
              </a:spcAft>
              <a:buSzPct val="100000"/>
              <a:buChar char="•"/>
            </a:pPr>
            <a:r>
              <a:rPr lang="en-US" sz="1800" dirty="0">
                <a:solidFill>
                  <a:schemeClr val="tx1"/>
                </a:solidFill>
              </a:rPr>
              <a:t>Ask questions through various lenses.</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SESSION 1 PRESENTATION</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Stories in a dystopian arc</a:t>
            </a:r>
            <a:endParaRPr lang="en-US" sz="3400" dirty="0"/>
          </a:p>
        </p:txBody>
      </p:sp>
      <p:pic>
        <p:nvPicPr>
          <p:cNvPr id="4" name="stories illustration" descr="Four panels: Notes from Underground, 1984 with 2+2=5, The Matrix with 10+10=100, The Perfect Match"/>
          <p:cNvPicPr>
            <a:picLocks noChangeAspect="1"/>
          </p:cNvPicPr>
          <p:nvPr/>
        </p:nvPicPr>
        <p:blipFill>
          <a:blip r:embed="rId3"/>
          <a:stretch>
            <a:fillRect/>
          </a:stretch>
        </p:blipFill>
        <p:spPr>
          <a:xfrm>
            <a:off x="548640" y="1554480"/>
            <a:ext cx="6949440" cy="3877788"/>
          </a:xfrm>
          <a:prstGeom prst="rect">
            <a:avLst/>
          </a:prstGeom>
        </p:spPr>
      </p:pic>
      <p:sp>
        <p:nvSpPr>
          <p:cNvPr id="5" name="Text 2"/>
          <p:cNvSpPr txBox="1"/>
          <p:nvPr/>
        </p:nvSpPr>
        <p:spPr>
          <a:xfrm>
            <a:off x="7772400" y="1554480"/>
            <a:ext cx="3840480" cy="4480560"/>
          </a:xfrm>
          <a:prstGeom prst="rect">
            <a:avLst/>
          </a:prstGeom>
          <a:noFill/>
          <a:ln/>
        </p:spPr>
        <p:txBody>
          <a:bodyPr wrap="square" rtlCol="0" anchor="t"/>
          <a:lstStyle/>
          <a:p>
            <a:pPr marL="342900" indent="-342900">
              <a:spcAft>
                <a:spcPts val="1200"/>
              </a:spcAft>
              <a:buSzPct val="100000"/>
              <a:buChar char="•"/>
            </a:pPr>
            <a:r>
              <a:rPr lang="en-US" sz="1600" b="1" dirty="0">
                <a:solidFill>
                  <a:schemeClr val="tx1"/>
                </a:solidFill>
              </a:rPr>
              <a:t>Dostoevsky's Underground Man, </a:t>
            </a:r>
            <a:r>
              <a:rPr lang="en-US" sz="1600" dirty="0">
                <a:solidFill>
                  <a:schemeClr val="tx1"/>
                </a:solidFill>
              </a:rPr>
              <a:t>isolated and crushed by 2 + 2 = 4 reason.</a:t>
            </a:r>
            <a:endParaRPr lang="en-US" sz="1600" dirty="0"/>
          </a:p>
          <a:p>
            <a:pPr marL="342900" indent="-342900">
              <a:spcAft>
                <a:spcPts val="1200"/>
              </a:spcAft>
              <a:buSzPct val="100000"/>
              <a:buChar char="•"/>
            </a:pPr>
            <a:r>
              <a:rPr lang="en-US" sz="1600" b="1" dirty="0">
                <a:solidFill>
                  <a:schemeClr val="tx1"/>
                </a:solidFill>
              </a:rPr>
              <a:t>Winston (1984), </a:t>
            </a:r>
            <a:r>
              <a:rPr lang="en-US" sz="1600" dirty="0">
                <a:solidFill>
                  <a:schemeClr val="tx1"/>
                </a:solidFill>
              </a:rPr>
              <a:t>pounded by Big Brother to truly believe 2 + 2 = 5.</a:t>
            </a:r>
            <a:endParaRPr lang="en-US" sz="1600" dirty="0"/>
          </a:p>
          <a:p>
            <a:pPr marL="342900" indent="-342900">
              <a:spcAft>
                <a:spcPts val="1200"/>
              </a:spcAft>
              <a:buSzPct val="100000"/>
              <a:buChar char="•"/>
            </a:pPr>
            <a:r>
              <a:rPr lang="en-US" sz="1600" b="1" dirty="0">
                <a:solidFill>
                  <a:schemeClr val="tx1"/>
                </a:solidFill>
              </a:rPr>
              <a:t>Neo (The Matrix), </a:t>
            </a:r>
            <a:r>
              <a:rPr lang="en-US" sz="1600" dirty="0">
                <a:solidFill>
                  <a:schemeClr val="tx1"/>
                </a:solidFill>
              </a:rPr>
              <a:t>perceiving his whole world is a simulation, seeing 2 + 2 = 4 in binary.</a:t>
            </a:r>
            <a:endParaRPr lang="en-US" sz="1600" dirty="0"/>
          </a:p>
          <a:p>
            <a:pPr marL="342900" indent="-342900">
              <a:spcAft>
                <a:spcPts val="1200"/>
              </a:spcAft>
              <a:buSzPct val="100000"/>
              <a:buChar char="•"/>
            </a:pPr>
            <a:r>
              <a:rPr lang="en-US" sz="1600" b="1" dirty="0">
                <a:solidFill>
                  <a:schemeClr val="tx1"/>
                </a:solidFill>
              </a:rPr>
              <a:t>Sai (The Perfect Match), </a:t>
            </a:r>
            <a:r>
              <a:rPr lang="en-US" sz="1600" dirty="0">
                <a:solidFill>
                  <a:schemeClr val="tx1"/>
                </a:solidFill>
              </a:rPr>
              <a:t>nudged by the AI agent Tilly into preferring the beautiful girl in the "2 + 2 = 4" T-shirt.</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64240" cy="365760"/>
          </a:xfrm>
          <a:prstGeom prst="rect">
            <a:avLst/>
          </a:prstGeom>
          <a:noFill/>
          <a:ln/>
        </p:spPr>
        <p:txBody>
          <a:bodyPr wrap="square" lIns="0" tIns="0" rIns="0" bIns="0" rtlCol="0"/>
          <a:lstStyle/>
          <a:p>
            <a:pPr marL="0" indent="0">
              <a:buNone/>
            </a:pPr>
            <a:r>
              <a:rPr lang="en-US" sz="1300" b="1" kern="0" spc="200" dirty="0">
                <a:solidFill>
                  <a:schemeClr val="accent1"/>
                </a:solidFill>
                <a:latin typeface="Calibri" pitchFamily="34" charset="0"/>
                <a:ea typeface="Calibri" pitchFamily="34" charset="-122"/>
                <a:cs typeface="Calibri" pitchFamily="34" charset="-120"/>
              </a:rPr>
              <a:t>SESSION 1 PRESENTATION</a:t>
            </a:r>
            <a:endParaRPr lang="en-US" sz="1300" dirty="0"/>
          </a:p>
        </p:txBody>
      </p:sp>
      <p:sp>
        <p:nvSpPr>
          <p:cNvPr id="3" name="Text 0"/>
          <p:cNvSpPr>
            <a:spLocks noGrp="1"/>
          </p:cNvSpPr>
          <p:nvPr>
            <p:ph type="title" idx="101" hasCustomPrompt="1"/>
          </p:nvPr>
        </p:nvSpPr>
        <p:spPr>
          <a:xfrm>
            <a:off x="548640" y="594360"/>
            <a:ext cx="11064240"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Some lenses</a:t>
            </a:r>
            <a:endParaRPr lang="en-US" sz="3400" dirty="0"/>
          </a:p>
        </p:txBody>
      </p:sp>
      <p:pic>
        <p:nvPicPr>
          <p:cNvPr id="4" name="lenses illustration" descr="An Arc of Stories and Lenses: four tales from the Age of Reason to the Crib, each paired with its thinkers"/>
          <p:cNvPicPr>
            <a:picLocks noChangeAspect="1"/>
          </p:cNvPicPr>
          <p:nvPr/>
        </p:nvPicPr>
        <p:blipFill>
          <a:blip r:embed="rId3"/>
          <a:stretch>
            <a:fillRect/>
          </a:stretch>
        </p:blipFill>
        <p:spPr>
          <a:xfrm>
            <a:off x="548640" y="1508760"/>
            <a:ext cx="6247453" cy="5029200"/>
          </a:xfrm>
          <a:prstGeom prst="rect">
            <a:avLst/>
          </a:prstGeom>
        </p:spPr>
      </p:pic>
      <p:sp>
        <p:nvSpPr>
          <p:cNvPr id="5" name="Text 2"/>
          <p:cNvSpPr txBox="1"/>
          <p:nvPr/>
        </p:nvSpPr>
        <p:spPr>
          <a:xfrm>
            <a:off x="7070413" y="1508760"/>
            <a:ext cx="4542467" cy="5029200"/>
          </a:xfrm>
          <a:prstGeom prst="rect">
            <a:avLst/>
          </a:prstGeom>
          <a:noFill/>
          <a:ln/>
        </p:spPr>
        <p:txBody>
          <a:bodyPr wrap="square" rtlCol="0" anchor="t"/>
          <a:lstStyle/>
          <a:p>
            <a:pPr marL="342900" indent="-342900">
              <a:spcAft>
                <a:spcPts val="500"/>
              </a:spcAft>
              <a:buSzPct val="100000"/>
              <a:buChar char="•"/>
            </a:pPr>
            <a:r>
              <a:rPr lang="en-US" sz="1500" b="1" dirty="0">
                <a:solidFill>
                  <a:schemeClr val="tx1"/>
                </a:solidFill>
              </a:rPr>
              <a:t>Human Outlier Analysis </a:t>
            </a:r>
            <a:r>
              <a:rPr lang="en-US" sz="1500" dirty="0">
                <a:solidFill>
                  <a:schemeClr val="tx1"/>
                </a:solidFill>
              </a:rPr>
              <a:t>(Michel Foucault)</a:t>
            </a:r>
            <a:endParaRPr lang="en-US" sz="1500" dirty="0"/>
          </a:p>
          <a:p>
            <a:pPr marL="355600" lvl="1" indent="-177800">
              <a:spcAft>
                <a:spcPts val="500"/>
              </a:spcAft>
              <a:buSzPct val="100000"/>
              <a:buChar char="•"/>
            </a:pPr>
            <a:r>
              <a:rPr lang="en-US" sz="1400" dirty="0">
                <a:solidFill>
                  <a:schemeClr val="tx2"/>
                </a:solidFill>
              </a:rPr>
              <a:t>Madness and confinement</a:t>
            </a:r>
            <a:endParaRPr lang="en-US" sz="1500" dirty="0"/>
          </a:p>
          <a:p>
            <a:pPr marL="355600" lvl="1" indent="-177800">
              <a:spcAft>
                <a:spcPts val="500"/>
              </a:spcAft>
              <a:buSzPct val="100000"/>
              <a:buChar char="•"/>
            </a:pPr>
            <a:r>
              <a:rPr lang="en-US" sz="1400" dirty="0">
                <a:solidFill>
                  <a:schemeClr val="tx2"/>
                </a:solidFill>
              </a:rPr>
              <a:t>Knowledge and limits of thought</a:t>
            </a:r>
            <a:endParaRPr lang="en-US" sz="1500" dirty="0"/>
          </a:p>
          <a:p>
            <a:pPr marL="355600" lvl="1" indent="-177800">
              <a:spcAft>
                <a:spcPts val="500"/>
              </a:spcAft>
              <a:buSzPct val="100000"/>
              <a:buChar char="•"/>
            </a:pPr>
            <a:r>
              <a:rPr lang="en-US" sz="1400" dirty="0">
                <a:solidFill>
                  <a:schemeClr val="tx2"/>
                </a:solidFill>
              </a:rPr>
              <a:t>Panopticism and disciplinary surveillance</a:t>
            </a:r>
            <a:endParaRPr lang="en-US" sz="1500" dirty="0"/>
          </a:p>
          <a:p>
            <a:pPr marL="342900" indent="-342900">
              <a:spcAft>
                <a:spcPts val="500"/>
              </a:spcAft>
              <a:buSzPct val="100000"/>
              <a:buChar char="•"/>
            </a:pPr>
            <a:r>
              <a:rPr lang="en-US" sz="1500" b="1" dirty="0">
                <a:solidFill>
                  <a:schemeClr val="tx1"/>
                </a:solidFill>
              </a:rPr>
              <a:t>Narrative Analysis </a:t>
            </a:r>
            <a:r>
              <a:rPr lang="en-US" sz="1500" dirty="0">
                <a:solidFill>
                  <a:schemeClr val="tx1"/>
                </a:solidFill>
              </a:rPr>
              <a:t>(Jerome Bruner)</a:t>
            </a:r>
            <a:endParaRPr lang="en-US" sz="1500" dirty="0"/>
          </a:p>
          <a:p>
            <a:pPr marL="342900" indent="-342900">
              <a:spcAft>
                <a:spcPts val="500"/>
              </a:spcAft>
              <a:buSzPct val="100000"/>
              <a:buChar char="•"/>
            </a:pPr>
            <a:r>
              <a:rPr lang="en-US" sz="1500" b="1" dirty="0">
                <a:solidFill>
                  <a:schemeClr val="tx1"/>
                </a:solidFill>
              </a:rPr>
              <a:t>Societal Control </a:t>
            </a:r>
            <a:r>
              <a:rPr lang="en-US" sz="1500" dirty="0">
                <a:solidFill>
                  <a:schemeClr val="tx1"/>
                </a:solidFill>
              </a:rPr>
              <a:t>(Gilles Deleuze)</a:t>
            </a:r>
            <a:endParaRPr lang="en-US" sz="1500" dirty="0"/>
          </a:p>
          <a:p>
            <a:pPr marL="355600" lvl="1" indent="-177800">
              <a:spcAft>
                <a:spcPts val="500"/>
              </a:spcAft>
              <a:buSzPct val="100000"/>
              <a:buChar char="•"/>
            </a:pPr>
            <a:r>
              <a:rPr lang="en-US" sz="1400" dirty="0">
                <a:solidFill>
                  <a:schemeClr val="tx2"/>
                </a:solidFill>
              </a:rPr>
              <a:t>Foucault's "enclosures" (prisons, schools, hospitals) are breaking down.</a:t>
            </a:r>
            <a:endParaRPr lang="en-US" sz="1500" dirty="0"/>
          </a:p>
          <a:p>
            <a:pPr marL="355600" lvl="1" indent="-177800">
              <a:spcAft>
                <a:spcPts val="500"/>
              </a:spcAft>
              <a:buSzPct val="100000"/>
              <a:buChar char="•"/>
            </a:pPr>
            <a:r>
              <a:rPr lang="en-US" sz="1400" dirty="0">
                <a:solidFill>
                  <a:schemeClr val="tx2"/>
                </a:solidFill>
              </a:rPr>
              <a:t>We are "dividuals": data points, bank codes, digital footprints tracked in a continuous loop.</a:t>
            </a:r>
            <a:endParaRPr lang="en-US" sz="1500" dirty="0"/>
          </a:p>
          <a:p>
            <a:pPr marL="355600" lvl="1" indent="-177800">
              <a:spcAft>
                <a:spcPts val="500"/>
              </a:spcAft>
              <a:buSzPct val="100000"/>
              <a:buChar char="•"/>
            </a:pPr>
            <a:r>
              <a:rPr lang="en-US" sz="1400" dirty="0">
                <a:solidFill>
                  <a:schemeClr val="tx2"/>
                </a:solidFill>
              </a:rPr>
              <a:t>Not a cage, but a network where control is fluid and constant.</a:t>
            </a:r>
            <a:endParaRPr lang="en-US" sz="1500" dirty="0"/>
          </a:p>
          <a:p>
            <a:pPr marL="342900" indent="-342900">
              <a:spcAft>
                <a:spcPts val="500"/>
              </a:spcAft>
              <a:buSzPct val="100000"/>
              <a:buChar char="•"/>
            </a:pPr>
            <a:r>
              <a:rPr lang="en-US" sz="1500" b="1" dirty="0">
                <a:solidFill>
                  <a:schemeClr val="tx1"/>
                </a:solidFill>
              </a:rPr>
              <a:t>False Needs </a:t>
            </a:r>
            <a:r>
              <a:rPr lang="en-US" sz="1500" dirty="0">
                <a:solidFill>
                  <a:schemeClr val="tx1"/>
                </a:solidFill>
              </a:rPr>
              <a:t>(Herbert Marcuse)</a:t>
            </a:r>
            <a:endParaRPr lang="en-US" sz="1500" dirty="0"/>
          </a:p>
          <a:p>
            <a:pPr marL="342900" indent="-342900">
              <a:spcAft>
                <a:spcPts val="500"/>
              </a:spcAft>
              <a:buSzPct val="100000"/>
              <a:buChar char="•"/>
            </a:pPr>
            <a:r>
              <a:rPr lang="en-US" sz="1500" b="1" dirty="0">
                <a:solidFill>
                  <a:schemeClr val="tx1"/>
                </a:solidFill>
              </a:rPr>
              <a:t>Surveillance Capitalism </a:t>
            </a:r>
            <a:r>
              <a:rPr lang="en-US" sz="1500" dirty="0">
                <a:solidFill>
                  <a:schemeClr val="tx1"/>
                </a:solidFill>
              </a:rPr>
              <a:t>(Shoshana Zuboff)</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theme/theme1.xml><?xml version="1.0" encoding="utf-8"?>
<a:theme xmlns:a="http://schemas.openxmlformats.org/drawingml/2006/main" name="Underground Sepia">
  <a:themeElements>
    <a:clrScheme name="Underground Sepia">
      <a:dk1>
        <a:srgbClr val="2B1D14"/>
      </a:dk1>
      <a:lt1>
        <a:srgbClr val="FFFFFF"/>
      </a:lt1>
      <a:dk2>
        <a:srgbClr val="5A3E2B"/>
      </a:dk2>
      <a:lt2>
        <a:srgbClr val="F4EEE6"/>
      </a:lt2>
      <a:accent1>
        <a:srgbClr val="9C3D1E"/>
      </a:accent1>
      <a:accent2>
        <a:srgbClr val="B9823A"/>
      </a:accent2>
      <a:accent3>
        <a:srgbClr val="3E5C5A"/>
      </a:accent3>
      <a:accent4>
        <a:srgbClr val="7A6A58"/>
      </a:accent4>
      <a:accent5>
        <a:srgbClr val="E3D5C1"/>
      </a:accent5>
      <a:accent6>
        <a:srgbClr val="6B4F3A"/>
      </a:accent6>
      <a:hlink>
        <a:srgbClr val="9C3D1E"/>
      </a:hlink>
      <a:folHlink>
        <a:srgbClr val="6B4F3A"/>
      </a:folHlink>
    </a:clrScheme>
    <a:fontScheme name="Underground Sepi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2088</Words>
  <Application>Microsoft Macintosh PowerPoint</Application>
  <PresentationFormat>Widescreen</PresentationFormat>
  <Paragraphs>239</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Underground Sepia</vt:lpstr>
      <vt:lpstr>Tales of Defiance to Mind Control in the Modern Age</vt:lpstr>
      <vt:lpstr>What we'll cover</vt:lpstr>
      <vt:lpstr>Russia under Alexander II, 1849–1881</vt:lpstr>
      <vt:lpstr>A reforming Tsar and the first nihilists</vt:lpstr>
      <vt:lpstr>Chernyshevsky's Crystal Palace</vt:lpstr>
      <vt:lpstr>Two writers, two Siberias, in opposite order</vt:lpstr>
      <vt:lpstr>"I am a sick man.... I am a spiteful man."</vt:lpstr>
      <vt:lpstr>What came after: a literary line and a violent one</vt:lpstr>
      <vt:lpstr>Larry Cedar as the Underground Man</vt:lpstr>
      <vt:lpstr>Not the Keys of a Piano</vt:lpstr>
      <vt:lpstr>Not the Keys of a Piano</vt:lpstr>
      <vt:lpstr>Not the Keys of a Piano</vt:lpstr>
      <vt:lpstr>How he leaves us</vt:lpstr>
      <vt:lpstr>Concrete questions about the Underground Man</vt:lpstr>
      <vt:lpstr>Through the lens of human outlier analysis</vt:lpstr>
      <vt:lpstr>Course overview</vt:lpstr>
      <vt:lpstr>Stories in a dystopian arc</vt:lpstr>
      <vt:lpstr>Some lenses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1: Notes from Underground</dc:title>
  <dc:subject>PptxGenJS Presentation</dc:subject>
  <dc:creator>Scott Axelrod</dc:creator>
  <cp:lastModifiedBy>Scott Axelrod</cp:lastModifiedBy>
  <cp:revision>2</cp:revision>
  <dcterms:created xsi:type="dcterms:W3CDTF">2026-10-30T07:39:29Z</dcterms:created>
  <dcterms:modified xsi:type="dcterms:W3CDTF">2026-10-30T07:48:49Z</dcterms:modified>
</cp:coreProperties>
</file>