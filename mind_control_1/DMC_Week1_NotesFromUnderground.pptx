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5-1.jpg" ContentType="image/jpg"/>
  <Override PartName="/ppt/media/image-1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c7c539-40e8-a9a0-cde9-1aac3b6a8003}">
          <p14:sldIdLst>
            <p14:sldId id="256"/>
            <p14:sldId id="257"/>
          </p14:sldIdLst>
        </p14:section>
        <p14:section name="Context" id="{ee546c37-9204-72ea-03dd-f38b8db63b5f}">
          <p14:sldIdLst>
            <p14:sldId id="258"/>
            <p14:sldId id="259"/>
          </p14:sldIdLst>
        </p14:section>
        <p14:section name="Clip 1 and concrete questions" id="{5a3c6b5e-6950-de0b-9e16-aed2b3d3587d}">
          <p14:sldIdLst>
            <p14:sldId id="260"/>
            <p14:sldId id="261"/>
          </p14:sldIdLst>
        </p14:section>
        <p14:section name="Dialogue" id="{94f33311-1957-373f-0fac-839022bd962e}">
          <p14:sldIdLst>
            <p14:sldId id="262"/>
            <p14:sldId id="263"/>
            <p14:sldId id="264"/>
            <p14:sldId id="265"/>
            <p14:sldId id="266"/>
          </p14:sldIdLst>
        </p14:section>
        <p14:section name="Abstract questions" id="{f22f5b21-8024-39b7-9fa0-23410d72b71c}">
          <p14:sldIdLst>
            <p14:sldId id="267"/>
          </p14:sldIdLst>
        </p14:section>
        <p14:section name="Segue to Tale 2" id="{e9a57126-a8e2-d0f6-d0a1-3ff6ff10df42}">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Session 1. Order of the session: opening go-round; context for Notes from Underground; Larry Cedar clip 1; concrete homework questions; framing; read the Avery &amp; Riley dialogue; clip 2; abstract questions; course overview pages.</a:t>
            </a:r>
          </a:p>
          <a:p/>
          <a:p>
            <a:r>
              <a:t>FACILITATION · TIME PLAN (assumes ~90 min; scale if different)</a:t>
            </a:r>
          </a:p>
          <a:p>
            <a:r>
              <a:t>Welcome + opening go-round + roadmap (slides 1–2): 10 min. Context (3–4, 7): 12 min. Clip 1 (5): 3 min. Concrete questions (6): 8 min. Dialogue (8–10): 12 min. Clip 2 (11): 3 min. Abstract questions (12): 27 min. Segue (13–16): 8 min. Buffer: 7 min.</a:t>
            </a:r>
          </a:p>
          <a:p>
            <a:r>
              <a:t>Aim for roughly 45% of the session in discussion. Keep the buffer for discussion overflow, not for lecture.</a:t>
            </a:r>
          </a:p>
          <a:p>
            <a:r>
              <a:t>OPENING GO-ROUND: ~5–7 min</a:t>
            </a:r>
          </a:p>
          <a:p>
            <a:r>
              <a:t>Can everyone see the screen and each other's name tags?</a:t>
            </a:r>
          </a:p>
          <a:p>
            <a:r>
              <a:t>Can I have a volunteer scribe to jot down the words and phrases?</a:t>
            </a:r>
          </a:p>
          <a:p>
            <a:r>
              <a:t>Please state your name and possibly a word or short phrase that stuck with you from the story.</a:t>
            </a:r>
          </a:p>
          <a:p>
            <a:r>
              <a:t>Start with: 'Scott. I am a sick man.'</a:t>
            </a:r>
          </a:p>
          <a:p>
            <a:r>
              <a:t>Don't respond or discuss; just thank each person and move on.</a:t>
            </a:r>
          </a:p>
          <a:p>
            <a:r>
              <a:t>Pay it off later, at slide 6 or 12: 'Three of you said spite. Let's start there.'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a:t>
            </a:r>
          </a:p>
          <a:p>
            <a:r>
              <a:t>A discussion session: short context, a dialogue, then mostly questions.</a:t>
            </a:r>
          </a:p>
          <a:p>
            <a:r>
              <a:t>Main event: slides 6–12.</a:t>
            </a:r>
          </a:p>
          <a:p>
            <a:r>
              <a:t>Questions welcome anytime; the scribe parks anything that would derail us.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~6–8 min · 5 CLICKS, one per period</a:t>
            </a:r>
          </a:p>
          <a:p>
            <a:r>
              <a:t>Don't read every bullet. Land three anchors: 1861 reforms, 1863–64 the debate, 1881 assassination.</a:t>
            </a:r>
          </a:p>
          <a:p>
            <a:r>
              <a:t>'?' on 1864 is deliberate: he opposes the radicals, but Notes doesn't defend the Tsar.</a:t>
            </a:r>
          </a:p>
          <a:p>
            <a:r>
              <a:t>'Shaken', not 'fallen': the autocracy lasts until 1917.</a:t>
            </a:r>
          </a:p>
          <a:p>
            <a:r>
              <a:t>Crystal Palace (1863): novella, not the show. Say it in passing.</a:t>
            </a:r>
          </a:p>
          <a:p>
            <a:r>
              <a:t>ONE check-in: 'Would you want to live in the Crystal Palace? What would you miss?' 2–3 answers.</a:t>
            </a:r>
          </a:p>
          <a:p/>
          <a:p>
            <a:r>
              <a:t>REF: Chernyshevsky wrote the novel in prison. The Palace is from Vera Pavlovna's Fourth Dream, modeled on London's 1851 hall. Lenin reused the title. 'Nihilist' named via Bazarov in Turgenev's Fathers and Sons (1862).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min · no discussion</a:t>
            </a:r>
          </a:p>
          <a:p>
            <a:r>
              <a:t>Dostoevsky: punished first, then writes.</a:t>
            </a:r>
          </a:p>
          <a:p>
            <a:r>
              <a:t>Chernyshevsky: writes first, then punished.</a:t>
            </a:r>
          </a:p>
          <a:p>
            <a:r>
              <a:t>So Dostoevsky attacks a dream he once partly shared.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 clip from 1:30</a:t>
            </a:r>
          </a:p>
          <a:p>
            <a:r>
              <a:t>Purpose: bring the show back to mind before the questions.</a:t>
            </a:r>
          </a:p>
          <a:p>
            <a:r>
              <a:t>Before: 'Listen for the tone: angry, sad, funny?'</a:t>
            </a:r>
          </a:p>
          <a:p>
            <a:r>
              <a:t>After: no discussion; go straight to the concrete questions.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 min · warm-up</a:t>
            </a:r>
          </a:p>
          <a:p>
            <a:r>
              <a:t>Pairs for 2–3 min, then a quick popcorn round.</a:t>
            </a:r>
          </a:p>
          <a:p>
            <a:r>
              <a:t>Use the scribe's list: 'Several of you said ___.'</a:t>
            </a:r>
          </a:p>
          <a:p>
            <a:r>
              <a:t>Deeper points: 'Hold that for after the dialogue.'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 min · SLOW DOWN: the questions build on this</a:t>
            </a:r>
          </a:p>
          <a:p>
            <a:r>
              <a:t>Show vs. novella tags: mention briefly.</a:t>
            </a:r>
          </a:p>
          <a:p>
            <a:r>
              <a:t>Optional clip: 17:58–19:00 (link on slide).</a:t>
            </a:r>
          </a:p>
          <a:p>
            <a:r>
              <a:t>Land the banner: the target is reason claiming totality, not reason itself.</a:t>
            </a:r>
          </a:p>
          <a:p>
            <a:r>
              <a:t>ONE question: 'Is the freedom to act against your own interest worth having?' 2–3 answers.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min · two volunteers read Avery and Riley</a:t>
            </a:r>
          </a:p>
          <a:p>
            <a:r>
              <a:t>No pause; keep the momentum.</a:t>
            </a:r>
          </a:p>
          <a:p>
            <a:r>
              <a:t>Time marks: 1:30, 6:40, 13:41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min</a:t>
            </a:r>
          </a:p>
          <a:p>
            <a:r>
              <a:t>PAUSE at the end: 'Is he a hero of freedom, or just spiteful?'</a:t>
            </a:r>
          </a:p>
          <a:p>
            <a:r>
              <a:t>2–3 views. Don't resolve: 'Hold that; Part 3 complicates it.'</a:t>
            </a:r>
          </a:p>
          <a:p>
            <a:r>
              <a:t>Time marks: 15:11, 18:29, 19:03</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min</a:t>
            </a:r>
          </a:p>
          <a:p>
            <a:r>
              <a:t>PAUSE at the end: 'Would we notice we'd stopped choosing?'</a:t>
            </a:r>
          </a:p>
          <a:p>
            <a:r>
              <a:t>Let the silence sit before calling on anyone.</a:t>
            </a:r>
          </a:p>
          <a:p>
            <a:r>
              <a:t>Time marks: 1:21:13, 1:24:03, 1:25:04, 1:29:45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 clip from 1:29:45</a:t>
            </a:r>
          </a:p>
          <a:p>
            <a:r>
              <a:t>After: one-word reactions around the room.</a:t>
            </a:r>
          </a:p>
          <a:p>
            <a:r>
              <a:t>Then: 'Let's take this to the bigger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~27 min · THE MAIN EVENT</a:t>
            </a:r>
          </a:p>
          <a:p>
            <a:r>
              <a:t>Pick 2–3 questions, 8–10 min each. Not all four.</a:t>
            </a:r>
          </a:p>
          <a:p>
            <a:r>
              <a:t>Start from the scribe's list where you can.</a:t>
            </a:r>
          </a:p>
          <a:p>
            <a:r>
              <a:t>Opener: 'Has anyone ever felt like the outlier in a group?'</a:t>
            </a:r>
          </a:p>
          <a:p>
            <a:r>
              <a:t>Anchor: 'Do we lose something if we dismiss him as mad?'</a:t>
            </a:r>
          </a:p>
          <a:p>
            <a:r>
              <a:t>Seed: 'Do you ever want to be managed for your own good?'</a:t>
            </a:r>
          </a:p>
          <a:p>
            <a:r>
              <a:t>Hold your view until 2–3 have spoken. 'Say more.' 'Who sees it differently?'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min · a trailer</a:t>
            </a:r>
          </a:p>
          <a:p>
            <a:r>
              <a:t>The literary line leads to 1984, our next tale. Stop there.</a:t>
            </a:r>
          </a:p>
          <a:p>
            <a:r>
              <a:t>If time: 'Which line of descent surprises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 overview only, no discussion</a:t>
            </a:r>
          </a:p>
          <a:p>
            <a:r>
              <a:t>Running long? 30 seconds.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a:t>
            </a:r>
          </a:p>
          <a:p>
            <a:r>
              <a:t>Through-line: 2 + 2. Crushed by 4, forced to believe 5, seeing 4 in binary, nudged toward 4.</a:t>
            </a:r>
          </a:p>
          <a:p>
            <a:r>
              <a:t>2 + 2 = 4 is from the novella, not the show (tag on slide).</a:t>
            </a:r>
          </a:p>
          <a:p>
            <a:r>
              <a:t>Optional: 'Which story are you most looking forward 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a:t>
            </a:r>
          </a:p>
          <a:p>
            <a:r>
              <a:t>Just name the lenses; they're in the Preface. We've already met Foucault today.</a:t>
            </a:r>
          </a:p>
          <a:p>
            <a:r>
              <a:t>Close: bring one example of control or defiance from your own life next week.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71600"/>
            <a:ext cx="10698480" cy="457200"/>
          </a:xfrm>
          <a:prstGeom prst="rect">
            <a:avLst/>
          </a:prstGeom>
          <a:noFill/>
          <a:ln/>
        </p:spPr>
        <p:txBody>
          <a:bodyPr wrap="square" rtlCol="0"/>
          <a:lstStyle>
            <a:lvl1pPr indent="0" marL="0">
              <a:buNone/>
              <a:defRPr lang="en-US" sz="1600" b="1" spc="300" kern="0" dirty="0">
                <a:solidFill>
                  <a:schemeClr val="accent2"/>
                </a:solidFill>
                <a:latin typeface="Calibri" pitchFamily="34" charset="0"/>
                <a:ea typeface="Calibri" pitchFamily="34" charset="-122"/>
                <a:cs typeface="Calibri" pitchFamily="34" charset="-120"/>
              </a:defRPr>
            </a:lvl1pPr>
          </a:lstStyle>
          <a:p>
            <a:pPr indent="0" marL="0">
              <a:buNone/>
            </a:pPr>
            <a:endParaRPr lang="en-US" sz="1600" dirty="0"/>
          </a:p>
        </p:txBody>
      </p:sp>
      <p:sp>
        <p:nvSpPr>
          <p:cNvPr id="3" name="Text 0"/>
          <p:cNvSpPr/>
          <p:nvPr>
            <p:ph idx="101" type="title" hasCustomPrompt="1"/>
          </p:nvPr>
        </p:nvSpPr>
        <p:spPr>
          <a:xfrm>
            <a:off x="731520" y="1828800"/>
            <a:ext cx="10698480" cy="20116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4" name="Text 0"/>
          <p:cNvSpPr/>
          <p:nvPr>
            <p:ph idx="102" type="body" hasCustomPrompt="1"/>
          </p:nvPr>
        </p:nvSpPr>
        <p:spPr>
          <a:xfrm>
            <a:off x="731520" y="4023360"/>
            <a:ext cx="10698480" cy="1463040"/>
          </a:xfrm>
          <a:prstGeom prst="rect">
            <a:avLst/>
          </a:prstGeom>
          <a:noFill/>
          <a:ln/>
        </p:spPr>
        <p:txBody>
          <a:bodyPr wrap="square" rtlCol="0"/>
          <a:lstStyle>
            <a:lvl1pPr indent="0" marL="0">
              <a:buNone/>
              <a:defRPr lang="en-US" sz="2000" dirty="0">
                <a:solidFill>
                  <a:schemeClr val="accent5"/>
                </a:solidFill>
                <a:latin typeface="Calibri" pitchFamily="34" charset="0"/>
                <a:ea typeface="Calibri" pitchFamily="34" charset="-122"/>
                <a:cs typeface="Calibri" pitchFamily="34" charset="-120"/>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rtlCol="0"/>
          <a:lstStyle>
            <a:lvl1pPr indent="0" marL="0">
              <a:buNone/>
              <a:defRPr lang="en-US" sz="13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IP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10698480" cy="457200"/>
          </a:xfrm>
          <a:prstGeom prst="rect">
            <a:avLst/>
          </a:prstGeom>
          <a:noFill/>
          <a:ln/>
        </p:spPr>
        <p:txBody>
          <a:bodyPr wrap="square" rtlCol="0"/>
          <a:lstStyle>
            <a:lvl1pPr indent="0" marL="0">
              <a:buNone/>
              <a:defRPr lang="en-US" sz="1600" b="1" spc="300" kern="0" dirty="0">
                <a:solidFill>
                  <a:schemeClr val="accent2"/>
                </a:solidFill>
                <a:latin typeface="Calibri" pitchFamily="34" charset="0"/>
                <a:ea typeface="Calibri" pitchFamily="34" charset="-122"/>
                <a:cs typeface="Calibri" pitchFamily="34" charset="-120"/>
              </a:defRPr>
            </a:lvl1pPr>
          </a:lstStyle>
          <a:p>
            <a:pPr indent="0" marL="0">
              <a:buNone/>
            </a:pPr>
            <a:endParaRPr lang="en-US" sz="1600" dirty="0"/>
          </a:p>
        </p:txBody>
      </p:sp>
      <p:sp>
        <p:nvSpPr>
          <p:cNvPr id="3" name="Text 0"/>
          <p:cNvSpPr/>
          <p:nvPr>
            <p:ph idx="101" type="title" hasCustomPrompt="1"/>
          </p:nvPr>
        </p:nvSpPr>
        <p:spPr>
          <a:xfrm>
            <a:off x="731520" y="1188720"/>
            <a:ext cx="1069848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hyperlink" Target="https://www.youtube.com/watch?v=asp5tqDql0g&amp;t=90s" TargetMode="External"/><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hyperlink" Target="https://www.youtube.com/watch?v=asp5tqDql0g&amp;start=1078&amp;end=1180" TargetMode="External"/><Relationship Id="rId3" Type="http://schemas.openxmlformats.org/officeDocument/2006/relationships/image" Target="../media/image-7-2.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hyperlink" Target="https://www.youtube.com/watch?v=asp5tqDql0g&amp;t=5385s" TargetMode="Externa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371600"/>
            <a:ext cx="10698480" cy="457200"/>
          </a:xfrm>
          <a:prstGeom prst="rect">
            <a:avLst/>
          </a:prstGeom>
          <a:noFill/>
          <a:ln/>
        </p:spPr>
        <p:txBody>
          <a:bodyPr wrap="square" rtlCol="0"/>
          <a:lstStyle/>
          <a:p>
            <a:pPr indent="0" marL="0">
              <a:buNone/>
            </a:pPr>
            <a:r>
              <a:rPr lang="en-US" sz="1600" b="1" spc="300" kern="0" dirty="0">
                <a:solidFill>
                  <a:schemeClr val="accent2"/>
                </a:solidFill>
                <a:latin typeface="Calibri" pitchFamily="34" charset="0"/>
                <a:ea typeface="Calibri" pitchFamily="34" charset="-122"/>
                <a:cs typeface="Calibri" pitchFamily="34" charset="-120"/>
              </a:rPr>
              <a:t>SESSION 1 PRESENTATION</a:t>
            </a:r>
            <a:endParaRPr lang="en-US" sz="1600" dirty="0"/>
          </a:p>
        </p:txBody>
      </p:sp>
      <p:sp>
        <p:nvSpPr>
          <p:cNvPr id="3" name="Text 0"/>
          <p:cNvSpPr/>
          <p:nvPr>
            <p:ph idx="101" type="title" hasCustomPrompt="1"/>
          </p:nvPr>
        </p:nvSpPr>
        <p:spPr>
          <a:xfrm>
            <a:off x="731520" y="1828800"/>
            <a:ext cx="10698480" cy="2011680"/>
          </a:xfrm>
          <a:prstGeom prst="rect">
            <a:avLst/>
          </a:prstGeom>
          <a:noFill/>
          <a:ln/>
        </p:spPr>
        <p:txBody>
          <a:bodyPr wrap="square"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Tales of Defiance to Mind Control in the Modern Age</a:t>
            </a:r>
            <a:endParaRPr lang="en-US" sz="4400" dirty="0"/>
          </a:p>
        </p:txBody>
      </p:sp>
      <p:sp>
        <p:nvSpPr>
          <p:cNvPr id="4" name="Text 0"/>
          <p:cNvSpPr/>
          <p:nvPr>
            <p:ph idx="102" type="body" hasCustomPrompt="1"/>
          </p:nvPr>
        </p:nvSpPr>
        <p:spPr>
          <a:xfrm>
            <a:off x="731520" y="4023360"/>
            <a:ext cx="10698480" cy="1463040"/>
          </a:xfrm>
          <a:prstGeom prst="rect">
            <a:avLst/>
          </a:prstGeom>
          <a:noFill/>
          <a:ln/>
        </p:spPr>
        <p:txBody>
          <a:bodyPr wrap="square" rtlCol="0" anchor="t"/>
          <a:lstStyle/>
          <a:p>
            <a:pPr indent="0" marL="0">
              <a:buNone/>
            </a:pPr>
            <a:r>
              <a:rPr lang="en-US" sz="2000" dirty="0">
                <a:solidFill>
                  <a:schemeClr val="accent5"/>
                </a:solidFill>
                <a:latin typeface="Calibri" pitchFamily="34" charset="0"/>
                <a:ea typeface="Calibri" pitchFamily="34" charset="-122"/>
                <a:cs typeface="Calibri" pitchFamily="34" charset="-120"/>
              </a:rPr>
              <a:t>Tale 1: Dostoevsky's </a:t>
            </a:r>
            <a:pPr indent="0" marL="0">
              <a:buNone/>
            </a:pPr>
            <a:r>
              <a:rPr lang="en-US" sz="2000" i="1" dirty="0">
                <a:solidFill>
                  <a:schemeClr val="accent5"/>
                </a:solidFill>
                <a:latin typeface="Calibri" pitchFamily="34" charset="0"/>
                <a:ea typeface="Calibri" pitchFamily="34" charset="-122"/>
                <a:cs typeface="Calibri" pitchFamily="34" charset="-120"/>
              </a:rPr>
              <a:t>Notes from Underground</a:t>
            </a:r>
            <a:pPr indent="0" marL="0">
              <a:buNone/>
            </a:pPr>
            <a:r>
              <a:rPr lang="en-US" sz="2000" dirty="0">
                <a:solidFill>
                  <a:schemeClr val="accent5"/>
                </a:solidFill>
                <a:latin typeface="Calibri" pitchFamily="34" charset="0"/>
                <a:ea typeface="Calibri" pitchFamily="34" charset="-122"/>
                <a:cs typeface="Calibri" pitchFamily="34" charset="-120"/>
              </a:rPr>
              <a:t> (1864)</a:t>
            </a:r>
            <a:endParaRPr lang="en-US" sz="2000" dirty="0"/>
          </a:p>
          <a:p>
            <a:pPr indent="0" marL="0">
              <a:buNone/>
            </a:pPr>
            <a:r>
              <a:rPr lang="en-US" sz="1600" dirty="0">
                <a:solidFill>
                  <a:schemeClr val="accent2"/>
                </a:solidFill>
                <a:latin typeface="Calibri" pitchFamily="34" charset="0"/>
                <a:ea typeface="Calibri" pitchFamily="34" charset="-122"/>
                <a:cs typeface="Calibri" pitchFamily="34" charset="-120"/>
              </a:rPr>
              <a:t>Scott Axelrod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SESSION 1 · TODAY</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What we'll cover</a:t>
            </a:r>
            <a:endParaRPr lang="en-US" sz="3400" dirty="0"/>
          </a:p>
        </p:txBody>
      </p:sp>
      <p:sp>
        <p:nvSpPr>
          <p:cNvPr id="4" name="agenda row 1"/>
          <p:cNvSpPr/>
          <p:nvPr/>
        </p:nvSpPr>
        <p:spPr>
          <a:xfrm>
            <a:off x="548640" y="1600200"/>
            <a:ext cx="11064240" cy="768096"/>
          </a:xfrm>
          <a:prstGeom prst="roundRect">
            <a:avLst>
              <a:gd name="adj" fmla="val 9524"/>
            </a:avLst>
          </a:prstGeom>
          <a:solidFill>
            <a:schemeClr val="bg2"/>
          </a:solidFill>
          <a:ln w="12700">
            <a:solidFill>
              <a:schemeClr val="bg2"/>
            </a:solidFill>
            <a:prstDash val="solid"/>
          </a:ln>
        </p:spPr>
      </p:sp>
      <p:sp>
        <p:nvSpPr>
          <p:cNvPr id="5" name="agenda 1 circle"/>
          <p:cNvSpPr/>
          <p:nvPr/>
        </p:nvSpPr>
        <p:spPr>
          <a:xfrm>
            <a:off x="777240" y="1709928"/>
            <a:ext cx="548640" cy="548640"/>
          </a:xfrm>
          <a:prstGeom prst="ellipse">
            <a:avLst/>
          </a:prstGeom>
          <a:solidFill>
            <a:schemeClr val="tx2"/>
          </a:solidFill>
          <a:ln w="12700">
            <a:solidFill>
              <a:schemeClr val="tx2"/>
            </a:solidFill>
            <a:prstDash val="solid"/>
          </a:ln>
        </p:spPr>
      </p:sp>
      <p:pic>
        <p:nvPicPr>
          <p:cNvPr id="6" name="agenda 1 icon" descr="agenda 1">    </p:cNvPr>
          <p:cNvPicPr>
            <a:picLocks noChangeAspect="1"/>
          </p:cNvPicPr>
          <p:nvPr/>
        </p:nvPicPr>
        <p:blipFill>
          <a:blip r:embed="rId1"/>
          <a:stretch>
            <a:fillRect/>
          </a:stretch>
        </p:blipFill>
        <p:spPr>
          <a:xfrm>
            <a:off x="897941" y="1830629"/>
            <a:ext cx="307238" cy="307238"/>
          </a:xfrm>
          <a:prstGeom prst="rect">
            <a:avLst/>
          </a:prstGeom>
        </p:spPr>
      </p:pic>
      <p:sp>
        <p:nvSpPr>
          <p:cNvPr id="7" name="Text 4"/>
          <p:cNvSpPr txBox="1"/>
          <p:nvPr/>
        </p:nvSpPr>
        <p:spPr>
          <a:xfrm>
            <a:off x="1600200" y="1600200"/>
            <a:ext cx="7772400" cy="768096"/>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Context of Notes from Underground</a:t>
            </a:r>
            <a:endParaRPr lang="en-US" sz="2200" dirty="0"/>
          </a:p>
        </p:txBody>
      </p:sp>
      <p:sp>
        <p:nvSpPr>
          <p:cNvPr id="8" name="Text 5"/>
          <p:cNvSpPr txBox="1"/>
          <p:nvPr/>
        </p:nvSpPr>
        <p:spPr>
          <a:xfrm>
            <a:off x="9418320" y="1600200"/>
            <a:ext cx="1965960" cy="768096"/>
          </a:xfrm>
          <a:prstGeom prst="rect">
            <a:avLst/>
          </a:prstGeom>
          <a:noFill/>
          <a:ln/>
        </p:spPr>
        <p:txBody>
          <a:bodyPr wrap="square" lIns="0" tIns="0" rIns="0" bIns="0" rtlCol="0" anchor="ctr"/>
          <a:lstStyle/>
          <a:p>
            <a:pPr algn="r" indent="0" marL="0">
              <a:buNone/>
            </a:pPr>
            <a:r>
              <a:rPr lang="en-US" sz="1600" dirty="0">
                <a:solidFill>
                  <a:schemeClr val="accent4"/>
                </a:solidFill>
              </a:rPr>
              <a:t>Slides 3–4</a:t>
            </a:r>
            <a:endParaRPr lang="en-US" sz="1600" dirty="0"/>
          </a:p>
        </p:txBody>
      </p:sp>
      <p:sp>
        <p:nvSpPr>
          <p:cNvPr id="9" name="agenda row 2"/>
          <p:cNvSpPr/>
          <p:nvPr/>
        </p:nvSpPr>
        <p:spPr>
          <a:xfrm>
            <a:off x="548640" y="2514600"/>
            <a:ext cx="11064240" cy="768096"/>
          </a:xfrm>
          <a:prstGeom prst="roundRect">
            <a:avLst>
              <a:gd name="adj" fmla="val 9524"/>
            </a:avLst>
          </a:prstGeom>
          <a:solidFill>
            <a:schemeClr val="accent1"/>
          </a:solidFill>
          <a:ln w="12700">
            <a:solidFill>
              <a:schemeClr val="accent1"/>
            </a:solidFill>
            <a:prstDash val="solid"/>
          </a:ln>
        </p:spPr>
      </p:sp>
      <p:sp>
        <p:nvSpPr>
          <p:cNvPr id="10" name="agenda 2 circle"/>
          <p:cNvSpPr/>
          <p:nvPr/>
        </p:nvSpPr>
        <p:spPr>
          <a:xfrm>
            <a:off x="777240" y="2624328"/>
            <a:ext cx="548640" cy="548640"/>
          </a:xfrm>
          <a:prstGeom prst="ellipse">
            <a:avLst/>
          </a:prstGeom>
          <a:solidFill>
            <a:schemeClr val="bg1"/>
          </a:solidFill>
          <a:ln w="12700">
            <a:solidFill>
              <a:schemeClr val="bg1"/>
            </a:solidFill>
            <a:prstDash val="solid"/>
          </a:ln>
        </p:spPr>
      </p:sp>
      <p:pic>
        <p:nvPicPr>
          <p:cNvPr id="11" name="agenda 2 icon" descr="agenda 2">    </p:cNvPr>
          <p:cNvPicPr>
            <a:picLocks noChangeAspect="1"/>
          </p:cNvPicPr>
          <p:nvPr/>
        </p:nvPicPr>
        <p:blipFill>
          <a:blip r:embed="rId2"/>
          <a:stretch>
            <a:fillRect/>
          </a:stretch>
        </p:blipFill>
        <p:spPr>
          <a:xfrm>
            <a:off x="897941" y="2745029"/>
            <a:ext cx="307238" cy="307238"/>
          </a:xfrm>
          <a:prstGeom prst="rect">
            <a:avLst/>
          </a:prstGeom>
        </p:spPr>
      </p:pic>
      <p:sp>
        <p:nvSpPr>
          <p:cNvPr id="12" name="Text 8"/>
          <p:cNvSpPr txBox="1"/>
          <p:nvPr/>
        </p:nvSpPr>
        <p:spPr>
          <a:xfrm>
            <a:off x="1600200" y="2514600"/>
            <a:ext cx="7772400" cy="768096"/>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Clip 1 and Concrete Questions</a:t>
            </a:r>
            <a:endParaRPr lang="en-US" sz="2200" dirty="0"/>
          </a:p>
        </p:txBody>
      </p:sp>
      <p:sp>
        <p:nvSpPr>
          <p:cNvPr id="13" name="Text 9"/>
          <p:cNvSpPr txBox="1"/>
          <p:nvPr/>
        </p:nvSpPr>
        <p:spPr>
          <a:xfrm>
            <a:off x="9418320" y="2514600"/>
            <a:ext cx="1965960" cy="768096"/>
          </a:xfrm>
          <a:prstGeom prst="rect">
            <a:avLst/>
          </a:prstGeom>
          <a:noFill/>
          <a:ln/>
        </p:spPr>
        <p:txBody>
          <a:bodyPr wrap="square" lIns="0" tIns="0" rIns="0" bIns="0" rtlCol="0" anchor="ctr"/>
          <a:lstStyle/>
          <a:p>
            <a:pPr algn="r" indent="0" marL="0">
              <a:buNone/>
            </a:pPr>
            <a:r>
              <a:rPr lang="en-US" sz="1600" dirty="0">
                <a:solidFill>
                  <a:schemeClr val="accent5"/>
                </a:solidFill>
              </a:rPr>
              <a:t>Slides 5–6</a:t>
            </a:r>
            <a:endParaRPr lang="en-US" sz="1600" dirty="0"/>
          </a:p>
        </p:txBody>
      </p:sp>
      <p:sp>
        <p:nvSpPr>
          <p:cNvPr id="14" name="agenda row 3"/>
          <p:cNvSpPr/>
          <p:nvPr/>
        </p:nvSpPr>
        <p:spPr>
          <a:xfrm>
            <a:off x="548640" y="3429000"/>
            <a:ext cx="11064240" cy="768096"/>
          </a:xfrm>
          <a:prstGeom prst="roundRect">
            <a:avLst>
              <a:gd name="adj" fmla="val 9524"/>
            </a:avLst>
          </a:prstGeom>
          <a:solidFill>
            <a:schemeClr val="accent1"/>
          </a:solidFill>
          <a:ln w="12700">
            <a:solidFill>
              <a:schemeClr val="accent1"/>
            </a:solidFill>
            <a:prstDash val="solid"/>
          </a:ln>
        </p:spPr>
      </p:sp>
      <p:sp>
        <p:nvSpPr>
          <p:cNvPr id="15" name="agenda 3 circle"/>
          <p:cNvSpPr/>
          <p:nvPr/>
        </p:nvSpPr>
        <p:spPr>
          <a:xfrm>
            <a:off x="777240" y="3538728"/>
            <a:ext cx="548640" cy="548640"/>
          </a:xfrm>
          <a:prstGeom prst="ellipse">
            <a:avLst/>
          </a:prstGeom>
          <a:solidFill>
            <a:schemeClr val="bg1"/>
          </a:solidFill>
          <a:ln w="12700">
            <a:solidFill>
              <a:schemeClr val="bg1"/>
            </a:solidFill>
            <a:prstDash val="solid"/>
          </a:ln>
        </p:spPr>
      </p:sp>
      <p:pic>
        <p:nvPicPr>
          <p:cNvPr id="16" name="agenda 3 icon" descr="agenda 3">    </p:cNvPr>
          <p:cNvPicPr>
            <a:picLocks noChangeAspect="1"/>
          </p:cNvPicPr>
          <p:nvPr/>
        </p:nvPicPr>
        <p:blipFill>
          <a:blip r:embed="rId3"/>
          <a:stretch>
            <a:fillRect/>
          </a:stretch>
        </p:blipFill>
        <p:spPr>
          <a:xfrm>
            <a:off x="897941" y="3659429"/>
            <a:ext cx="307238" cy="307238"/>
          </a:xfrm>
          <a:prstGeom prst="rect">
            <a:avLst/>
          </a:prstGeom>
        </p:spPr>
      </p:pic>
      <p:sp>
        <p:nvSpPr>
          <p:cNvPr id="17" name="Text 12"/>
          <p:cNvSpPr txBox="1"/>
          <p:nvPr/>
        </p:nvSpPr>
        <p:spPr>
          <a:xfrm>
            <a:off x="1600200" y="3429000"/>
            <a:ext cx="7772400" cy="768096"/>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A Dialog About Notes</a:t>
            </a:r>
            <a:endParaRPr lang="en-US" sz="2200" dirty="0"/>
          </a:p>
        </p:txBody>
      </p:sp>
      <p:sp>
        <p:nvSpPr>
          <p:cNvPr id="18" name="Text 13"/>
          <p:cNvSpPr txBox="1"/>
          <p:nvPr/>
        </p:nvSpPr>
        <p:spPr>
          <a:xfrm>
            <a:off x="9418320" y="3429000"/>
            <a:ext cx="1965960" cy="768096"/>
          </a:xfrm>
          <a:prstGeom prst="rect">
            <a:avLst/>
          </a:prstGeom>
          <a:noFill/>
          <a:ln/>
        </p:spPr>
        <p:txBody>
          <a:bodyPr wrap="square" lIns="0" tIns="0" rIns="0" bIns="0" rtlCol="0" anchor="ctr"/>
          <a:lstStyle/>
          <a:p>
            <a:pPr algn="r" indent="0" marL="0">
              <a:buNone/>
            </a:pPr>
            <a:r>
              <a:rPr lang="en-US" sz="1600" dirty="0">
                <a:solidFill>
                  <a:schemeClr val="accent5"/>
                </a:solidFill>
              </a:rPr>
              <a:t>Slides 7–11</a:t>
            </a:r>
            <a:endParaRPr lang="en-US" sz="1600" dirty="0"/>
          </a:p>
        </p:txBody>
      </p:sp>
      <p:sp>
        <p:nvSpPr>
          <p:cNvPr id="19" name="agenda row 4"/>
          <p:cNvSpPr/>
          <p:nvPr/>
        </p:nvSpPr>
        <p:spPr>
          <a:xfrm>
            <a:off x="548640" y="4343400"/>
            <a:ext cx="11064240" cy="768096"/>
          </a:xfrm>
          <a:prstGeom prst="roundRect">
            <a:avLst>
              <a:gd name="adj" fmla="val 9524"/>
            </a:avLst>
          </a:prstGeom>
          <a:solidFill>
            <a:schemeClr val="accent1"/>
          </a:solidFill>
          <a:ln w="12700">
            <a:solidFill>
              <a:schemeClr val="accent1"/>
            </a:solidFill>
            <a:prstDash val="solid"/>
          </a:ln>
        </p:spPr>
      </p:sp>
      <p:sp>
        <p:nvSpPr>
          <p:cNvPr id="20" name="agenda 4 circle"/>
          <p:cNvSpPr/>
          <p:nvPr/>
        </p:nvSpPr>
        <p:spPr>
          <a:xfrm>
            <a:off x="777240" y="4453128"/>
            <a:ext cx="548640" cy="548640"/>
          </a:xfrm>
          <a:prstGeom prst="ellipse">
            <a:avLst/>
          </a:prstGeom>
          <a:solidFill>
            <a:schemeClr val="bg1"/>
          </a:solidFill>
          <a:ln w="12700">
            <a:solidFill>
              <a:schemeClr val="bg1"/>
            </a:solidFill>
            <a:prstDash val="solid"/>
          </a:ln>
        </p:spPr>
      </p:sp>
      <p:pic>
        <p:nvPicPr>
          <p:cNvPr id="21" name="agenda 4 icon" descr="agenda 4">    </p:cNvPr>
          <p:cNvPicPr>
            <a:picLocks noChangeAspect="1"/>
          </p:cNvPicPr>
          <p:nvPr/>
        </p:nvPicPr>
        <p:blipFill>
          <a:blip r:embed="rId4"/>
          <a:stretch>
            <a:fillRect/>
          </a:stretch>
        </p:blipFill>
        <p:spPr>
          <a:xfrm>
            <a:off x="897941" y="4573829"/>
            <a:ext cx="307238" cy="307238"/>
          </a:xfrm>
          <a:prstGeom prst="rect">
            <a:avLst/>
          </a:prstGeom>
        </p:spPr>
      </p:pic>
      <p:sp>
        <p:nvSpPr>
          <p:cNvPr id="22" name="Text 16"/>
          <p:cNvSpPr txBox="1"/>
          <p:nvPr/>
        </p:nvSpPr>
        <p:spPr>
          <a:xfrm>
            <a:off x="1600200" y="4343400"/>
            <a:ext cx="7772400" cy="768096"/>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Abstract Questions</a:t>
            </a:r>
            <a:endParaRPr lang="en-US" sz="2200" dirty="0"/>
          </a:p>
        </p:txBody>
      </p:sp>
      <p:sp>
        <p:nvSpPr>
          <p:cNvPr id="23" name="Text 17"/>
          <p:cNvSpPr txBox="1"/>
          <p:nvPr/>
        </p:nvSpPr>
        <p:spPr>
          <a:xfrm>
            <a:off x="9418320" y="4343400"/>
            <a:ext cx="1965960" cy="768096"/>
          </a:xfrm>
          <a:prstGeom prst="rect">
            <a:avLst/>
          </a:prstGeom>
          <a:noFill/>
          <a:ln/>
        </p:spPr>
        <p:txBody>
          <a:bodyPr wrap="square" lIns="0" tIns="0" rIns="0" bIns="0" rtlCol="0" anchor="ctr"/>
          <a:lstStyle/>
          <a:p>
            <a:pPr algn="r" indent="0" marL="0">
              <a:buNone/>
            </a:pPr>
            <a:r>
              <a:rPr lang="en-US" sz="1600" dirty="0">
                <a:solidFill>
                  <a:schemeClr val="accent5"/>
                </a:solidFill>
              </a:rPr>
              <a:t>Slide 12</a:t>
            </a:r>
            <a:endParaRPr lang="en-US" sz="1600" dirty="0"/>
          </a:p>
        </p:txBody>
      </p:sp>
      <p:sp>
        <p:nvSpPr>
          <p:cNvPr id="24" name="agenda row 5"/>
          <p:cNvSpPr/>
          <p:nvPr/>
        </p:nvSpPr>
        <p:spPr>
          <a:xfrm>
            <a:off x="548640" y="5257800"/>
            <a:ext cx="11064240" cy="768096"/>
          </a:xfrm>
          <a:prstGeom prst="roundRect">
            <a:avLst>
              <a:gd name="adj" fmla="val 9524"/>
            </a:avLst>
          </a:prstGeom>
          <a:solidFill>
            <a:schemeClr val="bg2"/>
          </a:solidFill>
          <a:ln w="12700">
            <a:solidFill>
              <a:schemeClr val="bg2"/>
            </a:solidFill>
            <a:prstDash val="solid"/>
          </a:ln>
        </p:spPr>
      </p:sp>
      <p:sp>
        <p:nvSpPr>
          <p:cNvPr id="25" name="agenda 5 circle"/>
          <p:cNvSpPr/>
          <p:nvPr/>
        </p:nvSpPr>
        <p:spPr>
          <a:xfrm>
            <a:off x="777240" y="5367528"/>
            <a:ext cx="548640" cy="548640"/>
          </a:xfrm>
          <a:prstGeom prst="ellipse">
            <a:avLst/>
          </a:prstGeom>
          <a:solidFill>
            <a:schemeClr val="tx2"/>
          </a:solidFill>
          <a:ln w="12700">
            <a:solidFill>
              <a:schemeClr val="tx2"/>
            </a:solidFill>
            <a:prstDash val="solid"/>
          </a:ln>
        </p:spPr>
      </p:sp>
      <p:pic>
        <p:nvPicPr>
          <p:cNvPr id="26" name="agenda 5 icon" descr="agenda 5">    </p:cNvPr>
          <p:cNvPicPr>
            <a:picLocks noChangeAspect="1"/>
          </p:cNvPicPr>
          <p:nvPr/>
        </p:nvPicPr>
        <p:blipFill>
          <a:blip r:embed="rId5"/>
          <a:stretch>
            <a:fillRect/>
          </a:stretch>
        </p:blipFill>
        <p:spPr>
          <a:xfrm>
            <a:off x="897941" y="5488229"/>
            <a:ext cx="307238" cy="307238"/>
          </a:xfrm>
          <a:prstGeom prst="rect">
            <a:avLst/>
          </a:prstGeom>
        </p:spPr>
      </p:pic>
      <p:sp>
        <p:nvSpPr>
          <p:cNvPr id="27" name="Text 20"/>
          <p:cNvSpPr txBox="1"/>
          <p:nvPr/>
        </p:nvSpPr>
        <p:spPr>
          <a:xfrm>
            <a:off x="1600200" y="5257800"/>
            <a:ext cx="7772400" cy="768096"/>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Toward 1984: Legacy, Cartoon Summary, Arc, and Lenses</a:t>
            </a:r>
            <a:endParaRPr lang="en-US" sz="2200" dirty="0"/>
          </a:p>
        </p:txBody>
      </p:sp>
      <p:sp>
        <p:nvSpPr>
          <p:cNvPr id="28" name="Text 21"/>
          <p:cNvSpPr txBox="1"/>
          <p:nvPr/>
        </p:nvSpPr>
        <p:spPr>
          <a:xfrm>
            <a:off x="9418320" y="5257800"/>
            <a:ext cx="1965960" cy="768096"/>
          </a:xfrm>
          <a:prstGeom prst="rect">
            <a:avLst/>
          </a:prstGeom>
          <a:noFill/>
          <a:ln/>
        </p:spPr>
        <p:txBody>
          <a:bodyPr wrap="square" lIns="0" tIns="0" rIns="0" bIns="0" rtlCol="0" anchor="ctr"/>
          <a:lstStyle/>
          <a:p>
            <a:pPr algn="r" indent="0" marL="0">
              <a:buNone/>
            </a:pPr>
            <a:r>
              <a:rPr lang="en-US" sz="1600" dirty="0">
                <a:solidFill>
                  <a:schemeClr val="accent4"/>
                </a:solidFill>
              </a:rPr>
              <a:t>Slides 13–16</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CONTEXT · NOTES FROM UNDERGROUND</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Russia under Alexander II, 1855–1881</a:t>
            </a:r>
            <a:endParaRPr lang="en-US" sz="3400" dirty="0"/>
          </a:p>
        </p:txBody>
      </p:sp>
      <p:sp>
        <p:nvSpPr>
          <p:cNvPr id="4" name="1864 column tint"/>
          <p:cNvSpPr/>
          <p:nvPr/>
        </p:nvSpPr>
        <p:spPr>
          <a:xfrm>
            <a:off x="7232904" y="1463040"/>
            <a:ext cx="2121408" cy="4892040"/>
          </a:xfrm>
          <a:prstGeom prst="roundRect">
            <a:avLst>
              <a:gd name="adj" fmla="val 3448"/>
            </a:avLst>
          </a:prstGeom>
          <a:solidFill>
            <a:schemeClr val="bg2"/>
          </a:solidFill>
          <a:ln w="12700">
            <a:solidFill>
              <a:schemeClr val="bg2"/>
            </a:solidFill>
            <a:prstDash val="solid"/>
          </a:ln>
        </p:spPr>
      </p:sp>
      <p:sp>
        <p:nvSpPr>
          <p:cNvPr id="5" name="timeline axis"/>
          <p:cNvSpPr/>
          <p:nvPr/>
        </p:nvSpPr>
        <p:spPr>
          <a:xfrm>
            <a:off x="685800" y="2971800"/>
            <a:ext cx="10789920" cy="0"/>
          </a:xfrm>
          <a:prstGeom prst="line">
            <a:avLst/>
          </a:prstGeom>
          <a:noFill/>
          <a:ln w="31750">
            <a:solidFill>
              <a:schemeClr val="accent4"/>
            </a:solidFill>
            <a:prstDash val="solid"/>
          </a:ln>
        </p:spPr>
      </p:sp>
      <p:sp>
        <p:nvSpPr>
          <p:cNvPr id="6" name="divider 1"/>
          <p:cNvSpPr/>
          <p:nvPr/>
        </p:nvSpPr>
        <p:spPr>
          <a:xfrm>
            <a:off x="2761488" y="1463040"/>
            <a:ext cx="0" cy="4892040"/>
          </a:xfrm>
          <a:prstGeom prst="line">
            <a:avLst/>
          </a:prstGeom>
          <a:noFill/>
          <a:ln w="15875">
            <a:solidFill>
              <a:schemeClr val="accent5"/>
            </a:solidFill>
            <a:prstDash val="solid"/>
          </a:ln>
        </p:spPr>
      </p:sp>
      <p:sp>
        <p:nvSpPr>
          <p:cNvPr id="7" name="divider 2"/>
          <p:cNvSpPr/>
          <p:nvPr/>
        </p:nvSpPr>
        <p:spPr>
          <a:xfrm>
            <a:off x="4974336" y="1463040"/>
            <a:ext cx="0" cy="4892040"/>
          </a:xfrm>
          <a:prstGeom prst="line">
            <a:avLst/>
          </a:prstGeom>
          <a:noFill/>
          <a:ln w="15875">
            <a:solidFill>
              <a:schemeClr val="accent5"/>
            </a:solidFill>
            <a:prstDash val="solid"/>
          </a:ln>
        </p:spPr>
      </p:sp>
      <p:sp>
        <p:nvSpPr>
          <p:cNvPr id="8" name="divider 3"/>
          <p:cNvSpPr/>
          <p:nvPr/>
        </p:nvSpPr>
        <p:spPr>
          <a:xfrm>
            <a:off x="7187184" y="1463040"/>
            <a:ext cx="0" cy="4892040"/>
          </a:xfrm>
          <a:prstGeom prst="line">
            <a:avLst/>
          </a:prstGeom>
          <a:noFill/>
          <a:ln w="15875">
            <a:solidFill>
              <a:schemeClr val="accent5"/>
            </a:solidFill>
            <a:prstDash val="solid"/>
          </a:ln>
        </p:spPr>
      </p:sp>
      <p:sp>
        <p:nvSpPr>
          <p:cNvPr id="9" name="divider 4"/>
          <p:cNvSpPr/>
          <p:nvPr/>
        </p:nvSpPr>
        <p:spPr>
          <a:xfrm>
            <a:off x="9400032" y="1463040"/>
            <a:ext cx="0" cy="4892040"/>
          </a:xfrm>
          <a:prstGeom prst="line">
            <a:avLst/>
          </a:prstGeom>
          <a:noFill/>
          <a:ln w="15875">
            <a:solidFill>
              <a:schemeClr val="accent5"/>
            </a:solidFill>
            <a:prstDash val="solid"/>
          </a:ln>
        </p:spPr>
      </p:sp>
      <p:sp>
        <p:nvSpPr>
          <p:cNvPr id="10" name="heading 1855"/>
          <p:cNvSpPr txBox="1"/>
          <p:nvPr/>
        </p:nvSpPr>
        <p:spPr>
          <a:xfrm>
            <a:off x="685800" y="1508760"/>
            <a:ext cx="1938528" cy="658368"/>
          </a:xfrm>
          <a:prstGeom prst="rect">
            <a:avLst/>
          </a:prstGeom>
          <a:noFill/>
          <a:ln/>
        </p:spPr>
        <p:txBody>
          <a:bodyPr wrap="square" lIns="0" tIns="0" rIns="0" bIns="0" rtlCol="0" anchor="b"/>
          <a:lstStyle/>
          <a:p>
            <a:pPr algn="ctr" indent="0" marL="0">
              <a:buNone/>
            </a:pPr>
            <a:r>
              <a:rPr lang="en-US" sz="1600" b="1" i="1" dirty="0">
                <a:solidFill>
                  <a:schemeClr val="accent3"/>
                </a:solidFill>
                <a:latin typeface="Cambria" pitchFamily="34" charset="0"/>
                <a:ea typeface="Cambria" pitchFamily="34" charset="-122"/>
                <a:cs typeface="Cambria" pitchFamily="34" charset="-120"/>
              </a:rPr>
              <a:t>Establishment</a:t>
            </a:r>
            <a:endParaRPr lang="en-US" sz="1600" dirty="0"/>
          </a:p>
        </p:txBody>
      </p:sp>
      <p:sp>
        <p:nvSpPr>
          <p:cNvPr id="11" name="year 1855"/>
          <p:cNvSpPr txBox="1"/>
          <p:nvPr/>
        </p:nvSpPr>
        <p:spPr>
          <a:xfrm>
            <a:off x="685800" y="2212848"/>
            <a:ext cx="1938528" cy="50292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1855</a:t>
            </a:r>
            <a:endParaRPr lang="en-US" sz="2600" dirty="0"/>
          </a:p>
        </p:txBody>
      </p:sp>
      <p:sp>
        <p:nvSpPr>
          <p:cNvPr id="12" name="dot 1855"/>
          <p:cNvSpPr/>
          <p:nvPr/>
        </p:nvSpPr>
        <p:spPr>
          <a:xfrm>
            <a:off x="1536192" y="2852928"/>
            <a:ext cx="237744" cy="237744"/>
          </a:xfrm>
          <a:prstGeom prst="ellipse">
            <a:avLst/>
          </a:prstGeom>
          <a:solidFill>
            <a:schemeClr val="tx2"/>
          </a:solidFill>
          <a:ln w="25400">
            <a:solidFill>
              <a:schemeClr val="bg1"/>
            </a:solidFill>
            <a:prstDash val="solid"/>
          </a:ln>
        </p:spPr>
      </p:sp>
      <p:sp>
        <p:nvSpPr>
          <p:cNvPr id="13" name="event 1855"/>
          <p:cNvSpPr txBox="1"/>
          <p:nvPr/>
        </p:nvSpPr>
        <p:spPr>
          <a:xfrm>
            <a:off x="685800" y="3246120"/>
            <a:ext cx="1938528" cy="658368"/>
          </a:xfrm>
          <a:prstGeom prst="rect">
            <a:avLst/>
          </a:prstGeom>
          <a:noFill/>
          <a:ln/>
        </p:spPr>
        <p:txBody>
          <a:bodyPr wrap="square" lIns="0" tIns="0" rIns="0" bIns="0" rtlCol="0" anchor="t"/>
          <a:lstStyle/>
          <a:p>
            <a:pPr algn="ctr" indent="0" marL="0">
              <a:buNone/>
            </a:pPr>
            <a:r>
              <a:rPr lang="en-US" sz="1500" b="1" dirty="0">
                <a:solidFill>
                  <a:schemeClr val="tx1"/>
                </a:solidFill>
              </a:rPr>
              <a:t>Alexander II takes the throne</a:t>
            </a:r>
            <a:endParaRPr lang="en-US" sz="1500" dirty="0"/>
          </a:p>
        </p:txBody>
      </p:sp>
      <p:sp>
        <p:nvSpPr>
          <p:cNvPr id="14" name="points 1855"/>
          <p:cNvSpPr txBox="1"/>
          <p:nvPr/>
        </p:nvSpPr>
        <p:spPr>
          <a:xfrm>
            <a:off x="685800" y="3977640"/>
            <a:ext cx="1938528" cy="210312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2"/>
                </a:solidFill>
              </a:rPr>
              <a:t>Autocrat over an empire of serfs</a:t>
            </a:r>
            <a:endParaRPr lang="en-US" sz="1400" dirty="0"/>
          </a:p>
          <a:p>
            <a:pPr marL="152400" indent="-152400">
              <a:spcAft>
                <a:spcPts val="600"/>
              </a:spcAft>
              <a:buSzPct val="100000"/>
              <a:buChar char="•"/>
            </a:pPr>
            <a:r>
              <a:rPr lang="en-US" sz="1400" dirty="0">
                <a:solidFill>
                  <a:schemeClr val="tx2"/>
                </a:solidFill>
              </a:rPr>
              <a:t>Soon launches the Great Reforms</a:t>
            </a:r>
            <a:endParaRPr lang="en-US" sz="1400" dirty="0"/>
          </a:p>
        </p:txBody>
      </p:sp>
      <p:sp>
        <p:nvSpPr>
          <p:cNvPr id="15" name="heading 1861"/>
          <p:cNvSpPr txBox="1"/>
          <p:nvPr/>
        </p:nvSpPr>
        <p:spPr>
          <a:xfrm>
            <a:off x="2898648" y="1508760"/>
            <a:ext cx="1938528" cy="658368"/>
          </a:xfrm>
          <a:prstGeom prst="rect">
            <a:avLst/>
          </a:prstGeom>
          <a:noFill/>
          <a:ln/>
        </p:spPr>
        <p:txBody>
          <a:bodyPr wrap="square" lIns="0" tIns="0" rIns="0" bIns="0" rtlCol="0" anchor="b"/>
          <a:lstStyle/>
          <a:p>
            <a:pPr algn="ctr" indent="0" marL="0">
              <a:buNone/>
            </a:pPr>
            <a:r>
              <a:rPr lang="en-US" sz="1600" b="1" i="1" dirty="0">
                <a:solidFill>
                  <a:schemeClr val="accent3"/>
                </a:solidFill>
                <a:latin typeface="Cambria" pitchFamily="34" charset="0"/>
                <a:ea typeface="Cambria" pitchFamily="34" charset="-122"/>
                <a:cs typeface="Cambria" pitchFamily="34" charset="-120"/>
              </a:rPr>
              <a:t>Loosens, then cracks down</a:t>
            </a:r>
            <a:endParaRPr lang="en-US" sz="1600" dirty="0"/>
          </a:p>
        </p:txBody>
      </p:sp>
      <p:sp>
        <p:nvSpPr>
          <p:cNvPr id="16" name="year 1861"/>
          <p:cNvSpPr txBox="1"/>
          <p:nvPr/>
        </p:nvSpPr>
        <p:spPr>
          <a:xfrm>
            <a:off x="2898648" y="2212848"/>
            <a:ext cx="1938528" cy="50292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1861</a:t>
            </a:r>
            <a:endParaRPr lang="en-US" sz="2600" dirty="0"/>
          </a:p>
        </p:txBody>
      </p:sp>
      <p:sp>
        <p:nvSpPr>
          <p:cNvPr id="17" name="dot 1861"/>
          <p:cNvSpPr/>
          <p:nvPr/>
        </p:nvSpPr>
        <p:spPr>
          <a:xfrm>
            <a:off x="3749040" y="2852928"/>
            <a:ext cx="237744" cy="237744"/>
          </a:xfrm>
          <a:prstGeom prst="ellipse">
            <a:avLst/>
          </a:prstGeom>
          <a:solidFill>
            <a:schemeClr val="tx2"/>
          </a:solidFill>
          <a:ln w="25400">
            <a:solidFill>
              <a:schemeClr val="bg1"/>
            </a:solidFill>
            <a:prstDash val="solid"/>
          </a:ln>
        </p:spPr>
      </p:sp>
      <p:sp>
        <p:nvSpPr>
          <p:cNvPr id="18" name="event 1861"/>
          <p:cNvSpPr txBox="1"/>
          <p:nvPr/>
        </p:nvSpPr>
        <p:spPr>
          <a:xfrm>
            <a:off x="2898648" y="3246120"/>
            <a:ext cx="1938528" cy="658368"/>
          </a:xfrm>
          <a:prstGeom prst="rect">
            <a:avLst/>
          </a:prstGeom>
          <a:noFill/>
          <a:ln/>
        </p:spPr>
        <p:txBody>
          <a:bodyPr wrap="square" lIns="0" tIns="0" rIns="0" bIns="0" rtlCol="0" anchor="t"/>
          <a:lstStyle/>
          <a:p>
            <a:pPr algn="ctr" indent="0" marL="0">
              <a:buNone/>
            </a:pPr>
            <a:r>
              <a:rPr lang="en-US" sz="1500" b="1" dirty="0">
                <a:solidFill>
                  <a:schemeClr val="tx1"/>
                </a:solidFill>
              </a:rPr>
              <a:t>Serfs freed; censorship loosened</a:t>
            </a:r>
            <a:endParaRPr lang="en-US" sz="1500" dirty="0"/>
          </a:p>
        </p:txBody>
      </p:sp>
      <p:sp>
        <p:nvSpPr>
          <p:cNvPr id="19" name="points 1861"/>
          <p:cNvSpPr txBox="1"/>
          <p:nvPr/>
        </p:nvSpPr>
        <p:spPr>
          <a:xfrm>
            <a:off x="2898648" y="3977640"/>
            <a:ext cx="1938528" cy="210312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2"/>
                </a:solidFill>
              </a:rPr>
              <a:t>Reforms make room for radicals</a:t>
            </a:r>
            <a:endParaRPr lang="en-US" sz="1400" dirty="0"/>
          </a:p>
          <a:p>
            <a:pPr marL="152400" indent="-152400">
              <a:spcAft>
                <a:spcPts val="600"/>
              </a:spcAft>
              <a:buSzPct val="100000"/>
              <a:buChar char="•"/>
            </a:pPr>
            <a:r>
              <a:rPr lang="en-US" sz="1400" dirty="0">
                <a:solidFill>
                  <a:schemeClr val="tx2"/>
                </a:solidFill>
              </a:rPr>
              <a:t>Radicals want more; the government cracks down</a:t>
            </a:r>
            <a:endParaRPr lang="en-US" sz="1400" dirty="0"/>
          </a:p>
        </p:txBody>
      </p:sp>
      <p:sp>
        <p:nvSpPr>
          <p:cNvPr id="20" name="heading 1863"/>
          <p:cNvSpPr txBox="1"/>
          <p:nvPr/>
        </p:nvSpPr>
        <p:spPr>
          <a:xfrm>
            <a:off x="5111496" y="1508760"/>
            <a:ext cx="1938528" cy="658368"/>
          </a:xfrm>
          <a:prstGeom prst="rect">
            <a:avLst/>
          </a:prstGeom>
          <a:noFill/>
          <a:ln/>
        </p:spPr>
        <p:txBody>
          <a:bodyPr wrap="square" lIns="0" tIns="0" rIns="0" bIns="0" rtlCol="0" anchor="b"/>
          <a:lstStyle/>
          <a:p>
            <a:pPr algn="ctr" indent="0" marL="0">
              <a:buNone/>
            </a:pPr>
            <a:r>
              <a:rPr lang="en-US" sz="1600" b="1" i="1" dirty="0">
                <a:solidFill>
                  <a:schemeClr val="accent3"/>
                </a:solidFill>
                <a:latin typeface="Cambria" pitchFamily="34" charset="0"/>
                <a:ea typeface="Cambria" pitchFamily="34" charset="-122"/>
                <a:cs typeface="Cambria" pitchFamily="34" charset="-120"/>
              </a:rPr>
              <a:t>Disestablishment</a:t>
            </a:r>
            <a:endParaRPr lang="en-US" sz="1600" dirty="0"/>
          </a:p>
        </p:txBody>
      </p:sp>
      <p:sp>
        <p:nvSpPr>
          <p:cNvPr id="21" name="year 1863"/>
          <p:cNvSpPr txBox="1"/>
          <p:nvPr/>
        </p:nvSpPr>
        <p:spPr>
          <a:xfrm>
            <a:off x="5111496" y="2212848"/>
            <a:ext cx="1938528" cy="50292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1863</a:t>
            </a:r>
            <a:endParaRPr lang="en-US" sz="2600" dirty="0"/>
          </a:p>
        </p:txBody>
      </p:sp>
      <p:sp>
        <p:nvSpPr>
          <p:cNvPr id="22" name="dot 1863"/>
          <p:cNvSpPr/>
          <p:nvPr/>
        </p:nvSpPr>
        <p:spPr>
          <a:xfrm>
            <a:off x="5961888" y="2852928"/>
            <a:ext cx="237744" cy="237744"/>
          </a:xfrm>
          <a:prstGeom prst="ellipse">
            <a:avLst/>
          </a:prstGeom>
          <a:solidFill>
            <a:schemeClr val="tx2"/>
          </a:solidFill>
          <a:ln w="25400">
            <a:solidFill>
              <a:schemeClr val="bg1"/>
            </a:solidFill>
            <a:prstDash val="solid"/>
          </a:ln>
        </p:spPr>
      </p:sp>
      <p:sp>
        <p:nvSpPr>
          <p:cNvPr id="23" name="event 1863"/>
          <p:cNvSpPr txBox="1"/>
          <p:nvPr/>
        </p:nvSpPr>
        <p:spPr>
          <a:xfrm>
            <a:off x="5111496" y="3246120"/>
            <a:ext cx="1938528" cy="658368"/>
          </a:xfrm>
          <a:prstGeom prst="rect">
            <a:avLst/>
          </a:prstGeom>
          <a:noFill/>
          <a:ln/>
        </p:spPr>
        <p:txBody>
          <a:bodyPr wrap="square" lIns="0" tIns="0" rIns="0" bIns="0" rtlCol="0" anchor="t"/>
          <a:lstStyle/>
          <a:p>
            <a:pPr algn="ctr" indent="0" marL="0">
              <a:buNone/>
            </a:pPr>
            <a:r>
              <a:rPr lang="en-US" sz="1500" b="1" dirty="0">
                <a:solidFill>
                  <a:schemeClr val="tx1"/>
                </a:solidFill>
              </a:rPr>
              <a:t>Chernyshevsky's What Is to Be Done?</a:t>
            </a:r>
            <a:endParaRPr lang="en-US" sz="1500" dirty="0"/>
          </a:p>
        </p:txBody>
      </p:sp>
      <p:sp>
        <p:nvSpPr>
          <p:cNvPr id="24" name="points 1863"/>
          <p:cNvSpPr txBox="1"/>
          <p:nvPr/>
        </p:nvSpPr>
        <p:spPr>
          <a:xfrm>
            <a:off x="5111496" y="3977640"/>
            <a:ext cx="1938528" cy="210312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2"/>
                </a:solidFill>
              </a:rPr>
              <a:t>Nihilists trust only science and reason</a:t>
            </a:r>
            <a:endParaRPr lang="en-US" sz="1400" dirty="0"/>
          </a:p>
          <a:p>
            <a:pPr marL="152400" indent="-152400">
              <a:spcAft>
                <a:spcPts val="600"/>
              </a:spcAft>
              <a:buSzPct val="100000"/>
              <a:buChar char="•"/>
            </a:pPr>
            <a:r>
              <a:rPr lang="en-US" sz="1400" dirty="0">
                <a:solidFill>
                  <a:schemeClr val="tx2"/>
                </a:solidFill>
              </a:rPr>
              <a:t>Know your true interest and you'll be good</a:t>
            </a:r>
            <a:endParaRPr lang="en-US" sz="1400" dirty="0"/>
          </a:p>
          <a:p>
            <a:pPr marL="152400" indent="-152400">
              <a:spcAft>
                <a:spcPts val="600"/>
              </a:spcAft>
              <a:buSzPct val="100000"/>
              <a:buChar char="•"/>
            </a:pPr>
            <a:r>
              <a:rPr lang="en-US" sz="1400" dirty="0">
                <a:solidFill>
                  <a:schemeClr val="tx2"/>
                </a:solidFill>
              </a:rPr>
              <a:t>The Crystal Palace: society designed by reason</a:t>
            </a:r>
            <a:endParaRPr lang="en-US" sz="1400" dirty="0"/>
          </a:p>
        </p:txBody>
      </p:sp>
      <p:sp>
        <p:nvSpPr>
          <p:cNvPr id="25" name="heading 1864"/>
          <p:cNvSpPr txBox="1"/>
          <p:nvPr/>
        </p:nvSpPr>
        <p:spPr>
          <a:xfrm>
            <a:off x="7324344" y="1508760"/>
            <a:ext cx="1938528" cy="658368"/>
          </a:xfrm>
          <a:prstGeom prst="rect">
            <a:avLst/>
          </a:prstGeom>
          <a:noFill/>
          <a:ln/>
        </p:spPr>
        <p:txBody>
          <a:bodyPr wrap="square" lIns="0" tIns="0" rIns="0" bIns="0" rtlCol="0" anchor="b"/>
          <a:lstStyle/>
          <a:p>
            <a:pPr algn="ctr" indent="0" marL="0">
              <a:buNone/>
            </a:pPr>
            <a:r>
              <a:rPr lang="en-US" sz="1600" b="1" i="1" dirty="0">
                <a:solidFill>
                  <a:schemeClr val="accent1"/>
                </a:solidFill>
                <a:latin typeface="Cambria" pitchFamily="34" charset="0"/>
                <a:ea typeface="Cambria" pitchFamily="34" charset="-122"/>
                <a:cs typeface="Cambria" pitchFamily="34" charset="-120"/>
              </a:rPr>
              <a:t>Anti-disestablishment?</a:t>
            </a:r>
            <a:endParaRPr lang="en-US" sz="1600" dirty="0"/>
          </a:p>
        </p:txBody>
      </p:sp>
      <p:sp>
        <p:nvSpPr>
          <p:cNvPr id="26" name="year 1864"/>
          <p:cNvSpPr txBox="1"/>
          <p:nvPr/>
        </p:nvSpPr>
        <p:spPr>
          <a:xfrm>
            <a:off x="7324344" y="2212848"/>
            <a:ext cx="1938528" cy="5029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1864</a:t>
            </a:r>
            <a:endParaRPr lang="en-US" sz="3000" dirty="0"/>
          </a:p>
        </p:txBody>
      </p:sp>
      <p:sp>
        <p:nvSpPr>
          <p:cNvPr id="27" name="dot 1864"/>
          <p:cNvSpPr/>
          <p:nvPr/>
        </p:nvSpPr>
        <p:spPr>
          <a:xfrm>
            <a:off x="8129016" y="2807208"/>
            <a:ext cx="329184" cy="329184"/>
          </a:xfrm>
          <a:prstGeom prst="ellipse">
            <a:avLst/>
          </a:prstGeom>
          <a:solidFill>
            <a:schemeClr val="accent1"/>
          </a:solidFill>
          <a:ln w="25400">
            <a:solidFill>
              <a:schemeClr val="bg1"/>
            </a:solidFill>
            <a:prstDash val="solid"/>
          </a:ln>
        </p:spPr>
      </p:sp>
      <p:sp>
        <p:nvSpPr>
          <p:cNvPr id="28" name="event 1864"/>
          <p:cNvSpPr txBox="1"/>
          <p:nvPr/>
        </p:nvSpPr>
        <p:spPr>
          <a:xfrm>
            <a:off x="7324344" y="3246120"/>
            <a:ext cx="1938528" cy="658368"/>
          </a:xfrm>
          <a:prstGeom prst="rect">
            <a:avLst/>
          </a:prstGeom>
          <a:noFill/>
          <a:ln/>
        </p:spPr>
        <p:txBody>
          <a:bodyPr wrap="square" lIns="0" tIns="0" rIns="0" bIns="0" rtlCol="0" anchor="t"/>
          <a:lstStyle/>
          <a:p>
            <a:pPr algn="ctr" indent="0" marL="0">
              <a:buNone/>
            </a:pPr>
            <a:r>
              <a:rPr lang="en-US" sz="1500" b="1" dirty="0">
                <a:solidFill>
                  <a:schemeClr val="tx1"/>
                </a:solidFill>
              </a:rPr>
              <a:t>Dostoevsky's Notes from Underground</a:t>
            </a:r>
            <a:endParaRPr lang="en-US" sz="1500" dirty="0"/>
          </a:p>
        </p:txBody>
      </p:sp>
      <p:sp>
        <p:nvSpPr>
          <p:cNvPr id="29" name="points 1864"/>
          <p:cNvSpPr txBox="1"/>
          <p:nvPr/>
        </p:nvSpPr>
        <p:spPr>
          <a:xfrm>
            <a:off x="7324344" y="3977640"/>
            <a:ext cx="1938528" cy="210312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2"/>
                </a:solidFill>
              </a:rPr>
              <a:t>We are not piano keys</a:t>
            </a:r>
            <a:endParaRPr lang="en-US" sz="1400" dirty="0"/>
          </a:p>
          <a:p>
            <a:pPr marL="152400" indent="-152400">
              <a:spcAft>
                <a:spcPts val="600"/>
              </a:spcAft>
              <a:buSzPct val="100000"/>
              <a:buChar char="•"/>
            </a:pPr>
            <a:r>
              <a:rPr lang="en-US" sz="1400" dirty="0">
                <a:solidFill>
                  <a:schemeClr val="tx2"/>
                </a:solidFill>
              </a:rPr>
              <a:t>Against reason claiming totality</a:t>
            </a:r>
            <a:endParaRPr lang="en-US" sz="1400" dirty="0"/>
          </a:p>
        </p:txBody>
      </p:sp>
      <p:sp>
        <p:nvSpPr>
          <p:cNvPr id="30" name="heading 1881"/>
          <p:cNvSpPr txBox="1"/>
          <p:nvPr/>
        </p:nvSpPr>
        <p:spPr>
          <a:xfrm>
            <a:off x="9537192" y="1508760"/>
            <a:ext cx="1938528" cy="658368"/>
          </a:xfrm>
          <a:prstGeom prst="rect">
            <a:avLst/>
          </a:prstGeom>
          <a:noFill/>
          <a:ln/>
        </p:spPr>
        <p:txBody>
          <a:bodyPr wrap="square" lIns="0" tIns="0" rIns="0" bIns="0" rtlCol="0" anchor="b"/>
          <a:lstStyle/>
          <a:p>
            <a:pPr algn="ctr" indent="0" marL="0">
              <a:buNone/>
            </a:pPr>
            <a:r>
              <a:rPr lang="en-US" sz="1600" b="1" i="1" dirty="0">
                <a:solidFill>
                  <a:schemeClr val="accent3"/>
                </a:solidFill>
                <a:latin typeface="Cambria" pitchFamily="34" charset="0"/>
                <a:ea typeface="Cambria" pitchFamily="34" charset="-122"/>
                <a:cs typeface="Cambria" pitchFamily="34" charset="-120"/>
              </a:rPr>
              <a:t>Establishment shaken</a:t>
            </a:r>
            <a:endParaRPr lang="en-US" sz="1600" dirty="0"/>
          </a:p>
        </p:txBody>
      </p:sp>
      <p:sp>
        <p:nvSpPr>
          <p:cNvPr id="31" name="year 1881"/>
          <p:cNvSpPr txBox="1"/>
          <p:nvPr/>
        </p:nvSpPr>
        <p:spPr>
          <a:xfrm>
            <a:off x="9537192" y="2212848"/>
            <a:ext cx="1938528" cy="50292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1881</a:t>
            </a:r>
            <a:endParaRPr lang="en-US" sz="2600" dirty="0"/>
          </a:p>
        </p:txBody>
      </p:sp>
      <p:sp>
        <p:nvSpPr>
          <p:cNvPr id="32" name="dot 1881"/>
          <p:cNvSpPr/>
          <p:nvPr/>
        </p:nvSpPr>
        <p:spPr>
          <a:xfrm>
            <a:off x="10387584" y="2852928"/>
            <a:ext cx="237744" cy="237744"/>
          </a:xfrm>
          <a:prstGeom prst="ellipse">
            <a:avLst/>
          </a:prstGeom>
          <a:solidFill>
            <a:schemeClr val="tx2"/>
          </a:solidFill>
          <a:ln w="25400">
            <a:solidFill>
              <a:schemeClr val="bg1"/>
            </a:solidFill>
            <a:prstDash val="solid"/>
          </a:ln>
        </p:spPr>
      </p:sp>
      <p:sp>
        <p:nvSpPr>
          <p:cNvPr id="33" name="event 1881"/>
          <p:cNvSpPr txBox="1"/>
          <p:nvPr/>
        </p:nvSpPr>
        <p:spPr>
          <a:xfrm>
            <a:off x="9537192" y="3246120"/>
            <a:ext cx="1938528" cy="658368"/>
          </a:xfrm>
          <a:prstGeom prst="rect">
            <a:avLst/>
          </a:prstGeom>
          <a:noFill/>
          <a:ln/>
        </p:spPr>
        <p:txBody>
          <a:bodyPr wrap="square" lIns="0" tIns="0" rIns="0" bIns="0" rtlCol="0" anchor="t"/>
          <a:lstStyle/>
          <a:p>
            <a:pPr algn="ctr" indent="0" marL="0">
              <a:buNone/>
            </a:pPr>
            <a:r>
              <a:rPr lang="en-US" sz="1500" b="1" dirty="0">
                <a:solidFill>
                  <a:schemeClr val="tx1"/>
                </a:solidFill>
              </a:rPr>
              <a:t>Alexander II assassinated</a:t>
            </a:r>
            <a:endParaRPr lang="en-US" sz="1500" dirty="0"/>
          </a:p>
        </p:txBody>
      </p:sp>
      <p:sp>
        <p:nvSpPr>
          <p:cNvPr id="34" name="points 1881"/>
          <p:cNvSpPr txBox="1"/>
          <p:nvPr/>
        </p:nvSpPr>
        <p:spPr>
          <a:xfrm>
            <a:off x="9537192" y="3977640"/>
            <a:ext cx="1938528" cy="2103120"/>
          </a:xfrm>
          <a:prstGeom prst="rect">
            <a:avLst/>
          </a:prstGeom>
          <a:noFill/>
          <a:ln/>
        </p:spPr>
        <p:txBody>
          <a:bodyPr wrap="square" lIns="0" tIns="0" rIns="0" bIns="0" rtlCol="0" anchor="t"/>
          <a:lstStyle/>
          <a:p>
            <a:pPr marL="152400" indent="-152400">
              <a:spcAft>
                <a:spcPts val="600"/>
              </a:spcAft>
              <a:buSzPct val="100000"/>
              <a:buChar char="•"/>
            </a:pPr>
            <a:r>
              <a:rPr lang="en-US" sz="1400" dirty="0">
                <a:solidFill>
                  <a:schemeClr val="tx2"/>
                </a:solidFill>
              </a:rPr>
              <a:t>Killed by the People's Will</a:t>
            </a:r>
            <a:endParaRPr lang="en-US" sz="1400" dirty="0"/>
          </a:p>
          <a:p>
            <a:pPr marL="152400" indent="-152400">
              <a:spcAft>
                <a:spcPts val="600"/>
              </a:spcAft>
              <a:buSzPct val="100000"/>
              <a:buChar char="•"/>
            </a:pPr>
            <a:r>
              <a:rPr lang="en-US" sz="1400" dirty="0">
                <a:solidFill>
                  <a:schemeClr val="tx2"/>
                </a:solidFill>
              </a:rPr>
              <a:t>Weeks after Dostoevsky's death</a:t>
            </a:r>
            <a:endParaRPr lang="en-US" sz="1400" dirty="0"/>
          </a:p>
        </p:txBody>
      </p:sp>
      <p:sp>
        <p:nvSpPr>
          <p:cNvPr id="35" name="source tag"/>
          <p:cNvSpPr txBox="1"/>
          <p:nvPr/>
        </p:nvSpPr>
        <p:spPr>
          <a:xfrm>
            <a:off x="5111496" y="5897880"/>
            <a:ext cx="1938528" cy="411480"/>
          </a:xfrm>
          <a:prstGeom prst="rect">
            <a:avLst/>
          </a:prstGeom>
          <a:solidFill>
            <a:schemeClr val="bg2"/>
          </a:solidFill>
          <a:ln/>
        </p:spPr>
        <p:txBody>
          <a:bodyPr wrap="square" lIns="25400" tIns="25400" rIns="25400" bIns="25400" rtlCol="0" anchor="ctr"/>
          <a:lstStyle/>
          <a:p>
            <a:pPr algn="ctr" indent="0" marL="0">
              <a:buNone/>
            </a:pPr>
            <a:r>
              <a:rPr lang="en-US" sz="1100" i="1" dirty="0">
                <a:solidFill>
                  <a:schemeClr val="accent1"/>
                </a:solidFill>
              </a:rPr>
              <a:t>Crystal Palace: from the novella; not in the show</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500"/>
                                        <p:tgtEl>
                                          <p:spTgt spid="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500"/>
                                        <p:tgtEl>
                                          <p:spTgt spid="29"/>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500"/>
                                        <p:tgtEl>
                                          <p:spTgt spid="3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50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50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35" grpId="0" animBg="1"/>
      <p:bldP spid="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CONTEXT · THE REBUTTAL</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Two writers, two Siberias, in opposite order</a:t>
            </a:r>
            <a:endParaRPr lang="en-US" sz="3400" dirty="0"/>
          </a:p>
        </p:txBody>
      </p:sp>
      <p:sp>
        <p:nvSpPr>
          <p:cNvPr id="4" name="Dostoevsky card"/>
          <p:cNvSpPr/>
          <p:nvPr/>
        </p:nvSpPr>
        <p:spPr>
          <a:xfrm>
            <a:off x="548640" y="1645920"/>
            <a:ext cx="5394960" cy="4297680"/>
          </a:xfrm>
          <a:prstGeom prst="roundRect">
            <a:avLst>
              <a:gd name="adj" fmla="val 1702"/>
            </a:avLst>
          </a:prstGeom>
          <a:solidFill>
            <a:schemeClr val="bg2"/>
          </a:solidFill>
          <a:ln w="12700">
            <a:solidFill>
              <a:schemeClr val="bg2"/>
            </a:solidFill>
            <a:prstDash val="solid"/>
          </a:ln>
        </p:spPr>
      </p:sp>
      <p:sp>
        <p:nvSpPr>
          <p:cNvPr id="5" name="Dostoevsky circle"/>
          <p:cNvSpPr/>
          <p:nvPr/>
        </p:nvSpPr>
        <p:spPr>
          <a:xfrm>
            <a:off x="868680" y="1874520"/>
            <a:ext cx="731520" cy="731520"/>
          </a:xfrm>
          <a:prstGeom prst="ellipse">
            <a:avLst/>
          </a:prstGeom>
          <a:solidFill>
            <a:schemeClr val="tx2"/>
          </a:solidFill>
          <a:ln w="12700">
            <a:solidFill>
              <a:schemeClr val="tx2"/>
            </a:solidFill>
            <a:prstDash val="solid"/>
          </a:ln>
        </p:spPr>
      </p:sp>
      <p:pic>
        <p:nvPicPr>
          <p:cNvPr id="6" name="Dostoevsky icon" descr="Dostoevsky">    </p:cNvPr>
          <p:cNvPicPr>
            <a:picLocks noChangeAspect="1"/>
          </p:cNvPicPr>
          <p:nvPr/>
        </p:nvPicPr>
        <p:blipFill>
          <a:blip r:embed="rId1"/>
          <a:stretch>
            <a:fillRect/>
          </a:stretch>
        </p:blipFill>
        <p:spPr>
          <a:xfrm>
            <a:off x="1029614" y="2035454"/>
            <a:ext cx="409651" cy="409651"/>
          </a:xfrm>
          <a:prstGeom prst="rect">
            <a:avLst/>
          </a:prstGeom>
        </p:spPr>
      </p:pic>
      <p:sp>
        <p:nvSpPr>
          <p:cNvPr id="7" name="Text 4"/>
          <p:cNvSpPr txBox="1"/>
          <p:nvPr/>
        </p:nvSpPr>
        <p:spPr>
          <a:xfrm>
            <a:off x="1783080" y="1920240"/>
            <a:ext cx="4023360" cy="64008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Dostoevsky</a:t>
            </a:r>
            <a:endParaRPr lang="en-US" sz="2600" dirty="0"/>
          </a:p>
        </p:txBody>
      </p:sp>
      <p:sp>
        <p:nvSpPr>
          <p:cNvPr id="8" name="Dostoevsky step 0"/>
          <p:cNvSpPr/>
          <p:nvPr/>
        </p:nvSpPr>
        <p:spPr>
          <a:xfrm>
            <a:off x="868680" y="2834640"/>
            <a:ext cx="1097280" cy="658368"/>
          </a:xfrm>
          <a:prstGeom prst="roundRect">
            <a:avLst>
              <a:gd name="adj" fmla="val 8333"/>
            </a:avLst>
          </a:prstGeom>
          <a:solidFill>
            <a:schemeClr val="tx2"/>
          </a:solidFill>
          <a:ln w="12700">
            <a:solidFill>
              <a:schemeClr val="tx2"/>
            </a:solidFill>
            <a:prstDash val="solid"/>
          </a:ln>
        </p:spPr>
      </p:sp>
      <p:sp>
        <p:nvSpPr>
          <p:cNvPr id="9" name="Text 6"/>
          <p:cNvSpPr txBox="1"/>
          <p:nvPr/>
        </p:nvSpPr>
        <p:spPr>
          <a:xfrm>
            <a:off x="868680" y="283464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1849</a:t>
            </a:r>
            <a:endParaRPr lang="en-US" sz="1600" dirty="0"/>
          </a:p>
        </p:txBody>
      </p:sp>
      <p:sp>
        <p:nvSpPr>
          <p:cNvPr id="10" name="Text 7"/>
          <p:cNvSpPr txBox="1"/>
          <p:nvPr/>
        </p:nvSpPr>
        <p:spPr>
          <a:xfrm>
            <a:off x="2148840" y="2834640"/>
            <a:ext cx="3611880" cy="658368"/>
          </a:xfrm>
          <a:prstGeom prst="rect">
            <a:avLst/>
          </a:prstGeom>
          <a:noFill/>
          <a:ln/>
        </p:spPr>
        <p:txBody>
          <a:bodyPr wrap="square" lIns="0" tIns="0" rIns="0" bIns="0" rtlCol="0" anchor="ctr"/>
          <a:lstStyle/>
          <a:p>
            <a:pPr indent="0" marL="0">
              <a:buNone/>
            </a:pPr>
            <a:r>
              <a:rPr lang="en-US" sz="1900" dirty="0">
                <a:solidFill>
                  <a:schemeClr val="tx2"/>
                </a:solidFill>
              </a:rPr>
              <a:t>Joins a utopian-socialist circle</a:t>
            </a:r>
            <a:endParaRPr lang="en-US" sz="1900" dirty="0"/>
          </a:p>
        </p:txBody>
      </p:sp>
      <p:sp>
        <p:nvSpPr>
          <p:cNvPr id="11" name="Dostoevsky step 1"/>
          <p:cNvSpPr/>
          <p:nvPr/>
        </p:nvSpPr>
        <p:spPr>
          <a:xfrm>
            <a:off x="868680" y="3703320"/>
            <a:ext cx="1097280" cy="658368"/>
          </a:xfrm>
          <a:prstGeom prst="roundRect">
            <a:avLst>
              <a:gd name="adj" fmla="val 8333"/>
            </a:avLst>
          </a:prstGeom>
          <a:solidFill>
            <a:schemeClr val="tx2"/>
          </a:solidFill>
          <a:ln w="12700">
            <a:solidFill>
              <a:schemeClr val="tx2"/>
            </a:solidFill>
            <a:prstDash val="solid"/>
          </a:ln>
        </p:spPr>
      </p:sp>
      <p:sp>
        <p:nvSpPr>
          <p:cNvPr id="12" name="Text 9"/>
          <p:cNvSpPr txBox="1"/>
          <p:nvPr/>
        </p:nvSpPr>
        <p:spPr>
          <a:xfrm>
            <a:off x="868680" y="370332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Punished</a:t>
            </a:r>
            <a:endParaRPr lang="en-US" sz="1600" dirty="0"/>
          </a:p>
        </p:txBody>
      </p:sp>
      <p:sp>
        <p:nvSpPr>
          <p:cNvPr id="13" name="Text 10"/>
          <p:cNvSpPr txBox="1"/>
          <p:nvPr/>
        </p:nvSpPr>
        <p:spPr>
          <a:xfrm>
            <a:off x="2148840" y="3703320"/>
            <a:ext cx="3611880" cy="658368"/>
          </a:xfrm>
          <a:prstGeom prst="rect">
            <a:avLst/>
          </a:prstGeom>
          <a:noFill/>
          <a:ln/>
        </p:spPr>
        <p:txBody>
          <a:bodyPr wrap="square" lIns="0" tIns="0" rIns="0" bIns="0" rtlCol="0" anchor="ctr"/>
          <a:lstStyle/>
          <a:p>
            <a:pPr indent="0" marL="0">
              <a:buNone/>
            </a:pPr>
            <a:r>
              <a:rPr lang="en-US" sz="1900" dirty="0">
                <a:solidFill>
                  <a:schemeClr val="tx2"/>
                </a:solidFill>
              </a:rPr>
              <a:t>Mock execution, Siberia, exile</a:t>
            </a:r>
            <a:endParaRPr lang="en-US" sz="1900" dirty="0"/>
          </a:p>
        </p:txBody>
      </p:sp>
      <p:sp>
        <p:nvSpPr>
          <p:cNvPr id="14" name="Dostoevsky step 2"/>
          <p:cNvSpPr/>
          <p:nvPr/>
        </p:nvSpPr>
        <p:spPr>
          <a:xfrm>
            <a:off x="868680" y="4572000"/>
            <a:ext cx="1097280" cy="658368"/>
          </a:xfrm>
          <a:prstGeom prst="roundRect">
            <a:avLst>
              <a:gd name="adj" fmla="val 8333"/>
            </a:avLst>
          </a:prstGeom>
          <a:solidFill>
            <a:schemeClr val="accent1"/>
          </a:solidFill>
          <a:ln w="12700">
            <a:solidFill>
              <a:schemeClr val="accent1"/>
            </a:solidFill>
            <a:prstDash val="solid"/>
          </a:ln>
        </p:spPr>
      </p:sp>
      <p:sp>
        <p:nvSpPr>
          <p:cNvPr id="15" name="Text 12"/>
          <p:cNvSpPr txBox="1"/>
          <p:nvPr/>
        </p:nvSpPr>
        <p:spPr>
          <a:xfrm>
            <a:off x="868680" y="457200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1864</a:t>
            </a:r>
            <a:endParaRPr lang="en-US" sz="1600" dirty="0"/>
          </a:p>
        </p:txBody>
      </p:sp>
      <p:sp>
        <p:nvSpPr>
          <p:cNvPr id="16" name="Text 13"/>
          <p:cNvSpPr txBox="1"/>
          <p:nvPr/>
        </p:nvSpPr>
        <p:spPr>
          <a:xfrm>
            <a:off x="2148840" y="4572000"/>
            <a:ext cx="3611880" cy="658368"/>
          </a:xfrm>
          <a:prstGeom prst="rect">
            <a:avLst/>
          </a:prstGeom>
          <a:noFill/>
          <a:ln/>
        </p:spPr>
        <p:txBody>
          <a:bodyPr wrap="square" lIns="0" tIns="0" rIns="0" bIns="0" rtlCol="0" anchor="ctr"/>
          <a:lstStyle/>
          <a:p>
            <a:pPr indent="0" marL="0">
              <a:buNone/>
            </a:pPr>
            <a:r>
              <a:rPr lang="en-US" sz="1900" dirty="0">
                <a:solidFill>
                  <a:schemeClr val="tx2"/>
                </a:solidFill>
              </a:rPr>
              <a:t>Writes Notes from Underground</a:t>
            </a:r>
            <a:endParaRPr lang="en-US" sz="1900" dirty="0"/>
          </a:p>
        </p:txBody>
      </p:sp>
      <p:sp>
        <p:nvSpPr>
          <p:cNvPr id="17" name="Text 14"/>
          <p:cNvSpPr txBox="1"/>
          <p:nvPr/>
        </p:nvSpPr>
        <p:spPr>
          <a:xfrm>
            <a:off x="868680" y="5440680"/>
            <a:ext cx="4846320" cy="365760"/>
          </a:xfrm>
          <a:prstGeom prst="rect">
            <a:avLst/>
          </a:prstGeom>
          <a:noFill/>
          <a:ln/>
        </p:spPr>
        <p:txBody>
          <a:bodyPr wrap="square" lIns="0" tIns="0" rIns="0" bIns="0" rtlCol="0" anchor="ctr"/>
          <a:lstStyle/>
          <a:p>
            <a:pPr indent="0" marL="0">
              <a:buNone/>
            </a:pPr>
            <a:r>
              <a:rPr lang="en-US" sz="1600" b="1" i="1" dirty="0">
                <a:solidFill>
                  <a:schemeClr val="accent1"/>
                </a:solidFill>
              </a:rPr>
              <a:t>Punished first, then writes</a:t>
            </a:r>
            <a:endParaRPr lang="en-US" sz="1600" dirty="0"/>
          </a:p>
        </p:txBody>
      </p:sp>
      <p:sp>
        <p:nvSpPr>
          <p:cNvPr id="18" name="Chernyshevsky card"/>
          <p:cNvSpPr/>
          <p:nvPr/>
        </p:nvSpPr>
        <p:spPr>
          <a:xfrm>
            <a:off x="6263640" y="1645920"/>
            <a:ext cx="5394960" cy="4297680"/>
          </a:xfrm>
          <a:prstGeom prst="roundRect">
            <a:avLst>
              <a:gd name="adj" fmla="val 1702"/>
            </a:avLst>
          </a:prstGeom>
          <a:solidFill>
            <a:schemeClr val="bg2"/>
          </a:solidFill>
          <a:ln w="12700">
            <a:solidFill>
              <a:schemeClr val="bg2"/>
            </a:solidFill>
            <a:prstDash val="solid"/>
          </a:ln>
        </p:spPr>
      </p:sp>
      <p:sp>
        <p:nvSpPr>
          <p:cNvPr id="19" name="Chernyshevsky circle"/>
          <p:cNvSpPr/>
          <p:nvPr/>
        </p:nvSpPr>
        <p:spPr>
          <a:xfrm>
            <a:off x="6583680" y="1874520"/>
            <a:ext cx="731520" cy="731520"/>
          </a:xfrm>
          <a:prstGeom prst="ellipse">
            <a:avLst/>
          </a:prstGeom>
          <a:solidFill>
            <a:schemeClr val="accent3"/>
          </a:solidFill>
          <a:ln w="12700">
            <a:solidFill>
              <a:schemeClr val="accent3"/>
            </a:solidFill>
            <a:prstDash val="solid"/>
          </a:ln>
        </p:spPr>
      </p:sp>
      <p:pic>
        <p:nvPicPr>
          <p:cNvPr id="20" name="Chernyshevsky icon" descr="Chernyshevsky">    </p:cNvPr>
          <p:cNvPicPr>
            <a:picLocks noChangeAspect="1"/>
          </p:cNvPicPr>
          <p:nvPr/>
        </p:nvPicPr>
        <p:blipFill>
          <a:blip r:embed="rId2"/>
          <a:stretch>
            <a:fillRect/>
          </a:stretch>
        </p:blipFill>
        <p:spPr>
          <a:xfrm>
            <a:off x="6744614" y="2035454"/>
            <a:ext cx="409651" cy="409651"/>
          </a:xfrm>
          <a:prstGeom prst="rect">
            <a:avLst/>
          </a:prstGeom>
        </p:spPr>
      </p:pic>
      <p:sp>
        <p:nvSpPr>
          <p:cNvPr id="21" name="Text 17"/>
          <p:cNvSpPr txBox="1"/>
          <p:nvPr/>
        </p:nvSpPr>
        <p:spPr>
          <a:xfrm>
            <a:off x="7498080" y="1920240"/>
            <a:ext cx="4023360" cy="64008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Chernyshevsky</a:t>
            </a:r>
            <a:endParaRPr lang="en-US" sz="2600" dirty="0"/>
          </a:p>
        </p:txBody>
      </p:sp>
      <p:sp>
        <p:nvSpPr>
          <p:cNvPr id="22" name="Chernyshevsky step 0"/>
          <p:cNvSpPr/>
          <p:nvPr/>
        </p:nvSpPr>
        <p:spPr>
          <a:xfrm>
            <a:off x="6583680" y="2834640"/>
            <a:ext cx="1097280" cy="658368"/>
          </a:xfrm>
          <a:prstGeom prst="roundRect">
            <a:avLst>
              <a:gd name="adj" fmla="val 8333"/>
            </a:avLst>
          </a:prstGeom>
          <a:solidFill>
            <a:schemeClr val="accent1"/>
          </a:solidFill>
          <a:ln w="12700">
            <a:solidFill>
              <a:schemeClr val="accent1"/>
            </a:solidFill>
            <a:prstDash val="solid"/>
          </a:ln>
        </p:spPr>
      </p:sp>
      <p:sp>
        <p:nvSpPr>
          <p:cNvPr id="23" name="Text 19"/>
          <p:cNvSpPr txBox="1"/>
          <p:nvPr/>
        </p:nvSpPr>
        <p:spPr>
          <a:xfrm>
            <a:off x="6583680" y="283464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1863</a:t>
            </a:r>
            <a:endParaRPr lang="en-US" sz="1600" dirty="0"/>
          </a:p>
        </p:txBody>
      </p:sp>
      <p:sp>
        <p:nvSpPr>
          <p:cNvPr id="24" name="Text 20"/>
          <p:cNvSpPr txBox="1"/>
          <p:nvPr/>
        </p:nvSpPr>
        <p:spPr>
          <a:xfrm>
            <a:off x="7863840" y="2834640"/>
            <a:ext cx="3611880" cy="658368"/>
          </a:xfrm>
          <a:prstGeom prst="rect">
            <a:avLst/>
          </a:prstGeom>
          <a:noFill/>
          <a:ln/>
        </p:spPr>
        <p:txBody>
          <a:bodyPr wrap="square" lIns="0" tIns="0" rIns="0" bIns="0" rtlCol="0" anchor="ctr"/>
          <a:lstStyle/>
          <a:p>
            <a:pPr indent="0" marL="0">
              <a:buNone/>
            </a:pPr>
            <a:r>
              <a:rPr lang="en-US" sz="1900" dirty="0">
                <a:solidFill>
                  <a:schemeClr val="tx2"/>
                </a:solidFill>
              </a:rPr>
              <a:t>Writes What Is to Be Done? in prison</a:t>
            </a:r>
            <a:endParaRPr lang="en-US" sz="1900" dirty="0"/>
          </a:p>
        </p:txBody>
      </p:sp>
      <p:sp>
        <p:nvSpPr>
          <p:cNvPr id="25" name="Chernyshevsky step 1"/>
          <p:cNvSpPr/>
          <p:nvPr/>
        </p:nvSpPr>
        <p:spPr>
          <a:xfrm>
            <a:off x="6583680" y="3703320"/>
            <a:ext cx="1097280" cy="658368"/>
          </a:xfrm>
          <a:prstGeom prst="roundRect">
            <a:avLst>
              <a:gd name="adj" fmla="val 8333"/>
            </a:avLst>
          </a:prstGeom>
          <a:solidFill>
            <a:schemeClr val="tx2"/>
          </a:solidFill>
          <a:ln w="12700">
            <a:solidFill>
              <a:schemeClr val="tx2"/>
            </a:solidFill>
            <a:prstDash val="solid"/>
          </a:ln>
        </p:spPr>
      </p:sp>
      <p:sp>
        <p:nvSpPr>
          <p:cNvPr id="26" name="Text 22"/>
          <p:cNvSpPr txBox="1"/>
          <p:nvPr/>
        </p:nvSpPr>
        <p:spPr>
          <a:xfrm>
            <a:off x="6583680" y="370332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Punished</a:t>
            </a:r>
            <a:endParaRPr lang="en-US" sz="1600" dirty="0"/>
          </a:p>
        </p:txBody>
      </p:sp>
      <p:sp>
        <p:nvSpPr>
          <p:cNvPr id="27" name="Text 23"/>
          <p:cNvSpPr txBox="1"/>
          <p:nvPr/>
        </p:nvSpPr>
        <p:spPr>
          <a:xfrm>
            <a:off x="7863840" y="3703320"/>
            <a:ext cx="3611880" cy="658368"/>
          </a:xfrm>
          <a:prstGeom prst="rect">
            <a:avLst/>
          </a:prstGeom>
          <a:noFill/>
          <a:ln/>
        </p:spPr>
        <p:txBody>
          <a:bodyPr wrap="square" lIns="0" tIns="0" rIns="0" bIns="0" rtlCol="0" anchor="ctr"/>
          <a:lstStyle/>
          <a:p>
            <a:pPr indent="0" marL="0">
              <a:buNone/>
            </a:pPr>
            <a:r>
              <a:rPr lang="en-US" sz="1900" dirty="0">
                <a:solidFill>
                  <a:schemeClr val="tx2"/>
                </a:solidFill>
              </a:rPr>
              <a:t>Civil execution, Siberia, exile</a:t>
            </a:r>
            <a:endParaRPr lang="en-US" sz="1900" dirty="0"/>
          </a:p>
        </p:txBody>
      </p:sp>
      <p:sp>
        <p:nvSpPr>
          <p:cNvPr id="28" name="Chernyshevsky step 2"/>
          <p:cNvSpPr/>
          <p:nvPr/>
        </p:nvSpPr>
        <p:spPr>
          <a:xfrm>
            <a:off x="6583680" y="4572000"/>
            <a:ext cx="1097280" cy="658368"/>
          </a:xfrm>
          <a:prstGeom prst="roundRect">
            <a:avLst>
              <a:gd name="adj" fmla="val 8333"/>
            </a:avLst>
          </a:prstGeom>
          <a:solidFill>
            <a:schemeClr val="tx2"/>
          </a:solidFill>
          <a:ln w="12700">
            <a:solidFill>
              <a:schemeClr val="tx2"/>
            </a:solidFill>
            <a:prstDash val="solid"/>
          </a:ln>
        </p:spPr>
      </p:sp>
      <p:sp>
        <p:nvSpPr>
          <p:cNvPr id="29" name="Text 25"/>
          <p:cNvSpPr txBox="1"/>
          <p:nvPr/>
        </p:nvSpPr>
        <p:spPr>
          <a:xfrm>
            <a:off x="6583680" y="4572000"/>
            <a:ext cx="1097280" cy="658368"/>
          </a:xfrm>
          <a:prstGeom prst="rect">
            <a:avLst/>
          </a:prstGeom>
          <a:noFill/>
          <a:ln/>
        </p:spPr>
        <p:txBody>
          <a:bodyPr wrap="square" lIns="0" tIns="0" rIns="0" bIns="0" rtlCol="0" anchor="ctr"/>
          <a:lstStyle/>
          <a:p>
            <a:pPr algn="ctr" indent="0" marL="0">
              <a:buNone/>
            </a:pPr>
            <a:r>
              <a:rPr lang="en-US" sz="1600" b="1" dirty="0">
                <a:solidFill>
                  <a:schemeClr val="bg1"/>
                </a:solidFill>
              </a:rPr>
              <a:t>Legacy</a:t>
            </a:r>
            <a:endParaRPr lang="en-US" sz="1600" dirty="0"/>
          </a:p>
        </p:txBody>
      </p:sp>
      <p:sp>
        <p:nvSpPr>
          <p:cNvPr id="30" name="Text 26"/>
          <p:cNvSpPr txBox="1"/>
          <p:nvPr/>
        </p:nvSpPr>
        <p:spPr>
          <a:xfrm>
            <a:off x="7863840" y="4572000"/>
            <a:ext cx="3611880" cy="658368"/>
          </a:xfrm>
          <a:prstGeom prst="rect">
            <a:avLst/>
          </a:prstGeom>
          <a:noFill/>
          <a:ln/>
        </p:spPr>
        <p:txBody>
          <a:bodyPr wrap="square" lIns="0" tIns="0" rIns="0" bIns="0" rtlCol="0" anchor="ctr"/>
          <a:lstStyle/>
          <a:p>
            <a:pPr indent="0" marL="0">
              <a:buNone/>
            </a:pPr>
            <a:r>
              <a:rPr lang="en-US" sz="1900" dirty="0">
                <a:solidFill>
                  <a:schemeClr val="tx2"/>
                </a:solidFill>
              </a:rPr>
              <a:t>Inspires anti-tsarist radicals</a:t>
            </a:r>
            <a:endParaRPr lang="en-US" sz="1900" dirty="0"/>
          </a:p>
        </p:txBody>
      </p:sp>
      <p:sp>
        <p:nvSpPr>
          <p:cNvPr id="31" name="Text 27"/>
          <p:cNvSpPr txBox="1"/>
          <p:nvPr/>
        </p:nvSpPr>
        <p:spPr>
          <a:xfrm>
            <a:off x="6583680" y="5440680"/>
            <a:ext cx="4846320" cy="365760"/>
          </a:xfrm>
          <a:prstGeom prst="rect">
            <a:avLst/>
          </a:prstGeom>
          <a:noFill/>
          <a:ln/>
        </p:spPr>
        <p:txBody>
          <a:bodyPr wrap="square" lIns="0" tIns="0" rIns="0" bIns="0" rtlCol="0" anchor="ctr"/>
          <a:lstStyle/>
          <a:p>
            <a:pPr indent="0" marL="0">
              <a:buNone/>
            </a:pPr>
            <a:r>
              <a:rPr lang="en-US" sz="1600" b="1" i="1" dirty="0">
                <a:solidFill>
                  <a:schemeClr val="accent1"/>
                </a:solidFill>
              </a:rPr>
              <a:t>Writes first, then is punished</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10698480" cy="457200"/>
          </a:xfrm>
          <a:prstGeom prst="rect">
            <a:avLst/>
          </a:prstGeom>
          <a:noFill/>
          <a:ln/>
        </p:spPr>
        <p:txBody>
          <a:bodyPr wrap="square" rtlCol="0"/>
          <a:lstStyle/>
          <a:p>
            <a:pPr indent="0" marL="0">
              <a:buNone/>
            </a:pPr>
            <a:r>
              <a:rPr lang="en-US" sz="1600" b="1" spc="300" kern="0" dirty="0">
                <a:solidFill>
                  <a:schemeClr val="accent2"/>
                </a:solidFill>
                <a:latin typeface="Calibri" pitchFamily="34" charset="0"/>
                <a:ea typeface="Calibri" pitchFamily="34" charset="-122"/>
                <a:cs typeface="Calibri" pitchFamily="34" charset="-120"/>
              </a:rPr>
              <a:t>CLIP 1 · BACK INTO THE SHOW</a:t>
            </a:r>
            <a:endParaRPr lang="en-US" sz="1600" dirty="0"/>
          </a:p>
        </p:txBody>
      </p:sp>
      <p:sp>
        <p:nvSpPr>
          <p:cNvPr id="3" name="Text 0"/>
          <p:cNvSpPr/>
          <p:nvPr>
            <p:ph idx="101" type="title" hasCustomPrompt="1"/>
          </p:nvPr>
        </p:nvSpPr>
        <p:spPr>
          <a:xfrm>
            <a:off x="731520" y="1188720"/>
            <a:ext cx="10698480" cy="9144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Larry Cedar as the Underground Man</a:t>
            </a:r>
            <a:endParaRPr lang="en-US" sz="4000" dirty="0"/>
          </a:p>
        </p:txBody>
      </p:sp>
      <p:sp>
        <p:nvSpPr>
          <p:cNvPr id="4" name="play clip 1 circle"/>
          <p:cNvSpPr/>
          <p:nvPr/>
        </p:nvSpPr>
        <p:spPr>
          <a:xfrm>
            <a:off x="731520" y="2514600"/>
            <a:ext cx="1463040" cy="1463040"/>
          </a:xfrm>
          <a:prstGeom prst="ellipse">
            <a:avLst/>
          </a:prstGeom>
          <a:solidFill>
            <a:schemeClr val="accent1"/>
          </a:solidFill>
          <a:ln w="12700">
            <a:solidFill>
              <a:schemeClr val="accent1"/>
            </a:solidFill>
            <a:prstDash val="solid"/>
          </a:ln>
        </p:spPr>
      </p:sp>
      <p:pic>
        <p:nvPicPr>
          <p:cNvPr id="5" name="play clip 1 icon" descr="play clip 1">    </p:cNvPr>
          <p:cNvPicPr>
            <a:picLocks noChangeAspect="1"/>
          </p:cNvPicPr>
          <p:nvPr/>
        </p:nvPicPr>
        <p:blipFill>
          <a:blip r:embed="rId1"/>
          <a:stretch>
            <a:fillRect/>
          </a:stretch>
        </p:blipFill>
        <p:spPr>
          <a:xfrm>
            <a:off x="1053389" y="2836469"/>
            <a:ext cx="819302" cy="819302"/>
          </a:xfrm>
          <a:prstGeom prst="rect">
            <a:avLst/>
          </a:prstGeom>
        </p:spPr>
      </p:pic>
      <p:sp>
        <p:nvSpPr>
          <p:cNvPr id="6" name="Text 3"/>
          <p:cNvSpPr txBox="1"/>
          <p:nvPr/>
        </p:nvSpPr>
        <p:spPr>
          <a:xfrm>
            <a:off x="2560320" y="2377440"/>
            <a:ext cx="8869680" cy="1828800"/>
          </a:xfrm>
          <a:prstGeom prst="rect">
            <a:avLst/>
          </a:prstGeom>
          <a:noFill/>
          <a:ln/>
        </p:spPr>
        <p:txBody>
          <a:bodyPr wrap="square" lIns="0" tIns="0" rIns="0" bIns="0" rtlCol="0" anchor="ctr"/>
          <a:lstStyle/>
          <a:p>
            <a:pPr indent="0" marL="0">
              <a:buNone/>
            </a:pPr>
            <a:r>
              <a:rPr lang="en-US" sz="3000" i="1" dirty="0">
                <a:solidFill>
                  <a:schemeClr val="bg1"/>
                </a:solidFill>
                <a:latin typeface="Cambria" pitchFamily="34" charset="0"/>
                <a:ea typeface="Cambria" pitchFamily="34" charset="-122"/>
                <a:cs typeface="Cambria" pitchFamily="34" charset="-120"/>
              </a:rPr>
              <a:t>"I am a sick man.... I am a spiteful man."</a:t>
            </a:r>
            <a:endParaRPr lang="en-US" sz="3000" dirty="0"/>
          </a:p>
          <a:p>
            <a:pPr indent="0" marL="0">
              <a:buNone/>
            </a:pPr>
            <a:r>
              <a:rPr lang="en-US" sz="1000" dirty="0">
                <a:solidFill>
                  <a:srgbClr val="000000"/>
                </a:solidFill>
              </a:rPr>
              <a:t> </a:t>
            </a:r>
            <a:endParaRPr lang="en-US" sz="3000" dirty="0"/>
          </a:p>
          <a:p>
            <a:pPr indent="0" marL="0">
              <a:buNone/>
            </a:pPr>
            <a:r>
              <a:rPr lang="en-US" sz="22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Watch from 1:30</a:t>
            </a:r>
            <a:endParaRPr lang="en-US" sz="3000" dirty="0"/>
          </a:p>
        </p:txBody>
      </p:sp>
      <p:sp>
        <p:nvSpPr>
          <p:cNvPr id="7" name="Text 4"/>
          <p:cNvSpPr txBox="1"/>
          <p:nvPr/>
        </p:nvSpPr>
        <p:spPr>
          <a:xfrm>
            <a:off x="731520" y="5943600"/>
            <a:ext cx="10515600" cy="365760"/>
          </a:xfrm>
          <a:prstGeom prst="rect">
            <a:avLst/>
          </a:prstGeom>
          <a:noFill/>
          <a:ln/>
        </p:spPr>
        <p:txBody>
          <a:bodyPr wrap="square" lIns="0" tIns="0" rIns="0" bIns="0" rtlCol="0" anchor="ctr"/>
          <a:lstStyle/>
          <a:p>
            <a:pPr indent="0" marL="0">
              <a:buNone/>
            </a:pPr>
            <a:r>
              <a:rPr lang="en-US" sz="1200" dirty="0">
                <a:solidFill>
                  <a:schemeClr val="accent5"/>
                </a:solidFill>
              </a:rPr>
              <a:t>Notes from Underground, one-man show, Garnett translation · youtube.com/watch?v=asp5tqDql0g</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QUESTIONS · FROM THE HOMEWORK</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Concrete questions about the Underground Man</a:t>
            </a:r>
            <a:endParaRPr lang="en-US" sz="3400" dirty="0"/>
          </a:p>
        </p:txBody>
      </p:sp>
      <p:sp>
        <p:nvSpPr>
          <p:cNvPr id="4" name="question 1"/>
          <p:cNvSpPr/>
          <p:nvPr/>
        </p:nvSpPr>
        <p:spPr>
          <a:xfrm>
            <a:off x="548640" y="1691640"/>
            <a:ext cx="5440680" cy="1874520"/>
          </a:xfrm>
          <a:prstGeom prst="roundRect">
            <a:avLst>
              <a:gd name="adj" fmla="val 3902"/>
            </a:avLst>
          </a:prstGeom>
          <a:solidFill>
            <a:schemeClr val="bg2"/>
          </a:solidFill>
          <a:ln w="12700">
            <a:solidFill>
              <a:schemeClr val="bg2"/>
            </a:solidFill>
            <a:prstDash val="solid"/>
          </a:ln>
        </p:spPr>
      </p:sp>
      <p:sp>
        <p:nvSpPr>
          <p:cNvPr id="5" name="Text 3"/>
          <p:cNvSpPr txBox="1"/>
          <p:nvPr/>
        </p:nvSpPr>
        <p:spPr>
          <a:xfrm>
            <a:off x="822960" y="1920240"/>
            <a:ext cx="914400" cy="141732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a:t>
            </a:r>
            <a:endParaRPr lang="en-US" sz="6000" dirty="0"/>
          </a:p>
        </p:txBody>
      </p:sp>
      <p:sp>
        <p:nvSpPr>
          <p:cNvPr id="6" name="Text 4"/>
          <p:cNvSpPr txBox="1"/>
          <p:nvPr/>
        </p:nvSpPr>
        <p:spPr>
          <a:xfrm>
            <a:off x="1828800" y="1920240"/>
            <a:ext cx="3931920" cy="1417320"/>
          </a:xfrm>
          <a:prstGeom prst="rect">
            <a:avLst/>
          </a:prstGeom>
          <a:noFill/>
          <a:ln/>
        </p:spPr>
        <p:txBody>
          <a:bodyPr wrap="square" lIns="0" tIns="0" rIns="0" bIns="0" rtlCol="0" anchor="ctr"/>
          <a:lstStyle/>
          <a:p>
            <a:pPr indent="0" marL="0">
              <a:buNone/>
            </a:pPr>
            <a:r>
              <a:rPr lang="en-US" sz="2200" dirty="0">
                <a:solidFill>
                  <a:schemeClr val="tx1"/>
                </a:solidFill>
              </a:rPr>
              <a:t>What is his situation?</a:t>
            </a:r>
            <a:endParaRPr lang="en-US" sz="2200" dirty="0"/>
          </a:p>
        </p:txBody>
      </p:sp>
      <p:sp>
        <p:nvSpPr>
          <p:cNvPr id="7" name="question 2"/>
          <p:cNvSpPr/>
          <p:nvPr/>
        </p:nvSpPr>
        <p:spPr>
          <a:xfrm>
            <a:off x="6172200" y="1691640"/>
            <a:ext cx="5440680" cy="187452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6446520" y="1920240"/>
            <a:ext cx="914400" cy="141732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a:t>
            </a:r>
            <a:endParaRPr lang="en-US" sz="6000" dirty="0"/>
          </a:p>
        </p:txBody>
      </p:sp>
      <p:sp>
        <p:nvSpPr>
          <p:cNvPr id="9" name="Text 7"/>
          <p:cNvSpPr txBox="1"/>
          <p:nvPr/>
        </p:nvSpPr>
        <p:spPr>
          <a:xfrm>
            <a:off x="7452360" y="1920240"/>
            <a:ext cx="3931920" cy="1417320"/>
          </a:xfrm>
          <a:prstGeom prst="rect">
            <a:avLst/>
          </a:prstGeom>
          <a:noFill/>
          <a:ln/>
        </p:spPr>
        <p:txBody>
          <a:bodyPr wrap="square" lIns="0" tIns="0" rIns="0" bIns="0" rtlCol="0" anchor="ctr"/>
          <a:lstStyle/>
          <a:p>
            <a:pPr indent="0" marL="0">
              <a:buNone/>
            </a:pPr>
            <a:r>
              <a:rPr lang="en-US" sz="2200" dirty="0">
                <a:solidFill>
                  <a:schemeClr val="tx1"/>
                </a:solidFill>
              </a:rPr>
              <a:t>How did he get into it?</a:t>
            </a:r>
            <a:endParaRPr lang="en-US" sz="2200" dirty="0"/>
          </a:p>
        </p:txBody>
      </p:sp>
      <p:sp>
        <p:nvSpPr>
          <p:cNvPr id="10" name="question 3"/>
          <p:cNvSpPr/>
          <p:nvPr/>
        </p:nvSpPr>
        <p:spPr>
          <a:xfrm>
            <a:off x="548640" y="3794760"/>
            <a:ext cx="5440680" cy="1874520"/>
          </a:xfrm>
          <a:prstGeom prst="roundRect">
            <a:avLst>
              <a:gd name="adj" fmla="val 3902"/>
            </a:avLst>
          </a:prstGeom>
          <a:solidFill>
            <a:schemeClr val="bg2"/>
          </a:solidFill>
          <a:ln w="12700">
            <a:solidFill>
              <a:schemeClr val="bg2"/>
            </a:solidFill>
            <a:prstDash val="solid"/>
          </a:ln>
        </p:spPr>
      </p:sp>
      <p:sp>
        <p:nvSpPr>
          <p:cNvPr id="11" name="Text 9"/>
          <p:cNvSpPr txBox="1"/>
          <p:nvPr/>
        </p:nvSpPr>
        <p:spPr>
          <a:xfrm>
            <a:off x="822960" y="4023360"/>
            <a:ext cx="914400" cy="141732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a:t>
            </a:r>
            <a:endParaRPr lang="en-US" sz="6000" dirty="0"/>
          </a:p>
        </p:txBody>
      </p:sp>
      <p:sp>
        <p:nvSpPr>
          <p:cNvPr id="12" name="Text 10"/>
          <p:cNvSpPr txBox="1"/>
          <p:nvPr/>
        </p:nvSpPr>
        <p:spPr>
          <a:xfrm>
            <a:off x="1828800" y="4023360"/>
            <a:ext cx="3931920" cy="1417320"/>
          </a:xfrm>
          <a:prstGeom prst="rect">
            <a:avLst/>
          </a:prstGeom>
          <a:noFill/>
          <a:ln/>
        </p:spPr>
        <p:txBody>
          <a:bodyPr wrap="square" lIns="0" tIns="0" rIns="0" bIns="0" rtlCol="0" anchor="ctr"/>
          <a:lstStyle/>
          <a:p>
            <a:pPr indent="0" marL="0">
              <a:buNone/>
            </a:pPr>
            <a:r>
              <a:rPr lang="en-US" sz="2200" dirty="0">
                <a:solidFill>
                  <a:schemeClr val="tx1"/>
                </a:solidFill>
              </a:rPr>
              <a:t>What was his dilemma?</a:t>
            </a:r>
            <a:endParaRPr lang="en-US" sz="2200" dirty="0"/>
          </a:p>
        </p:txBody>
      </p:sp>
      <p:sp>
        <p:nvSpPr>
          <p:cNvPr id="13" name="question 4"/>
          <p:cNvSpPr/>
          <p:nvPr/>
        </p:nvSpPr>
        <p:spPr>
          <a:xfrm>
            <a:off x="6172200" y="3794760"/>
            <a:ext cx="5440680" cy="1874520"/>
          </a:xfrm>
          <a:prstGeom prst="roundRect">
            <a:avLst>
              <a:gd name="adj" fmla="val 3902"/>
            </a:avLst>
          </a:prstGeom>
          <a:solidFill>
            <a:schemeClr val="bg2"/>
          </a:solidFill>
          <a:ln w="12700">
            <a:solidFill>
              <a:schemeClr val="bg2"/>
            </a:solidFill>
            <a:prstDash val="solid"/>
          </a:ln>
        </p:spPr>
      </p:sp>
      <p:sp>
        <p:nvSpPr>
          <p:cNvPr id="14" name="Text 12"/>
          <p:cNvSpPr txBox="1"/>
          <p:nvPr/>
        </p:nvSpPr>
        <p:spPr>
          <a:xfrm>
            <a:off x="6446520" y="4023360"/>
            <a:ext cx="914400" cy="141732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4</a:t>
            </a:r>
            <a:endParaRPr lang="en-US" sz="6000" dirty="0"/>
          </a:p>
        </p:txBody>
      </p:sp>
      <p:sp>
        <p:nvSpPr>
          <p:cNvPr id="15" name="Text 13"/>
          <p:cNvSpPr txBox="1"/>
          <p:nvPr/>
        </p:nvSpPr>
        <p:spPr>
          <a:xfrm>
            <a:off x="7452360" y="4023360"/>
            <a:ext cx="3931920" cy="1417320"/>
          </a:xfrm>
          <a:prstGeom prst="rect">
            <a:avLst/>
          </a:prstGeom>
          <a:noFill/>
          <a:ln/>
        </p:spPr>
        <p:txBody>
          <a:bodyPr wrap="square" lIns="0" tIns="0" rIns="0" bIns="0" rtlCol="0" anchor="ctr"/>
          <a:lstStyle/>
          <a:p>
            <a:pPr indent="0" marL="0">
              <a:buNone/>
            </a:pPr>
            <a:r>
              <a:rPr lang="en-US" sz="2200" dirty="0">
                <a:solidFill>
                  <a:schemeClr val="tx1"/>
                </a:solidFill>
              </a:rPr>
              <a:t>What about his personality might have caused him difficulty?</a:t>
            </a:r>
            <a:endParaRPr lang="en-US" sz="2200" dirty="0"/>
          </a:p>
        </p:txBody>
      </p:sp>
      <p:sp>
        <p:nvSpPr>
          <p:cNvPr id="16" name="Text 14"/>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300" i="1" dirty="0">
                <a:solidFill>
                  <a:schemeClr val="accent4"/>
                </a:solidFill>
              </a:rPr>
              <a:t>The protagonist is never named; by convention he is called the Underground Man.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FRAMING · THE UNDERGROUND MAN</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"I am a sick man.... I am a spiteful man."</a:t>
            </a:r>
            <a:endParaRPr lang="en-US" sz="3400" dirty="0"/>
          </a:p>
        </p:txBody>
      </p:sp>
      <p:sp>
        <p:nvSpPr>
          <p:cNvPr id="4" name="argument 1"/>
          <p:cNvSpPr/>
          <p:nvPr/>
        </p:nvSpPr>
        <p:spPr>
          <a:xfrm>
            <a:off x="548640" y="1645920"/>
            <a:ext cx="3474720" cy="3520440"/>
          </a:xfrm>
          <a:prstGeom prst="roundRect">
            <a:avLst>
              <a:gd name="adj" fmla="val 2105"/>
            </a:avLst>
          </a:prstGeom>
          <a:solidFill>
            <a:schemeClr val="bg2"/>
          </a:solidFill>
          <a:ln w="12700">
            <a:solidFill>
              <a:schemeClr val="bg2"/>
            </a:solidFill>
            <a:prstDash val="solid"/>
          </a:ln>
        </p:spPr>
      </p:sp>
      <p:sp>
        <p:nvSpPr>
          <p:cNvPr id="5" name="Not piano keys circle"/>
          <p:cNvSpPr/>
          <p:nvPr/>
        </p:nvSpPr>
        <p:spPr>
          <a:xfrm>
            <a:off x="1828800" y="1874520"/>
            <a:ext cx="914400" cy="914400"/>
          </a:xfrm>
          <a:prstGeom prst="ellipse">
            <a:avLst/>
          </a:prstGeom>
          <a:solidFill>
            <a:schemeClr val="accent1"/>
          </a:solidFill>
          <a:ln w="12700">
            <a:solidFill>
              <a:schemeClr val="accent1"/>
            </a:solidFill>
            <a:prstDash val="solid"/>
          </a:ln>
        </p:spPr>
      </p:sp>
      <p:pic>
        <p:nvPicPr>
          <p:cNvPr id="6" name="Not piano keys icon" descr="Not piano keys">    </p:cNvPr>
          <p:cNvPicPr>
            <a:picLocks noChangeAspect="1"/>
          </p:cNvPicPr>
          <p:nvPr/>
        </p:nvPicPr>
        <p:blipFill>
          <a:blip r:embed="rId1"/>
          <a:stretch>
            <a:fillRect/>
          </a:stretch>
        </p:blipFill>
        <p:spPr>
          <a:xfrm>
            <a:off x="2029968" y="2075688"/>
            <a:ext cx="512064" cy="512064"/>
          </a:xfrm>
          <a:prstGeom prst="rect">
            <a:avLst/>
          </a:prstGeom>
        </p:spPr>
      </p:pic>
      <p:sp>
        <p:nvSpPr>
          <p:cNvPr id="7" name="Text 4"/>
          <p:cNvSpPr txBox="1"/>
          <p:nvPr/>
        </p:nvSpPr>
        <p:spPr>
          <a:xfrm>
            <a:off x="822960" y="2926080"/>
            <a:ext cx="292608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Not piano keys</a:t>
            </a:r>
            <a:endParaRPr lang="en-US" sz="2200" dirty="0"/>
          </a:p>
        </p:txBody>
      </p:sp>
      <p:sp>
        <p:nvSpPr>
          <p:cNvPr id="8" name="Text 5"/>
          <p:cNvSpPr txBox="1"/>
          <p:nvPr/>
        </p:nvSpPr>
        <p:spPr>
          <a:xfrm>
            <a:off x="822960" y="3474720"/>
            <a:ext cx="2926080" cy="1143000"/>
          </a:xfrm>
          <a:prstGeom prst="rect">
            <a:avLst/>
          </a:prstGeom>
          <a:noFill/>
          <a:ln/>
        </p:spPr>
        <p:txBody>
          <a:bodyPr wrap="square" lIns="0" tIns="0" rIns="0" bIns="0" rtlCol="0" anchor="t"/>
          <a:lstStyle/>
          <a:p>
            <a:pPr algn="ctr" indent="0" marL="0">
              <a:buNone/>
            </a:pPr>
            <a:r>
              <a:rPr lang="en-US" sz="1800" dirty="0">
                <a:solidFill>
                  <a:schemeClr val="tx2"/>
                </a:solidFill>
              </a:rPr>
              <a:t>We'll act against our own interest just to prove we're free.</a:t>
            </a:r>
            <a:endParaRPr lang="en-US" sz="1800" dirty="0"/>
          </a:p>
          <a:p>
            <a:pPr algn="ctr" indent="0" marL="0">
              <a:buNone/>
            </a:pPr>
            <a:r>
              <a:rPr lang="en-US" sz="16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Watch from 17:58-19:00</a:t>
            </a:r>
            <a:endParaRPr lang="en-US" sz="1800" dirty="0"/>
          </a:p>
        </p:txBody>
      </p:sp>
      <p:sp>
        <p:nvSpPr>
          <p:cNvPr id="9" name="source tag 1"/>
          <p:cNvSpPr txBox="1"/>
          <p:nvPr/>
        </p:nvSpPr>
        <p:spPr>
          <a:xfrm>
            <a:off x="822960" y="4681728"/>
            <a:ext cx="2926080" cy="365760"/>
          </a:xfrm>
          <a:prstGeom prst="rect">
            <a:avLst/>
          </a:prstGeom>
          <a:noFill/>
          <a:ln/>
        </p:spPr>
        <p:txBody>
          <a:bodyPr wrap="square" lIns="0" tIns="0" rIns="0" bIns="0" rtlCol="0" anchor="ctr"/>
          <a:lstStyle/>
          <a:p>
            <a:pPr algn="ctr" indent="0" marL="0">
              <a:buNone/>
            </a:pPr>
            <a:r>
              <a:rPr lang="en-US" sz="1300" b="1" i="1" dirty="0">
                <a:solidFill>
                  <a:schemeClr val="accent3"/>
                </a:solidFill>
              </a:rPr>
              <a:t>✓ </a:t>
            </a:r>
            <a:pPr algn="ctr" indent="0" marL="0">
              <a:buNone/>
            </a:pPr>
            <a:r>
              <a:rPr lang="en-US" sz="1300" i="1" dirty="0">
                <a:solidFill>
                  <a:schemeClr val="accent3"/>
                </a:solidFill>
              </a:rPr>
              <a:t>In the show</a:t>
            </a:r>
            <a:endParaRPr lang="en-US" sz="1300" dirty="0"/>
          </a:p>
        </p:txBody>
      </p:sp>
      <p:sp>
        <p:nvSpPr>
          <p:cNvPr id="10" name="argument 2"/>
          <p:cNvSpPr/>
          <p:nvPr/>
        </p:nvSpPr>
        <p:spPr>
          <a:xfrm>
            <a:off x="4297680" y="1645920"/>
            <a:ext cx="3474720" cy="3520440"/>
          </a:xfrm>
          <a:prstGeom prst="roundRect">
            <a:avLst>
              <a:gd name="adj" fmla="val 2105"/>
            </a:avLst>
          </a:prstGeom>
          <a:solidFill>
            <a:schemeClr val="bg2"/>
          </a:solidFill>
          <a:ln w="12700">
            <a:solidFill>
              <a:schemeClr val="bg2"/>
            </a:solidFill>
            <a:prstDash val="solid"/>
          </a:ln>
        </p:spPr>
      </p:sp>
      <p:sp>
        <p:nvSpPr>
          <p:cNvPr id="11" name="2x2 circle"/>
          <p:cNvSpPr/>
          <p:nvPr/>
        </p:nvSpPr>
        <p:spPr>
          <a:xfrm>
            <a:off x="5577840" y="1874520"/>
            <a:ext cx="914400" cy="914400"/>
          </a:xfrm>
          <a:prstGeom prst="ellipse">
            <a:avLst/>
          </a:prstGeom>
          <a:solidFill>
            <a:schemeClr val="accent1"/>
          </a:solidFill>
          <a:ln w="12700">
            <a:solidFill>
              <a:schemeClr val="accent1"/>
            </a:solidFill>
            <a:prstDash val="solid"/>
          </a:ln>
        </p:spPr>
      </p:sp>
      <p:sp>
        <p:nvSpPr>
          <p:cNvPr id="12" name="Text 9"/>
          <p:cNvSpPr txBox="1"/>
          <p:nvPr/>
        </p:nvSpPr>
        <p:spPr>
          <a:xfrm>
            <a:off x="5577840" y="1874520"/>
            <a:ext cx="914400" cy="9144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2×2</a:t>
            </a:r>
            <a:endParaRPr lang="en-US" sz="2200" dirty="0"/>
          </a:p>
        </p:txBody>
      </p:sp>
      <p:sp>
        <p:nvSpPr>
          <p:cNvPr id="13" name="Text 10"/>
          <p:cNvSpPr txBox="1"/>
          <p:nvPr/>
        </p:nvSpPr>
        <p:spPr>
          <a:xfrm>
            <a:off x="4572000" y="2926080"/>
            <a:ext cx="292608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2 × 2 = 4</a:t>
            </a:r>
            <a:endParaRPr lang="en-US" sz="2200" dirty="0"/>
          </a:p>
        </p:txBody>
      </p:sp>
      <p:sp>
        <p:nvSpPr>
          <p:cNvPr id="14" name="Text 11"/>
          <p:cNvSpPr txBox="1"/>
          <p:nvPr/>
        </p:nvSpPr>
        <p:spPr>
          <a:xfrm>
            <a:off x="4572000" y="3474720"/>
            <a:ext cx="2926080" cy="1143000"/>
          </a:xfrm>
          <a:prstGeom prst="rect">
            <a:avLst/>
          </a:prstGeom>
          <a:noFill/>
          <a:ln/>
        </p:spPr>
        <p:txBody>
          <a:bodyPr wrap="square" lIns="0" tIns="0" rIns="0" bIns="0" rtlCol="0" anchor="t"/>
          <a:lstStyle/>
          <a:p>
            <a:pPr algn="ctr" indent="0" marL="0">
              <a:buNone/>
            </a:pPr>
            <a:r>
              <a:rPr lang="en-US" sz="1800" dirty="0">
                <a:solidFill>
                  <a:schemeClr val="tx2"/>
                </a:solidFill>
              </a:rPr>
              <a:t>"Twice two makes four" is the beginning of death.</a:t>
            </a:r>
            <a:endParaRPr lang="en-US" sz="1800" dirty="0"/>
          </a:p>
        </p:txBody>
      </p:sp>
      <p:sp>
        <p:nvSpPr>
          <p:cNvPr id="15" name="source tag 2"/>
          <p:cNvSpPr txBox="1"/>
          <p:nvPr/>
        </p:nvSpPr>
        <p:spPr>
          <a:xfrm>
            <a:off x="4572000" y="4681728"/>
            <a:ext cx="2926080" cy="365760"/>
          </a:xfrm>
          <a:prstGeom prst="rect">
            <a:avLst/>
          </a:prstGeom>
          <a:noFill/>
          <a:ln/>
        </p:spPr>
        <p:txBody>
          <a:bodyPr wrap="square" lIns="0" tIns="0" rIns="0" bIns="0" rtlCol="0" anchor="ctr"/>
          <a:lstStyle/>
          <a:p>
            <a:pPr algn="ctr" indent="0" marL="0">
              <a:buNone/>
            </a:pPr>
            <a:r>
              <a:rPr lang="en-US" sz="1300" i="1" dirty="0">
                <a:solidFill>
                  <a:schemeClr val="accent1"/>
                </a:solidFill>
              </a:rPr>
              <a:t>From the novella; left out of the show</a:t>
            </a:r>
            <a:endParaRPr lang="en-US" sz="1300" dirty="0"/>
          </a:p>
        </p:txBody>
      </p:sp>
      <p:sp>
        <p:nvSpPr>
          <p:cNvPr id="16" name="argument 3"/>
          <p:cNvSpPr/>
          <p:nvPr/>
        </p:nvSpPr>
        <p:spPr>
          <a:xfrm>
            <a:off x="8046720" y="1645920"/>
            <a:ext cx="3474720" cy="3520440"/>
          </a:xfrm>
          <a:prstGeom prst="roundRect">
            <a:avLst>
              <a:gd name="adj" fmla="val 2105"/>
            </a:avLst>
          </a:prstGeom>
          <a:solidFill>
            <a:schemeClr val="bg2"/>
          </a:solidFill>
          <a:ln w="12700">
            <a:solidFill>
              <a:schemeClr val="bg2"/>
            </a:solidFill>
            <a:prstDash val="solid"/>
          </a:ln>
        </p:spPr>
      </p:sp>
      <p:sp>
        <p:nvSpPr>
          <p:cNvPr id="17" name="No tongue allowed circle"/>
          <p:cNvSpPr/>
          <p:nvPr/>
        </p:nvSpPr>
        <p:spPr>
          <a:xfrm>
            <a:off x="9326880" y="1874520"/>
            <a:ext cx="914400" cy="914400"/>
          </a:xfrm>
          <a:prstGeom prst="ellipse">
            <a:avLst/>
          </a:prstGeom>
          <a:solidFill>
            <a:schemeClr val="accent1"/>
          </a:solidFill>
          <a:ln w="12700">
            <a:solidFill>
              <a:schemeClr val="accent1"/>
            </a:solidFill>
            <a:prstDash val="solid"/>
          </a:ln>
        </p:spPr>
      </p:sp>
      <p:pic>
        <p:nvPicPr>
          <p:cNvPr id="18" name="No tongue allowed icon" descr="No tongue allowed">    </p:cNvPr>
          <p:cNvPicPr>
            <a:picLocks noChangeAspect="1"/>
          </p:cNvPicPr>
          <p:nvPr/>
        </p:nvPicPr>
        <p:blipFill>
          <a:blip r:embed="rId3"/>
          <a:stretch>
            <a:fillRect/>
          </a:stretch>
        </p:blipFill>
        <p:spPr>
          <a:xfrm>
            <a:off x="9528048" y="2075688"/>
            <a:ext cx="512064" cy="512064"/>
          </a:xfrm>
          <a:prstGeom prst="rect">
            <a:avLst/>
          </a:prstGeom>
        </p:spPr>
      </p:pic>
      <p:sp>
        <p:nvSpPr>
          <p:cNvPr id="19" name="Text 15"/>
          <p:cNvSpPr txBox="1"/>
          <p:nvPr/>
        </p:nvSpPr>
        <p:spPr>
          <a:xfrm>
            <a:off x="8321040" y="2926080"/>
            <a:ext cx="292608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No tongue allowed</a:t>
            </a:r>
            <a:endParaRPr lang="en-US" sz="2200" dirty="0"/>
          </a:p>
        </p:txBody>
      </p:sp>
      <p:sp>
        <p:nvSpPr>
          <p:cNvPr id="20" name="Text 16"/>
          <p:cNvSpPr txBox="1"/>
          <p:nvPr/>
        </p:nvSpPr>
        <p:spPr>
          <a:xfrm>
            <a:off x="8321040" y="3474720"/>
            <a:ext cx="2926080" cy="1143000"/>
          </a:xfrm>
          <a:prstGeom prst="rect">
            <a:avLst/>
          </a:prstGeom>
          <a:noFill/>
          <a:ln/>
        </p:spPr>
        <p:txBody>
          <a:bodyPr wrap="square" lIns="0" tIns="0" rIns="0" bIns="0" rtlCol="0" anchor="t"/>
          <a:lstStyle/>
          <a:p>
            <a:pPr algn="ctr" indent="0" marL="0">
              <a:buNone/>
            </a:pPr>
            <a:r>
              <a:rPr lang="en-US" sz="1800" dirty="0">
                <a:solidFill>
                  <a:schemeClr val="tx2"/>
                </a:solidFill>
              </a:rPr>
              <a:t>In the Crystal Palace you can't even stick out your tongue.</a:t>
            </a:r>
            <a:endParaRPr lang="en-US" sz="1800" dirty="0"/>
          </a:p>
        </p:txBody>
      </p:sp>
      <p:sp>
        <p:nvSpPr>
          <p:cNvPr id="21" name="source tag 3"/>
          <p:cNvSpPr txBox="1"/>
          <p:nvPr/>
        </p:nvSpPr>
        <p:spPr>
          <a:xfrm>
            <a:off x="8321040" y="4681728"/>
            <a:ext cx="2926080" cy="365760"/>
          </a:xfrm>
          <a:prstGeom prst="rect">
            <a:avLst/>
          </a:prstGeom>
          <a:noFill/>
          <a:ln/>
        </p:spPr>
        <p:txBody>
          <a:bodyPr wrap="square" lIns="0" tIns="0" rIns="0" bIns="0" rtlCol="0" anchor="ctr"/>
          <a:lstStyle/>
          <a:p>
            <a:pPr algn="ctr" indent="0" marL="0">
              <a:buNone/>
            </a:pPr>
            <a:r>
              <a:rPr lang="en-US" sz="1300" i="1" dirty="0">
                <a:solidFill>
                  <a:schemeClr val="accent1"/>
                </a:solidFill>
              </a:rPr>
              <a:t>From the novella; left out of the show</a:t>
            </a:r>
            <a:endParaRPr lang="en-US" sz="1300" dirty="0"/>
          </a:p>
        </p:txBody>
      </p:sp>
      <p:sp>
        <p:nvSpPr>
          <p:cNvPr id="22" name="target banner"/>
          <p:cNvSpPr/>
          <p:nvPr/>
        </p:nvSpPr>
        <p:spPr>
          <a:xfrm>
            <a:off x="548640" y="5440680"/>
            <a:ext cx="11064240" cy="822960"/>
          </a:xfrm>
          <a:prstGeom prst="roundRect">
            <a:avLst>
              <a:gd name="adj" fmla="val 8889"/>
            </a:avLst>
          </a:prstGeom>
          <a:solidFill>
            <a:schemeClr val="tx2"/>
          </a:solidFill>
          <a:ln w="12700">
            <a:solidFill>
              <a:schemeClr val="tx2"/>
            </a:solidFill>
            <a:prstDash val="solid"/>
          </a:ln>
        </p:spPr>
      </p:sp>
      <p:sp>
        <p:nvSpPr>
          <p:cNvPr id="23" name="Text 19"/>
          <p:cNvSpPr txBox="1"/>
          <p:nvPr/>
        </p:nvSpPr>
        <p:spPr>
          <a:xfrm>
            <a:off x="822960" y="5440680"/>
            <a:ext cx="10515600" cy="822960"/>
          </a:xfrm>
          <a:prstGeom prst="rect">
            <a:avLst/>
          </a:prstGeom>
          <a:noFill/>
          <a:ln/>
        </p:spPr>
        <p:txBody>
          <a:bodyPr wrap="square" lIns="0" tIns="0" rIns="0" bIns="0" rtlCol="0" anchor="ctr"/>
          <a:lstStyle/>
          <a:p>
            <a:pPr indent="0" marL="0">
              <a:buNone/>
            </a:pPr>
            <a:r>
              <a:rPr lang="en-US" sz="2000" b="1" dirty="0">
                <a:solidFill>
                  <a:schemeClr val="accent2"/>
                </a:solidFill>
              </a:rPr>
              <a:t>The target is not reason itself. </a:t>
            </a:r>
            <a:pPr indent="0" marL="0">
              <a:buNone/>
            </a:pPr>
            <a:r>
              <a:rPr lang="en-US" sz="2000" dirty="0">
                <a:solidFill>
                  <a:schemeClr val="bg1"/>
                </a:solidFill>
              </a:rPr>
              <a:t>It is reason claiming totality.</a:t>
            </a:r>
            <a:endParaRPr lang="en-US" sz="2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WARM-UP DIALOGUE · PART 1 OF 3 · READERS: AVERY AND RILEY</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Not the Keys of a Piano</a:t>
            </a:r>
            <a:endParaRPr lang="en-US" sz="3400" dirty="0"/>
          </a:p>
        </p:txBody>
      </p:sp>
      <p:sp>
        <p:nvSpPr>
          <p:cNvPr id="4" name="dialogue text"/>
          <p:cNvSpPr txBox="1"/>
          <p:nvPr/>
        </p:nvSpPr>
        <p:spPr>
          <a:xfrm>
            <a:off x="548640" y="1554480"/>
            <a:ext cx="11064240" cy="4754880"/>
          </a:xfrm>
          <a:prstGeom prst="rect">
            <a:avLst/>
          </a:prstGeom>
          <a:noFill/>
          <a:ln/>
        </p:spPr>
        <p:txBody>
          <a:bodyPr wrap="square" lIns="0" tIns="0" rIns="0" bIns="0" rtlCol="0" anchor="t"/>
          <a:lstStyle/>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"I am a sick man. I am a spiteful man." That's how Dostoevsky's Notes from Underground begins.</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Not exactly a warm welcome.</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He doesn't want one. He's a retired clerk who has spent forty years in his corner, and he tells us that to be too conscious is an illness.</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An illness? Most of us think knowing ourselves is the cure.</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Not for him. He sees through every motive, including his own, so he can't become anything. Not spiteful, not kind, not a hero, not even an insect.</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So what's he arguing against?</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The confident people who say we only do nasty things because we don't know our own interests. Show us our real advantage, they say, and we'll be good out of sheer necessity.</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That sounds reasonable.</a:t>
            </a:r>
            <a:endParaRPr lang="en-US" sz="19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WARM-UP DIALOGUE · PART 2 OF 3 · READERS: AVERY AND RILEY</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Not the Keys of a Piano</a:t>
            </a:r>
            <a:endParaRPr lang="en-US" sz="3400" dirty="0"/>
          </a:p>
        </p:txBody>
      </p:sp>
      <p:sp>
        <p:nvSpPr>
          <p:cNvPr id="4" name="dialogue text"/>
          <p:cNvSpPr txBox="1"/>
          <p:nvPr/>
        </p:nvSpPr>
        <p:spPr>
          <a:xfrm>
            <a:off x="548640" y="1554480"/>
            <a:ext cx="11064240" cy="4754880"/>
          </a:xfrm>
          <a:prstGeom prst="rect">
            <a:avLst/>
          </a:prstGeom>
          <a:noFill/>
          <a:ln/>
        </p:spPr>
        <p:txBody>
          <a:bodyPr wrap="square" lIns="0" tIns="0" rIns="0" bIns="0" rtlCol="0" anchor="t"/>
          <a:lstStyle/>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That's exactly his target. He says what a person wants is simply independent choice, whatever that independence may cost and wherever it may lead.</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Even if the choice is stupid?</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Especially then. A man may choose something stupid just to keep the right to choose it. Otherwise, he says, we'd be nothing but the keys of a piano.</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Press the key, and the note sounds.</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And he asks the reformers a question: how do you know it's even desirable to reform people that way?</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But he's hardly a hero of freedom.</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No, and the second half shows it. He meets Liza, a young woman in a brothel, and gives her a moving speech about the life she could still have. He gives her his address.</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And she comes.</a:t>
            </a:r>
            <a:endParaRPr lang="en-US" sz="19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WARM-UP DIALOGUE · PART 3 OF 3 · READERS: AVERY AND RILEY</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Not the Keys of a Piano</a:t>
            </a:r>
            <a:endParaRPr lang="en-US" sz="3400" dirty="0"/>
          </a:p>
        </p:txBody>
      </p:sp>
      <p:sp>
        <p:nvSpPr>
          <p:cNvPr id="4" name="dialogue text"/>
          <p:cNvSpPr txBox="1"/>
          <p:nvPr/>
        </p:nvSpPr>
        <p:spPr>
          <a:xfrm>
            <a:off x="548640" y="1554480"/>
            <a:ext cx="11064240" cy="4754880"/>
          </a:xfrm>
          <a:prstGeom prst="rect">
            <a:avLst/>
          </a:prstGeom>
          <a:noFill/>
          <a:ln/>
        </p:spPr>
        <p:txBody>
          <a:bodyPr wrap="square" lIns="0" tIns="0" rIns="0" bIns="0" rtlCol="0" anchor="t"/>
          <a:lstStyle/>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She does. And he turns on her. He tells her it was all a game, that power was what he wanted. Then he breaks down and says, "I can't be good."</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So he can stand up to the reformers, but he can't accept one person's kindness.</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He even admits that, for him, loving meant showing his moral superiority.</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And how does he leave us?</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He turns the mirror on us. Give any one of us a little more independence, he says, relax the control, and we'd be begging to be under control again at once.</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That's chilling.</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It's why this is a good place to start thinking about defiance and control. He sees the danger of being managed for our own good. But he also suspects we might want it.</a:t>
            </a:r>
            <a:endParaRPr lang="en-US" sz="1900" dirty="0"/>
          </a:p>
          <a:p>
            <a:pPr indent="0" marL="0">
              <a:lnSpc>
                <a:spcPct val="100000"/>
              </a:lnSpc>
              <a:spcAft>
                <a:spcPts val="900"/>
              </a:spcAft>
              <a:buNone/>
            </a:pPr>
            <a:r>
              <a:rPr lang="en-US" sz="1500" b="1" spc="100" kern="0" dirty="0">
                <a:solidFill>
                  <a:schemeClr val="accent3"/>
                </a:solidFill>
              </a:rPr>
              <a:t>RILEY   </a:t>
            </a:r>
            <a:pPr indent="0" marL="0">
              <a:lnSpc>
                <a:spcPct val="100000"/>
              </a:lnSpc>
              <a:spcAft>
                <a:spcPts val="900"/>
              </a:spcAft>
              <a:buNone/>
            </a:pPr>
            <a:r>
              <a:rPr lang="en-US" sz="1900" dirty="0">
                <a:solidFill>
                  <a:schemeClr val="tx1"/>
                </a:solidFill>
              </a:rPr>
              <a:t>Then the question is whether we can choose freely without ending up alone in his corner.</a:t>
            </a:r>
            <a:endParaRPr lang="en-US" sz="1900" dirty="0"/>
          </a:p>
          <a:p>
            <a:pPr indent="0" marL="0">
              <a:lnSpc>
                <a:spcPct val="100000"/>
              </a:lnSpc>
              <a:spcAft>
                <a:spcPts val="900"/>
              </a:spcAft>
              <a:buNone/>
            </a:pPr>
            <a:r>
              <a:rPr lang="en-US" sz="1500" b="1" spc="100" kern="0" dirty="0">
                <a:solidFill>
                  <a:schemeClr val="accent1"/>
                </a:solidFill>
              </a:rPr>
              <a:t>AVERY   </a:t>
            </a:r>
            <a:pPr indent="0" marL="0">
              <a:lnSpc>
                <a:spcPct val="100000"/>
              </a:lnSpc>
              <a:spcAft>
                <a:spcPts val="900"/>
              </a:spcAft>
              <a:buNone/>
            </a:pPr>
            <a:r>
              <a:rPr lang="en-US" sz="1900" dirty="0">
                <a:solidFill>
                  <a:schemeClr val="tx1"/>
                </a:solidFill>
              </a:rPr>
              <a:t>Or whether we'd even notice we'd stopped choosing.</a:t>
            </a:r>
            <a:endParaRPr lang="en-US" sz="19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10698480" cy="457200"/>
          </a:xfrm>
          <a:prstGeom prst="rect">
            <a:avLst/>
          </a:prstGeom>
          <a:noFill/>
          <a:ln/>
        </p:spPr>
        <p:txBody>
          <a:bodyPr wrap="square" rtlCol="0"/>
          <a:lstStyle/>
          <a:p>
            <a:pPr indent="0" marL="0">
              <a:buNone/>
            </a:pPr>
            <a:r>
              <a:rPr lang="en-US" sz="1600" b="1" spc="300" kern="0" dirty="0">
                <a:solidFill>
                  <a:schemeClr val="accent2"/>
                </a:solidFill>
                <a:latin typeface="Calibri" pitchFamily="34" charset="0"/>
                <a:ea typeface="Calibri" pitchFamily="34" charset="-122"/>
                <a:cs typeface="Calibri" pitchFamily="34" charset="-120"/>
              </a:rPr>
              <a:t>CLIP 2 · AFTER THE DIALOGUE</a:t>
            </a:r>
            <a:endParaRPr lang="en-US" sz="1600" dirty="0"/>
          </a:p>
        </p:txBody>
      </p:sp>
      <p:sp>
        <p:nvSpPr>
          <p:cNvPr id="3" name="Text 0"/>
          <p:cNvSpPr/>
          <p:nvPr>
            <p:ph idx="101" type="title" hasCustomPrompt="1"/>
          </p:nvPr>
        </p:nvSpPr>
        <p:spPr>
          <a:xfrm>
            <a:off x="731520" y="1188720"/>
            <a:ext cx="10698480" cy="9144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How he leaves us</a:t>
            </a:r>
            <a:endParaRPr lang="en-US" sz="4000" dirty="0"/>
          </a:p>
        </p:txBody>
      </p:sp>
      <p:sp>
        <p:nvSpPr>
          <p:cNvPr id="4" name="mirror clip 2 circle"/>
          <p:cNvSpPr/>
          <p:nvPr/>
        </p:nvSpPr>
        <p:spPr>
          <a:xfrm>
            <a:off x="731520" y="2514600"/>
            <a:ext cx="1463040" cy="1463040"/>
          </a:xfrm>
          <a:prstGeom prst="ellipse">
            <a:avLst/>
          </a:prstGeom>
          <a:solidFill>
            <a:schemeClr val="accent1"/>
          </a:solidFill>
          <a:ln w="12700">
            <a:solidFill>
              <a:schemeClr val="accent1"/>
            </a:solidFill>
            <a:prstDash val="solid"/>
          </a:ln>
        </p:spPr>
      </p:sp>
      <p:pic>
        <p:nvPicPr>
          <p:cNvPr id="5" name="mirror clip 2 icon" descr="mirror clip 2">    </p:cNvPr>
          <p:cNvPicPr>
            <a:picLocks noChangeAspect="1"/>
          </p:cNvPicPr>
          <p:nvPr/>
        </p:nvPicPr>
        <p:blipFill>
          <a:blip r:embed="rId1"/>
          <a:stretch>
            <a:fillRect/>
          </a:stretch>
        </p:blipFill>
        <p:spPr>
          <a:xfrm>
            <a:off x="1053389" y="2836469"/>
            <a:ext cx="819302" cy="819302"/>
          </a:xfrm>
          <a:prstGeom prst="rect">
            <a:avLst/>
          </a:prstGeom>
        </p:spPr>
      </p:pic>
      <p:sp>
        <p:nvSpPr>
          <p:cNvPr id="6" name="Text 3"/>
          <p:cNvSpPr txBox="1"/>
          <p:nvPr/>
        </p:nvSpPr>
        <p:spPr>
          <a:xfrm>
            <a:off x="2560320" y="2194560"/>
            <a:ext cx="8869680" cy="2377440"/>
          </a:xfrm>
          <a:prstGeom prst="rect">
            <a:avLst/>
          </a:prstGeom>
          <a:noFill/>
          <a:ln/>
        </p:spPr>
        <p:txBody>
          <a:bodyPr wrap="square" lIns="0" tIns="0" rIns="0" bIns="0" rtlCol="0" anchor="ctr"/>
          <a:lstStyle/>
          <a:p>
            <a:pPr indent="0" marL="0">
              <a:buNone/>
            </a:pPr>
            <a:r>
              <a:rPr lang="en-US" sz="2800" i="1" dirty="0">
                <a:solidFill>
                  <a:schemeClr val="bg1"/>
                </a:solidFill>
                <a:latin typeface="Cambria" pitchFamily="34" charset="0"/>
                <a:ea typeface="Cambria" pitchFamily="34" charset="-122"/>
                <a:cs typeface="Cambria" pitchFamily="34" charset="-120"/>
              </a:rPr>
              <a:t>Give us a little more independence, relax the control, and we'd be begging to be under control again at once.</a:t>
            </a:r>
            <a:endParaRPr lang="en-US" sz="2800" dirty="0"/>
          </a:p>
          <a:p>
            <a:pPr indent="0" marL="0">
              <a:buNone/>
            </a:pPr>
            <a:r>
              <a:rPr lang="en-US" sz="1000" dirty="0">
                <a:solidFill>
                  <a:srgbClr val="000000"/>
                </a:solidFill>
              </a:rPr>
              <a:t> </a:t>
            </a:r>
            <a:endParaRPr lang="en-US" sz="2800" dirty="0"/>
          </a:p>
          <a:p>
            <a:pPr indent="0" marL="0">
              <a:buNone/>
            </a:pPr>
            <a:r>
              <a:rPr lang="en-US" sz="22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Watch from 1:29:45</a:t>
            </a:r>
            <a:endParaRPr lang="en-US" sz="2800" dirty="0"/>
          </a:p>
        </p:txBody>
      </p:sp>
      <p:sp>
        <p:nvSpPr>
          <p:cNvPr id="7" name="Text 4"/>
          <p:cNvSpPr txBox="1"/>
          <p:nvPr/>
        </p:nvSpPr>
        <p:spPr>
          <a:xfrm>
            <a:off x="731520" y="5943600"/>
            <a:ext cx="10515600" cy="365760"/>
          </a:xfrm>
          <a:prstGeom prst="rect">
            <a:avLst/>
          </a:prstGeom>
          <a:noFill/>
          <a:ln/>
        </p:spPr>
        <p:txBody>
          <a:bodyPr wrap="square" lIns="0" tIns="0" rIns="0" bIns="0" rtlCol="0" anchor="ctr"/>
          <a:lstStyle/>
          <a:p>
            <a:pPr indent="0" marL="0">
              <a:buNone/>
            </a:pPr>
            <a:r>
              <a:rPr lang="en-US" sz="1200" dirty="0">
                <a:solidFill>
                  <a:schemeClr val="accent5"/>
                </a:solidFill>
              </a:rPr>
              <a:t>Avery's paraphrase of the closing pages, from the dialogue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QUESTIONS · MORE ABSTRACT / SUBJECTIVE</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Through the lens of human outlier analysis</a:t>
            </a:r>
            <a:endParaRPr lang="en-US" sz="3400" dirty="0"/>
          </a:p>
        </p:txBody>
      </p:sp>
      <p:sp>
        <p:nvSpPr>
          <p:cNvPr id="4" name="abstract q1 circle"/>
          <p:cNvSpPr/>
          <p:nvPr/>
        </p:nvSpPr>
        <p:spPr>
          <a:xfrm>
            <a:off x="548640" y="1691640"/>
            <a:ext cx="731520" cy="731520"/>
          </a:xfrm>
          <a:prstGeom prst="ellipse">
            <a:avLst/>
          </a:prstGeom>
          <a:solidFill>
            <a:schemeClr val="accent3"/>
          </a:solidFill>
          <a:ln w="12700">
            <a:solidFill>
              <a:schemeClr val="accent3"/>
            </a:solidFill>
            <a:prstDash val="solid"/>
          </a:ln>
        </p:spPr>
      </p:sp>
      <p:pic>
        <p:nvPicPr>
          <p:cNvPr id="5" name="abstract q1 icon" descr="abstract q1">    </p:cNvPr>
          <p:cNvPicPr>
            <a:picLocks noChangeAspect="1"/>
          </p:cNvPicPr>
          <p:nvPr/>
        </p:nvPicPr>
        <p:blipFill>
          <a:blip r:embed="rId1"/>
          <a:stretch>
            <a:fillRect/>
          </a:stretch>
        </p:blipFill>
        <p:spPr>
          <a:xfrm>
            <a:off x="709574" y="1852574"/>
            <a:ext cx="409651" cy="409651"/>
          </a:xfrm>
          <a:prstGeom prst="rect">
            <a:avLst/>
          </a:prstGeom>
        </p:spPr>
      </p:pic>
      <p:sp>
        <p:nvSpPr>
          <p:cNvPr id="6" name="Text 3"/>
          <p:cNvSpPr txBox="1"/>
          <p:nvPr/>
        </p:nvSpPr>
        <p:spPr>
          <a:xfrm>
            <a:off x="1508760" y="1645920"/>
            <a:ext cx="6400800" cy="822960"/>
          </a:xfrm>
          <a:prstGeom prst="rect">
            <a:avLst/>
          </a:prstGeom>
          <a:noFill/>
          <a:ln/>
        </p:spPr>
        <p:txBody>
          <a:bodyPr wrap="square" lIns="0" tIns="0" rIns="0" bIns="0" rtlCol="0" anchor="ctr"/>
          <a:lstStyle/>
          <a:p>
            <a:pPr indent="0" marL="0">
              <a:buNone/>
            </a:pPr>
            <a:r>
              <a:rPr lang="en-US" sz="1900" dirty="0">
                <a:solidFill>
                  <a:schemeClr val="tx1"/>
                </a:solidFill>
              </a:rPr>
              <a:t>How is the protagonist unusual in the society in which he lives, and how is he trying to influence that society?</a:t>
            </a:r>
            <a:endParaRPr lang="en-US" sz="1900" dirty="0"/>
          </a:p>
        </p:txBody>
      </p:sp>
      <p:sp>
        <p:nvSpPr>
          <p:cNvPr id="7" name="abstract q2 circle"/>
          <p:cNvSpPr/>
          <p:nvPr/>
        </p:nvSpPr>
        <p:spPr>
          <a:xfrm>
            <a:off x="548640" y="2715768"/>
            <a:ext cx="731520" cy="731520"/>
          </a:xfrm>
          <a:prstGeom prst="ellipse">
            <a:avLst/>
          </a:prstGeom>
          <a:solidFill>
            <a:schemeClr val="accent3"/>
          </a:solidFill>
          <a:ln w="12700">
            <a:solidFill>
              <a:schemeClr val="accent3"/>
            </a:solidFill>
            <a:prstDash val="solid"/>
          </a:ln>
        </p:spPr>
      </p:sp>
      <p:pic>
        <p:nvPicPr>
          <p:cNvPr id="8" name="abstract q2 icon" descr="abstract q2">    </p:cNvPr>
          <p:cNvPicPr>
            <a:picLocks noChangeAspect="1"/>
          </p:cNvPicPr>
          <p:nvPr/>
        </p:nvPicPr>
        <p:blipFill>
          <a:blip r:embed="rId2"/>
          <a:stretch>
            <a:fillRect/>
          </a:stretch>
        </p:blipFill>
        <p:spPr>
          <a:xfrm>
            <a:off x="709574" y="2876702"/>
            <a:ext cx="409651" cy="409651"/>
          </a:xfrm>
          <a:prstGeom prst="rect">
            <a:avLst/>
          </a:prstGeom>
        </p:spPr>
      </p:pic>
      <p:sp>
        <p:nvSpPr>
          <p:cNvPr id="9" name="Text 5"/>
          <p:cNvSpPr txBox="1"/>
          <p:nvPr/>
        </p:nvSpPr>
        <p:spPr>
          <a:xfrm>
            <a:off x="1508760" y="2670048"/>
            <a:ext cx="6400800" cy="822960"/>
          </a:xfrm>
          <a:prstGeom prst="rect">
            <a:avLst/>
          </a:prstGeom>
          <a:noFill/>
          <a:ln/>
        </p:spPr>
        <p:txBody>
          <a:bodyPr wrap="square" lIns="0" tIns="0" rIns="0" bIns="0" rtlCol="0" anchor="ctr"/>
          <a:lstStyle/>
          <a:p>
            <a:pPr indent="0" marL="0">
              <a:buNone/>
            </a:pPr>
            <a:r>
              <a:rPr lang="en-US" sz="1900" dirty="0">
                <a:solidFill>
                  <a:schemeClr val="tx1"/>
                </a:solidFill>
              </a:rPr>
              <a:t>Do you sympathize with the protagonist and his plight? What about the other characters?</a:t>
            </a:r>
            <a:endParaRPr lang="en-US" sz="1900" dirty="0"/>
          </a:p>
        </p:txBody>
      </p:sp>
      <p:sp>
        <p:nvSpPr>
          <p:cNvPr id="10" name="abstract q3 circle"/>
          <p:cNvSpPr/>
          <p:nvPr/>
        </p:nvSpPr>
        <p:spPr>
          <a:xfrm>
            <a:off x="548640" y="3739896"/>
            <a:ext cx="731520" cy="731520"/>
          </a:xfrm>
          <a:prstGeom prst="ellipse">
            <a:avLst/>
          </a:prstGeom>
          <a:solidFill>
            <a:schemeClr val="accent3"/>
          </a:solidFill>
          <a:ln w="12700">
            <a:solidFill>
              <a:schemeClr val="accent3"/>
            </a:solidFill>
            <a:prstDash val="solid"/>
          </a:ln>
        </p:spPr>
      </p:sp>
      <p:pic>
        <p:nvPicPr>
          <p:cNvPr id="11" name="abstract q3 icon" descr="abstract q3">    </p:cNvPr>
          <p:cNvPicPr>
            <a:picLocks noChangeAspect="1"/>
          </p:cNvPicPr>
          <p:nvPr/>
        </p:nvPicPr>
        <p:blipFill>
          <a:blip r:embed="rId3"/>
          <a:stretch>
            <a:fillRect/>
          </a:stretch>
        </p:blipFill>
        <p:spPr>
          <a:xfrm>
            <a:off x="709574" y="3900830"/>
            <a:ext cx="409651" cy="409651"/>
          </a:xfrm>
          <a:prstGeom prst="rect">
            <a:avLst/>
          </a:prstGeom>
        </p:spPr>
      </p:pic>
      <p:sp>
        <p:nvSpPr>
          <p:cNvPr id="12" name="Text 7"/>
          <p:cNvSpPr txBox="1"/>
          <p:nvPr/>
        </p:nvSpPr>
        <p:spPr>
          <a:xfrm>
            <a:off x="1508760" y="3694176"/>
            <a:ext cx="6400800" cy="822960"/>
          </a:xfrm>
          <a:prstGeom prst="rect">
            <a:avLst/>
          </a:prstGeom>
          <a:noFill/>
          <a:ln/>
        </p:spPr>
        <p:txBody>
          <a:bodyPr wrap="square" lIns="0" tIns="0" rIns="0" bIns="0" rtlCol="0" anchor="ctr"/>
          <a:lstStyle/>
          <a:p>
            <a:pPr indent="0" marL="0">
              <a:buNone/>
            </a:pPr>
            <a:r>
              <a:rPr lang="en-US" sz="1900" dirty="0">
                <a:solidFill>
                  <a:schemeClr val="tx1"/>
                </a:solidFill>
              </a:rPr>
              <a:t>Can we usefully separate out the dysfunction from the creative insight?</a:t>
            </a:r>
            <a:endParaRPr lang="en-US" sz="1900" dirty="0"/>
          </a:p>
        </p:txBody>
      </p:sp>
      <p:sp>
        <p:nvSpPr>
          <p:cNvPr id="13" name="abstract q4 circle"/>
          <p:cNvSpPr/>
          <p:nvPr/>
        </p:nvSpPr>
        <p:spPr>
          <a:xfrm>
            <a:off x="548640" y="4764024"/>
            <a:ext cx="731520" cy="731520"/>
          </a:xfrm>
          <a:prstGeom prst="ellipse">
            <a:avLst/>
          </a:prstGeom>
          <a:solidFill>
            <a:schemeClr val="accent3"/>
          </a:solidFill>
          <a:ln w="12700">
            <a:solidFill>
              <a:schemeClr val="accent3"/>
            </a:solidFill>
            <a:prstDash val="solid"/>
          </a:ln>
        </p:spPr>
      </p:sp>
      <p:pic>
        <p:nvPicPr>
          <p:cNvPr id="14" name="abstract q4 icon" descr="abstract q4">    </p:cNvPr>
          <p:cNvPicPr>
            <a:picLocks noChangeAspect="1"/>
          </p:cNvPicPr>
          <p:nvPr/>
        </p:nvPicPr>
        <p:blipFill>
          <a:blip r:embed="rId4"/>
          <a:stretch>
            <a:fillRect/>
          </a:stretch>
        </p:blipFill>
        <p:spPr>
          <a:xfrm>
            <a:off x="709574" y="4924958"/>
            <a:ext cx="409651" cy="409651"/>
          </a:xfrm>
          <a:prstGeom prst="rect">
            <a:avLst/>
          </a:prstGeom>
        </p:spPr>
      </p:pic>
      <p:sp>
        <p:nvSpPr>
          <p:cNvPr id="15" name="Text 9"/>
          <p:cNvSpPr txBox="1"/>
          <p:nvPr/>
        </p:nvSpPr>
        <p:spPr>
          <a:xfrm>
            <a:off x="1508760" y="4718304"/>
            <a:ext cx="6400800" cy="822960"/>
          </a:xfrm>
          <a:prstGeom prst="rect">
            <a:avLst/>
          </a:prstGeom>
          <a:noFill/>
          <a:ln/>
        </p:spPr>
        <p:txBody>
          <a:bodyPr wrap="square" lIns="0" tIns="0" rIns="0" bIns="0" rtlCol="0" anchor="ctr"/>
          <a:lstStyle/>
          <a:p>
            <a:pPr indent="0" marL="0">
              <a:buNone/>
            </a:pPr>
            <a:r>
              <a:rPr lang="en-US" sz="1900" dirty="0">
                <a:solidFill>
                  <a:schemeClr val="tx1"/>
                </a:solidFill>
              </a:rPr>
              <a:t>What does the protagonist see about society that those around him do not see?</a:t>
            </a:r>
            <a:endParaRPr lang="en-US" sz="1900" dirty="0"/>
          </a:p>
        </p:txBody>
      </p:sp>
      <p:sp>
        <p:nvSpPr>
          <p:cNvPr id="16" name="lens card"/>
          <p:cNvSpPr/>
          <p:nvPr/>
        </p:nvSpPr>
        <p:spPr>
          <a:xfrm>
            <a:off x="8321040" y="1645920"/>
            <a:ext cx="3291840" cy="4023360"/>
          </a:xfrm>
          <a:prstGeom prst="roundRect">
            <a:avLst>
              <a:gd name="adj" fmla="val 2222"/>
            </a:avLst>
          </a:prstGeom>
          <a:solidFill>
            <a:schemeClr val="tx2"/>
          </a:solidFill>
          <a:ln w="12700">
            <a:solidFill>
              <a:schemeClr val="tx2"/>
            </a:solidFill>
            <a:prstDash val="solid"/>
          </a:ln>
        </p:spPr>
      </p:sp>
      <p:sp>
        <p:nvSpPr>
          <p:cNvPr id="17" name="Text 11"/>
          <p:cNvSpPr txBox="1"/>
          <p:nvPr/>
        </p:nvSpPr>
        <p:spPr>
          <a:xfrm>
            <a:off x="8595360" y="1874520"/>
            <a:ext cx="2743200" cy="3566160"/>
          </a:xfrm>
          <a:prstGeom prst="rect">
            <a:avLst/>
          </a:prstGeom>
          <a:noFill/>
          <a:ln/>
        </p:spPr>
        <p:txBody>
          <a:bodyPr wrap="square" lIns="0" tIns="0" rIns="0" bIns="0" rtlCol="0" anchor="t"/>
          <a:lstStyle/>
          <a:p>
            <a:pPr indent="0" marL="0">
              <a:buNone/>
            </a:pPr>
            <a:r>
              <a:rPr lang="en-US" sz="1200" b="1" spc="200" kern="0" dirty="0">
                <a:solidFill>
                  <a:schemeClr val="accent2"/>
                </a:solidFill>
              </a:rPr>
              <a:t>THE LENS</a:t>
            </a:r>
            <a:endParaRPr lang="en-US" sz="1200" dirty="0"/>
          </a:p>
          <a:p>
            <a:pPr indent="0" marL="0">
              <a:buNone/>
            </a:pPr>
            <a:r>
              <a:rPr lang="en-US" sz="2000" b="1" dirty="0">
                <a:solidFill>
                  <a:schemeClr val="bg1"/>
                </a:solidFill>
                <a:latin typeface="Cambria" pitchFamily="34" charset="0"/>
                <a:ea typeface="Cambria" pitchFamily="34" charset="-122"/>
                <a:cs typeface="Cambria" pitchFamily="34" charset="-120"/>
              </a:rPr>
              <a:t>Human Outlier Analysis</a:t>
            </a:r>
            <a:endParaRPr lang="en-US" sz="1200" dirty="0"/>
          </a:p>
          <a:p>
            <a:pPr indent="0" marL="0">
              <a:buNone/>
            </a:pPr>
            <a:r>
              <a:rPr lang="en-US" sz="800" dirty="0">
                <a:solidFill>
                  <a:srgbClr val="000000"/>
                </a:solidFill>
              </a:rPr>
              <a:t> </a:t>
            </a:r>
            <a:endParaRPr lang="en-US" sz="1200" dirty="0"/>
          </a:p>
          <a:p>
            <a:pPr indent="0" marL="0">
              <a:buNone/>
            </a:pPr>
            <a:r>
              <a:rPr lang="en-US" sz="1400" dirty="0">
                <a:solidFill>
                  <a:schemeClr val="accent5"/>
                </a:solidFill>
              </a:rPr>
              <a:t>Foucault, Madness and Civilization (1961): the Age of Reason built institutions to cast radical thinkers out as mad or criminal.</a:t>
            </a:r>
            <a:endParaRPr lang="en-US" sz="1200" dirty="0"/>
          </a:p>
          <a:p>
            <a:pPr indent="0" marL="0">
              <a:buNone/>
            </a:pPr>
            <a:r>
              <a:rPr lang="en-US" sz="800" dirty="0">
                <a:solidFill>
                  <a:srgbClr val="000000"/>
                </a:solidFill>
              </a:rPr>
              <a:t> </a:t>
            </a:r>
            <a:endParaRPr lang="en-US" sz="1200" dirty="0"/>
          </a:p>
          <a:p>
            <a:pPr indent="0" marL="0">
              <a:buNone/>
            </a:pPr>
            <a:r>
              <a:rPr lang="en-US" sz="1400" i="1" dirty="0">
                <a:solidFill>
                  <a:schemeClr val="bg1"/>
                </a:solidFill>
              </a:rPr>
              <a:t>Do we lose something if we dismiss him as mad?</a:t>
            </a:r>
            <a:endParaRPr lang="en-US" sz="1200" dirty="0"/>
          </a:p>
        </p:txBody>
      </p:sp>
      <p:sp>
        <p:nvSpPr>
          <p:cNvPr id="18" name="Text 12"/>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300" i="1" dirty="0">
                <a:solidFill>
                  <a:schemeClr val="accent4"/>
                </a:solidFill>
              </a:rPr>
              <a:t>These also appear under Tale 1 in the Preface to the course.</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SEGUE TO TALE 2 · LEGACY</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What came after: a literary line and a violent one</a:t>
            </a:r>
            <a:endParaRPr lang="en-US" sz="3400" dirty="0"/>
          </a:p>
        </p:txBody>
      </p:sp>
      <p:sp>
        <p:nvSpPr>
          <p:cNvPr id="4" name="Text 2"/>
          <p:cNvSpPr txBox="1"/>
          <p:nvPr/>
        </p:nvSpPr>
        <p:spPr>
          <a:xfrm>
            <a:off x="548640" y="1600200"/>
            <a:ext cx="1106424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The literary line: engineering human behavior</a:t>
            </a:r>
            <a:endParaRPr lang="en-US" sz="2000" dirty="0"/>
          </a:p>
        </p:txBody>
      </p:sp>
      <p:sp>
        <p:nvSpPr>
          <p:cNvPr id="5" name="chain 0"/>
          <p:cNvSpPr/>
          <p:nvPr/>
        </p:nvSpPr>
        <p:spPr>
          <a:xfrm>
            <a:off x="548640" y="2148840"/>
            <a:ext cx="2514600" cy="2331720"/>
          </a:xfrm>
          <a:prstGeom prst="roundRect">
            <a:avLst>
              <a:gd name="adj" fmla="val 3137"/>
            </a:avLst>
          </a:prstGeom>
          <a:solidFill>
            <a:schemeClr val="accent1"/>
          </a:solidFill>
          <a:ln w="12700">
            <a:solidFill>
              <a:schemeClr val="accent1"/>
            </a:solidFill>
            <a:prstDash val="solid"/>
          </a:ln>
        </p:spPr>
      </p:sp>
      <p:sp>
        <p:nvSpPr>
          <p:cNvPr id="6" name="Text 4"/>
          <p:cNvSpPr txBox="1"/>
          <p:nvPr/>
        </p:nvSpPr>
        <p:spPr>
          <a:xfrm>
            <a:off x="731520" y="2286000"/>
            <a:ext cx="2148840" cy="365760"/>
          </a:xfrm>
          <a:prstGeom prst="rect">
            <a:avLst/>
          </a:prstGeom>
          <a:noFill/>
          <a:ln/>
        </p:spPr>
        <p:txBody>
          <a:bodyPr wrap="square" lIns="0" tIns="0" rIns="0" bIns="0" rtlCol="0" anchor="ctr"/>
          <a:lstStyle/>
          <a:p>
            <a:pPr indent="0" marL="0">
              <a:buNone/>
            </a:pPr>
            <a:r>
              <a:rPr lang="en-US" sz="1400" b="1" dirty="0">
                <a:solidFill>
                  <a:schemeClr val="accent5"/>
                </a:solidFill>
              </a:rPr>
              <a:t>1864</a:t>
            </a:r>
            <a:endParaRPr lang="en-US" sz="1400" dirty="0"/>
          </a:p>
        </p:txBody>
      </p:sp>
      <p:sp>
        <p:nvSpPr>
          <p:cNvPr id="7" name="Text 5"/>
          <p:cNvSpPr txBox="1"/>
          <p:nvPr/>
        </p:nvSpPr>
        <p:spPr>
          <a:xfrm>
            <a:off x="731520" y="2651760"/>
            <a:ext cx="21488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Notes from Underground</a:t>
            </a:r>
            <a:endParaRPr lang="en-US" sz="1800" dirty="0"/>
          </a:p>
        </p:txBody>
      </p:sp>
      <p:sp>
        <p:nvSpPr>
          <p:cNvPr id="8" name="Text 6"/>
          <p:cNvSpPr txBox="1"/>
          <p:nvPr/>
        </p:nvSpPr>
        <p:spPr>
          <a:xfrm>
            <a:off x="731520" y="3246120"/>
            <a:ext cx="2148840" cy="1143000"/>
          </a:xfrm>
          <a:prstGeom prst="rect">
            <a:avLst/>
          </a:prstGeom>
          <a:noFill/>
          <a:ln/>
        </p:spPr>
        <p:txBody>
          <a:bodyPr wrap="square" lIns="0" tIns="0" rIns="0" bIns="0" rtlCol="0" anchor="t"/>
          <a:lstStyle/>
          <a:p>
            <a:pPr indent="0" marL="0">
              <a:buNone/>
            </a:pPr>
            <a:r>
              <a:rPr lang="en-US" sz="1500" dirty="0">
                <a:solidFill>
                  <a:schemeClr val="bg1"/>
                </a:solidFill>
              </a:rPr>
              <a:t>Later adopted as a forerunner of existentialism</a:t>
            </a:r>
            <a:endParaRPr lang="en-US" sz="1500" dirty="0"/>
          </a:p>
        </p:txBody>
      </p:sp>
      <p:sp>
        <p:nvSpPr>
          <p:cNvPr id="9" name="arrow 0"/>
          <p:cNvSpPr/>
          <p:nvPr/>
        </p:nvSpPr>
        <p:spPr>
          <a:xfrm>
            <a:off x="3127248" y="3154680"/>
            <a:ext cx="201168" cy="320040"/>
          </a:xfrm>
          <a:prstGeom prst="rightArrow">
            <a:avLst/>
          </a:prstGeom>
          <a:solidFill>
            <a:schemeClr val="accent4"/>
          </a:solidFill>
          <a:ln w="12700">
            <a:solidFill>
              <a:schemeClr val="accent4"/>
            </a:solidFill>
            <a:prstDash val="solid"/>
          </a:ln>
        </p:spPr>
      </p:sp>
      <p:sp>
        <p:nvSpPr>
          <p:cNvPr id="10" name="chain 1"/>
          <p:cNvSpPr/>
          <p:nvPr/>
        </p:nvSpPr>
        <p:spPr>
          <a:xfrm>
            <a:off x="3383280" y="2148840"/>
            <a:ext cx="2514600" cy="2331720"/>
          </a:xfrm>
          <a:prstGeom prst="roundRect">
            <a:avLst>
              <a:gd name="adj" fmla="val 3137"/>
            </a:avLst>
          </a:prstGeom>
          <a:solidFill>
            <a:schemeClr val="bg2"/>
          </a:solidFill>
          <a:ln w="12700">
            <a:solidFill>
              <a:schemeClr val="bg2"/>
            </a:solidFill>
            <a:prstDash val="solid"/>
          </a:ln>
        </p:spPr>
      </p:sp>
      <p:sp>
        <p:nvSpPr>
          <p:cNvPr id="11" name="Text 9"/>
          <p:cNvSpPr txBox="1"/>
          <p:nvPr/>
        </p:nvSpPr>
        <p:spPr>
          <a:xfrm>
            <a:off x="3566160" y="2286000"/>
            <a:ext cx="2148840" cy="365760"/>
          </a:xfrm>
          <a:prstGeom prst="rect">
            <a:avLst/>
          </a:prstGeom>
          <a:noFill/>
          <a:ln/>
        </p:spPr>
        <p:txBody>
          <a:bodyPr wrap="square" lIns="0" tIns="0" rIns="0" bIns="0" rtlCol="0" anchor="ctr"/>
          <a:lstStyle/>
          <a:p>
            <a:pPr indent="0" marL="0">
              <a:buNone/>
            </a:pPr>
            <a:r>
              <a:rPr lang="en-US" sz="1400" b="1" dirty="0">
                <a:solidFill>
                  <a:schemeClr val="accent1"/>
                </a:solidFill>
              </a:rPr>
              <a:t>1920–21</a:t>
            </a:r>
            <a:endParaRPr lang="en-US" sz="1400" dirty="0"/>
          </a:p>
        </p:txBody>
      </p:sp>
      <p:sp>
        <p:nvSpPr>
          <p:cNvPr id="12" name="Text 10"/>
          <p:cNvSpPr txBox="1"/>
          <p:nvPr/>
        </p:nvSpPr>
        <p:spPr>
          <a:xfrm>
            <a:off x="3566160" y="2651760"/>
            <a:ext cx="214884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Zamyatin, We</a:t>
            </a:r>
            <a:endParaRPr lang="en-US" sz="1800" dirty="0"/>
          </a:p>
        </p:txBody>
      </p:sp>
      <p:sp>
        <p:nvSpPr>
          <p:cNvPr id="13" name="Text 11"/>
          <p:cNvSpPr txBox="1"/>
          <p:nvPr/>
        </p:nvSpPr>
        <p:spPr>
          <a:xfrm>
            <a:off x="3566160" y="3246120"/>
            <a:ext cx="2148840" cy="1143000"/>
          </a:xfrm>
          <a:prstGeom prst="rect">
            <a:avLst/>
          </a:prstGeom>
          <a:noFill/>
          <a:ln/>
        </p:spPr>
        <p:txBody>
          <a:bodyPr wrap="square" lIns="0" tIns="0" rIns="0" bIns="0" rtlCol="0" anchor="t"/>
          <a:lstStyle/>
          <a:p>
            <a:pPr indent="0" marL="0">
              <a:buNone/>
            </a:pPr>
            <a:r>
              <a:rPr lang="en-US" sz="1500" dirty="0">
                <a:solidFill>
                  <a:schemeClr val="tx2"/>
                </a:solidFill>
              </a:rPr>
              <a:t>Glass apartments; citizens reduced to numbers</a:t>
            </a:r>
            <a:endParaRPr lang="en-US" sz="1500" dirty="0"/>
          </a:p>
        </p:txBody>
      </p:sp>
      <p:sp>
        <p:nvSpPr>
          <p:cNvPr id="14" name="arrow 1"/>
          <p:cNvSpPr/>
          <p:nvPr/>
        </p:nvSpPr>
        <p:spPr>
          <a:xfrm>
            <a:off x="5961888" y="3154680"/>
            <a:ext cx="201168" cy="320040"/>
          </a:xfrm>
          <a:prstGeom prst="rightArrow">
            <a:avLst/>
          </a:prstGeom>
          <a:solidFill>
            <a:schemeClr val="accent4"/>
          </a:solidFill>
          <a:ln w="12700">
            <a:solidFill>
              <a:schemeClr val="accent4"/>
            </a:solidFill>
            <a:prstDash val="solid"/>
          </a:ln>
        </p:spPr>
      </p:sp>
      <p:sp>
        <p:nvSpPr>
          <p:cNvPr id="15" name="chain 2"/>
          <p:cNvSpPr/>
          <p:nvPr/>
        </p:nvSpPr>
        <p:spPr>
          <a:xfrm>
            <a:off x="6217920" y="2148840"/>
            <a:ext cx="2514600" cy="2331720"/>
          </a:xfrm>
          <a:prstGeom prst="roundRect">
            <a:avLst>
              <a:gd name="adj" fmla="val 3137"/>
            </a:avLst>
          </a:prstGeom>
          <a:solidFill>
            <a:schemeClr val="bg2"/>
          </a:solidFill>
          <a:ln w="12700">
            <a:solidFill>
              <a:schemeClr val="bg2"/>
            </a:solidFill>
            <a:prstDash val="solid"/>
          </a:ln>
        </p:spPr>
      </p:sp>
      <p:sp>
        <p:nvSpPr>
          <p:cNvPr id="16" name="Text 14"/>
          <p:cNvSpPr txBox="1"/>
          <p:nvPr/>
        </p:nvSpPr>
        <p:spPr>
          <a:xfrm>
            <a:off x="6400800" y="2286000"/>
            <a:ext cx="2148840" cy="365760"/>
          </a:xfrm>
          <a:prstGeom prst="rect">
            <a:avLst/>
          </a:prstGeom>
          <a:noFill/>
          <a:ln/>
        </p:spPr>
        <p:txBody>
          <a:bodyPr wrap="square" lIns="0" tIns="0" rIns="0" bIns="0" rtlCol="0" anchor="ctr"/>
          <a:lstStyle/>
          <a:p>
            <a:pPr indent="0" marL="0">
              <a:buNone/>
            </a:pPr>
            <a:r>
              <a:rPr lang="en-US" sz="1400" b="1" dirty="0">
                <a:solidFill>
                  <a:schemeClr val="accent1"/>
                </a:solidFill>
              </a:rPr>
              <a:t>1932</a:t>
            </a:r>
            <a:endParaRPr lang="en-US" sz="1400" dirty="0"/>
          </a:p>
        </p:txBody>
      </p:sp>
      <p:sp>
        <p:nvSpPr>
          <p:cNvPr id="17" name="Text 15"/>
          <p:cNvSpPr txBox="1"/>
          <p:nvPr/>
        </p:nvSpPr>
        <p:spPr>
          <a:xfrm>
            <a:off x="6400800" y="2651760"/>
            <a:ext cx="214884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Huxley, Brave New World</a:t>
            </a:r>
            <a:endParaRPr lang="en-US" sz="1800" dirty="0"/>
          </a:p>
        </p:txBody>
      </p:sp>
      <p:sp>
        <p:nvSpPr>
          <p:cNvPr id="18" name="Text 16"/>
          <p:cNvSpPr txBox="1"/>
          <p:nvPr/>
        </p:nvSpPr>
        <p:spPr>
          <a:xfrm>
            <a:off x="6400800" y="3246120"/>
            <a:ext cx="2148840" cy="1143000"/>
          </a:xfrm>
          <a:prstGeom prst="rect">
            <a:avLst/>
          </a:prstGeom>
          <a:noFill/>
          <a:ln/>
        </p:spPr>
        <p:txBody>
          <a:bodyPr wrap="square" lIns="0" tIns="0" rIns="0" bIns="0" rtlCol="0" anchor="t"/>
          <a:lstStyle/>
          <a:p>
            <a:pPr indent="0" marL="0">
              <a:buNone/>
            </a:pPr>
            <a:r>
              <a:rPr lang="en-US" sz="1500" dirty="0">
                <a:solidFill>
                  <a:schemeClr val="tx2"/>
                </a:solidFill>
              </a:rPr>
              <a:t>Lessons whispered before birth</a:t>
            </a:r>
            <a:endParaRPr lang="en-US" sz="1500" dirty="0"/>
          </a:p>
        </p:txBody>
      </p:sp>
      <p:sp>
        <p:nvSpPr>
          <p:cNvPr id="19" name="arrow 2"/>
          <p:cNvSpPr/>
          <p:nvPr/>
        </p:nvSpPr>
        <p:spPr>
          <a:xfrm>
            <a:off x="8796528" y="3154680"/>
            <a:ext cx="201168" cy="320040"/>
          </a:xfrm>
          <a:prstGeom prst="rightArrow">
            <a:avLst/>
          </a:prstGeom>
          <a:solidFill>
            <a:schemeClr val="accent4"/>
          </a:solidFill>
          <a:ln w="12700">
            <a:solidFill>
              <a:schemeClr val="accent4"/>
            </a:solidFill>
            <a:prstDash val="solid"/>
          </a:ln>
        </p:spPr>
      </p:sp>
      <p:sp>
        <p:nvSpPr>
          <p:cNvPr id="20" name="chain 3"/>
          <p:cNvSpPr/>
          <p:nvPr/>
        </p:nvSpPr>
        <p:spPr>
          <a:xfrm>
            <a:off x="9052560" y="2148840"/>
            <a:ext cx="2514600" cy="2331720"/>
          </a:xfrm>
          <a:prstGeom prst="roundRect">
            <a:avLst>
              <a:gd name="adj" fmla="val 3137"/>
            </a:avLst>
          </a:prstGeom>
          <a:solidFill>
            <a:schemeClr val="bg2"/>
          </a:solidFill>
          <a:ln w="12700">
            <a:solidFill>
              <a:schemeClr val="bg2"/>
            </a:solidFill>
            <a:prstDash val="solid"/>
          </a:ln>
        </p:spPr>
      </p:sp>
      <p:sp>
        <p:nvSpPr>
          <p:cNvPr id="21" name="Text 19"/>
          <p:cNvSpPr txBox="1"/>
          <p:nvPr/>
        </p:nvSpPr>
        <p:spPr>
          <a:xfrm>
            <a:off x="9235440" y="2286000"/>
            <a:ext cx="2148840" cy="365760"/>
          </a:xfrm>
          <a:prstGeom prst="rect">
            <a:avLst/>
          </a:prstGeom>
          <a:noFill/>
          <a:ln/>
        </p:spPr>
        <p:txBody>
          <a:bodyPr wrap="square" lIns="0" tIns="0" rIns="0" bIns="0" rtlCol="0" anchor="ctr"/>
          <a:lstStyle/>
          <a:p>
            <a:pPr indent="0" marL="0">
              <a:buNone/>
            </a:pPr>
            <a:r>
              <a:rPr lang="en-US" sz="1400" b="1" dirty="0">
                <a:solidFill>
                  <a:schemeClr val="accent1"/>
                </a:solidFill>
              </a:rPr>
              <a:t>1949</a:t>
            </a:r>
            <a:endParaRPr lang="en-US" sz="1400" dirty="0"/>
          </a:p>
        </p:txBody>
      </p:sp>
      <p:sp>
        <p:nvSpPr>
          <p:cNvPr id="22" name="Text 20"/>
          <p:cNvSpPr txBox="1"/>
          <p:nvPr/>
        </p:nvSpPr>
        <p:spPr>
          <a:xfrm>
            <a:off x="9235440" y="2651760"/>
            <a:ext cx="2148840" cy="5486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Orwell, 1984</a:t>
            </a:r>
            <a:endParaRPr lang="en-US" sz="1800" dirty="0"/>
          </a:p>
        </p:txBody>
      </p:sp>
      <p:sp>
        <p:nvSpPr>
          <p:cNvPr id="23" name="Text 21"/>
          <p:cNvSpPr txBox="1"/>
          <p:nvPr/>
        </p:nvSpPr>
        <p:spPr>
          <a:xfrm>
            <a:off x="9235440" y="3246120"/>
            <a:ext cx="2148840" cy="1143000"/>
          </a:xfrm>
          <a:prstGeom prst="rect">
            <a:avLst/>
          </a:prstGeom>
          <a:noFill/>
          <a:ln/>
        </p:spPr>
        <p:txBody>
          <a:bodyPr wrap="square" lIns="0" tIns="0" rIns="0" bIns="0" rtlCol="0" anchor="t"/>
          <a:lstStyle/>
          <a:p>
            <a:pPr indent="0" marL="0">
              <a:buNone/>
            </a:pPr>
            <a:r>
              <a:rPr lang="en-US" sz="1500" dirty="0">
                <a:solidFill>
                  <a:schemeClr val="tx2"/>
                </a:solidFill>
              </a:rPr>
              <a:t>Our next tale</a:t>
            </a:r>
            <a:endParaRPr lang="en-US" sz="1500" dirty="0"/>
          </a:p>
        </p:txBody>
      </p:sp>
      <p:sp>
        <p:nvSpPr>
          <p:cNvPr id="24" name="Text 22"/>
          <p:cNvSpPr txBox="1"/>
          <p:nvPr/>
        </p:nvSpPr>
        <p:spPr>
          <a:xfrm>
            <a:off x="548640" y="4800600"/>
            <a:ext cx="11064240" cy="4114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The violent line: from ideas to terror</a:t>
            </a:r>
            <a:endParaRPr lang="en-US" sz="2000" dirty="0"/>
          </a:p>
        </p:txBody>
      </p:sp>
      <p:sp>
        <p:nvSpPr>
          <p:cNvPr id="25" name="Text 23"/>
          <p:cNvSpPr txBox="1"/>
          <p:nvPr/>
        </p:nvSpPr>
        <p:spPr>
          <a:xfrm>
            <a:off x="548640" y="5349240"/>
            <a:ext cx="868680" cy="82296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1866</a:t>
            </a:r>
            <a:endParaRPr lang="en-US" sz="2400" dirty="0"/>
          </a:p>
        </p:txBody>
      </p:sp>
      <p:sp>
        <p:nvSpPr>
          <p:cNvPr id="26" name="Text 24"/>
          <p:cNvSpPr txBox="1"/>
          <p:nvPr/>
        </p:nvSpPr>
        <p:spPr>
          <a:xfrm>
            <a:off x="1508760" y="5349240"/>
            <a:ext cx="2606040" cy="914400"/>
          </a:xfrm>
          <a:prstGeom prst="rect">
            <a:avLst/>
          </a:prstGeom>
          <a:noFill/>
          <a:ln/>
        </p:spPr>
        <p:txBody>
          <a:bodyPr wrap="square" lIns="0" tIns="0" rIns="0" bIns="0" rtlCol="0" anchor="t"/>
          <a:lstStyle/>
          <a:p>
            <a:pPr indent="0" marL="0">
              <a:buNone/>
            </a:pPr>
            <a:r>
              <a:rPr lang="en-US" sz="1600" dirty="0">
                <a:solidFill>
                  <a:schemeClr val="tx2"/>
                </a:solidFill>
              </a:rPr>
              <a:t>Karakozov, influenced by Chernyshevsky's novel, tries to kill the Tsar</a:t>
            </a:r>
            <a:endParaRPr lang="en-US" sz="1600" dirty="0"/>
          </a:p>
        </p:txBody>
      </p:sp>
      <p:sp>
        <p:nvSpPr>
          <p:cNvPr id="27" name="Text 25"/>
          <p:cNvSpPr txBox="1"/>
          <p:nvPr/>
        </p:nvSpPr>
        <p:spPr>
          <a:xfrm>
            <a:off x="4297680" y="5349240"/>
            <a:ext cx="868680" cy="82296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1872</a:t>
            </a:r>
            <a:endParaRPr lang="en-US" sz="2400" dirty="0"/>
          </a:p>
        </p:txBody>
      </p:sp>
      <p:sp>
        <p:nvSpPr>
          <p:cNvPr id="28" name="Text 26"/>
          <p:cNvSpPr txBox="1"/>
          <p:nvPr/>
        </p:nvSpPr>
        <p:spPr>
          <a:xfrm>
            <a:off x="5257800" y="5349240"/>
            <a:ext cx="2606040" cy="914400"/>
          </a:xfrm>
          <a:prstGeom prst="rect">
            <a:avLst/>
          </a:prstGeom>
          <a:noFill/>
          <a:ln/>
        </p:spPr>
        <p:txBody>
          <a:bodyPr wrap="square" lIns="0" tIns="0" rIns="0" bIns="0" rtlCol="0" anchor="t"/>
          <a:lstStyle/>
          <a:p>
            <a:pPr indent="0" marL="0">
              <a:buNone/>
            </a:pPr>
            <a:r>
              <a:rPr lang="en-US" sz="1600" dirty="0">
                <a:solidFill>
                  <a:schemeClr val="tx2"/>
                </a:solidFill>
              </a:rPr>
              <a:t>Dostoevsky's Demons depicts nihilism turning into terror</a:t>
            </a:r>
            <a:endParaRPr lang="en-US" sz="1600" dirty="0"/>
          </a:p>
        </p:txBody>
      </p:sp>
      <p:sp>
        <p:nvSpPr>
          <p:cNvPr id="29" name="Text 27"/>
          <p:cNvSpPr txBox="1"/>
          <p:nvPr/>
        </p:nvSpPr>
        <p:spPr>
          <a:xfrm>
            <a:off x="8046720" y="5349240"/>
            <a:ext cx="868680" cy="82296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1881</a:t>
            </a:r>
            <a:endParaRPr lang="en-US" sz="2400" dirty="0"/>
          </a:p>
        </p:txBody>
      </p:sp>
      <p:sp>
        <p:nvSpPr>
          <p:cNvPr id="30" name="Text 28"/>
          <p:cNvSpPr txBox="1"/>
          <p:nvPr/>
        </p:nvSpPr>
        <p:spPr>
          <a:xfrm>
            <a:off x="9006840" y="5349240"/>
            <a:ext cx="2606040" cy="914400"/>
          </a:xfrm>
          <a:prstGeom prst="rect">
            <a:avLst/>
          </a:prstGeom>
          <a:noFill/>
          <a:ln/>
        </p:spPr>
        <p:txBody>
          <a:bodyPr wrap="square" lIns="0" tIns="0" rIns="0" bIns="0" rtlCol="0" anchor="t"/>
          <a:lstStyle/>
          <a:p>
            <a:pPr indent="0" marL="0">
              <a:buNone/>
            </a:pPr>
            <a:r>
              <a:rPr lang="en-US" sz="1600" dirty="0">
                <a:solidFill>
                  <a:schemeClr val="tx2"/>
                </a:solidFill>
              </a:rPr>
              <a:t>People's Will assassinates Alexander II</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SEGUE TO TALE 2 · THE COURSE ARC</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Course overview</a:t>
            </a:r>
            <a:endParaRPr lang="en-US" sz="3400" dirty="0"/>
          </a:p>
        </p:txBody>
      </p:sp>
      <p:pic>
        <p:nvPicPr>
          <p:cNvPr id="4" name="overview illustration" descr="Mad scientist manipulating a fan of dystopian stories, with lenses labeled police state, surveillance state, narrative analysis, societal control, human outliers and false needs">    </p:cNvPr>
          <p:cNvPicPr>
            <a:picLocks noChangeAspect="1"/>
          </p:cNvPicPr>
          <p:nvPr/>
        </p:nvPicPr>
        <p:blipFill>
          <a:blip r:embed="rId1"/>
          <a:stretch>
            <a:fillRect/>
          </a:stretch>
        </p:blipFill>
        <p:spPr>
          <a:xfrm>
            <a:off x="548640" y="1554480"/>
            <a:ext cx="7863840" cy="4427051"/>
          </a:xfrm>
          <a:prstGeom prst="rect">
            <a:avLst/>
          </a:prstGeom>
        </p:spPr>
      </p:pic>
      <p:sp>
        <p:nvSpPr>
          <p:cNvPr id="5" name="overview points"/>
          <p:cNvSpPr/>
          <p:nvPr/>
        </p:nvSpPr>
        <p:spPr>
          <a:xfrm>
            <a:off x="8686800" y="1554480"/>
            <a:ext cx="2926080" cy="4425696"/>
          </a:xfrm>
          <a:prstGeom prst="roundRect">
            <a:avLst>
              <a:gd name="adj" fmla="val 2500"/>
            </a:avLst>
          </a:prstGeom>
          <a:solidFill>
            <a:schemeClr val="bg2"/>
          </a:solidFill>
          <a:ln w="12700">
            <a:solidFill>
              <a:schemeClr val="bg2"/>
            </a:solidFill>
            <a:prstDash val="solid"/>
          </a:ln>
        </p:spPr>
      </p:sp>
      <p:sp>
        <p:nvSpPr>
          <p:cNvPr id="6" name="Text 3"/>
          <p:cNvSpPr txBox="1"/>
          <p:nvPr/>
        </p:nvSpPr>
        <p:spPr>
          <a:xfrm>
            <a:off x="8869680" y="1783080"/>
            <a:ext cx="2606040" cy="4023360"/>
          </a:xfrm>
          <a:prstGeom prst="rect">
            <a:avLst/>
          </a:prstGeom>
          <a:noFill/>
          <a:ln/>
        </p:spPr>
        <p:txBody>
          <a:bodyPr wrap="square" rtlCol="0" anchor="t"/>
          <a:lstStyle/>
          <a:p>
            <a:pPr marL="342900" indent="-342900">
              <a:spcAft>
                <a:spcPts val="1600"/>
              </a:spcAft>
              <a:buSzPct val="100000"/>
              <a:buChar char="•"/>
            </a:pPr>
            <a:r>
              <a:rPr lang="en-US" sz="1800" dirty="0">
                <a:solidFill>
                  <a:schemeClr val="tx1"/>
                </a:solidFill>
              </a:rPr>
              <a:t>Look at modern-age stories where societies impose or offer mind control.</a:t>
            </a:r>
            <a:endParaRPr lang="en-US" sz="1800" dirty="0"/>
          </a:p>
          <a:p>
            <a:pPr marL="342900" indent="-342900">
              <a:spcAft>
                <a:spcPts val="1600"/>
              </a:spcAft>
              <a:buSzPct val="100000"/>
              <a:buChar char="•"/>
            </a:pPr>
            <a:r>
              <a:rPr lang="en-US" sz="1800" dirty="0">
                <a:solidFill>
                  <a:schemeClr val="tx1"/>
                </a:solidFill>
              </a:rPr>
              <a:t>Consider characters who are rebelling.</a:t>
            </a:r>
            <a:endParaRPr lang="en-US" sz="1800" dirty="0"/>
          </a:p>
          <a:p>
            <a:pPr marL="342900" indent="-342900">
              <a:spcAft>
                <a:spcPts val="1600"/>
              </a:spcAft>
              <a:buSzPct val="100000"/>
              <a:buChar char="•"/>
            </a:pPr>
            <a:r>
              <a:rPr lang="en-US" sz="1800" dirty="0">
                <a:solidFill>
                  <a:schemeClr val="tx1"/>
                </a:solidFill>
              </a:rPr>
              <a:t>Ask questions through various lenses.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SEGUE TO TALE 2 · THE COURSE ARC</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Stories in a dystopian arc</a:t>
            </a:r>
            <a:endParaRPr lang="en-US" sz="3400" dirty="0"/>
          </a:p>
        </p:txBody>
      </p:sp>
      <p:pic>
        <p:nvPicPr>
          <p:cNvPr id="4" name="stories illustration" descr="Four panels: Notes from Underground, 1984 with 2+2=5, The Matrix with 10+10=100, The Perfect Match">    </p:cNvPr>
          <p:cNvPicPr>
            <a:picLocks noChangeAspect="1"/>
          </p:cNvPicPr>
          <p:nvPr/>
        </p:nvPicPr>
        <p:blipFill>
          <a:blip r:embed="rId1"/>
          <a:stretch>
            <a:fillRect/>
          </a:stretch>
        </p:blipFill>
        <p:spPr>
          <a:xfrm>
            <a:off x="548640" y="1554480"/>
            <a:ext cx="6949440" cy="3877788"/>
          </a:xfrm>
          <a:prstGeom prst="rect">
            <a:avLst/>
          </a:prstGeom>
        </p:spPr>
      </p:pic>
      <p:sp>
        <p:nvSpPr>
          <p:cNvPr id="5" name="Text 2"/>
          <p:cNvSpPr txBox="1"/>
          <p:nvPr/>
        </p:nvSpPr>
        <p:spPr>
          <a:xfrm>
            <a:off x="7772400" y="1554480"/>
            <a:ext cx="3840480" cy="3429000"/>
          </a:xfrm>
          <a:prstGeom prst="rect">
            <a:avLst/>
          </a:prstGeom>
          <a:noFill/>
          <a:ln/>
        </p:spPr>
        <p:txBody>
          <a:bodyPr wrap="square" rtlCol="0" anchor="t"/>
          <a:lstStyle/>
          <a:p>
            <a:pPr marL="342900" indent="-342900">
              <a:spcAft>
                <a:spcPts val="1200"/>
              </a:spcAft>
              <a:buSzPct val="100000"/>
              <a:buChar char="•"/>
            </a:pPr>
            <a:r>
              <a:rPr lang="en-US" sz="1600" b="1" dirty="0">
                <a:solidFill>
                  <a:schemeClr val="tx1"/>
                </a:solidFill>
              </a:rPr>
              <a:t>Dostoevsky's Underground Man, </a:t>
            </a:r>
            <a:pPr indent="0" marL="0">
              <a:spcAft>
                <a:spcPts val="1200"/>
              </a:spcAft>
              <a:buNone/>
            </a:pPr>
            <a:r>
              <a:rPr lang="en-US" sz="1600" dirty="0">
                <a:solidFill>
                  <a:schemeClr val="tx1"/>
                </a:solidFill>
              </a:rPr>
              <a:t>isolated and crushed by 2 + 2 = 4 reason.</a:t>
            </a:r>
            <a:endParaRPr lang="en-US" sz="1600" dirty="0"/>
          </a:p>
          <a:p>
            <a:pPr marL="342900" indent="-342900">
              <a:spcAft>
                <a:spcPts val="1200"/>
              </a:spcAft>
              <a:buSzPct val="100000"/>
              <a:buChar char="•"/>
            </a:pPr>
            <a:r>
              <a:rPr lang="en-US" sz="1600" b="1" dirty="0">
                <a:solidFill>
                  <a:schemeClr val="tx1"/>
                </a:solidFill>
              </a:rPr>
              <a:t>Winston (1984), </a:t>
            </a:r>
            <a:pPr indent="0" marL="0">
              <a:spcAft>
                <a:spcPts val="1200"/>
              </a:spcAft>
              <a:buNone/>
            </a:pPr>
            <a:r>
              <a:rPr lang="en-US" sz="1600" dirty="0">
                <a:solidFill>
                  <a:schemeClr val="tx1"/>
                </a:solidFill>
              </a:rPr>
              <a:t>pounded by Big Brother to truly believe 2 + 2 = 5.</a:t>
            </a:r>
            <a:endParaRPr lang="en-US" sz="1600" dirty="0"/>
          </a:p>
          <a:p>
            <a:pPr marL="342900" indent="-342900">
              <a:spcAft>
                <a:spcPts val="1200"/>
              </a:spcAft>
              <a:buSzPct val="100000"/>
              <a:buChar char="•"/>
            </a:pPr>
            <a:r>
              <a:rPr lang="en-US" sz="1600" b="1" dirty="0">
                <a:solidFill>
                  <a:schemeClr val="tx1"/>
                </a:solidFill>
              </a:rPr>
              <a:t>Neo (The Matrix), </a:t>
            </a:r>
            <a:pPr indent="0" marL="0">
              <a:spcAft>
                <a:spcPts val="1200"/>
              </a:spcAft>
              <a:buNone/>
            </a:pPr>
            <a:r>
              <a:rPr lang="en-US" sz="1600" dirty="0">
                <a:solidFill>
                  <a:schemeClr val="tx1"/>
                </a:solidFill>
              </a:rPr>
              <a:t>perceiving his whole world is a simulation, seeing 2 + 2 = 4 in binary.</a:t>
            </a:r>
            <a:endParaRPr lang="en-US" sz="1600" dirty="0"/>
          </a:p>
          <a:p>
            <a:pPr marL="342900" indent="-342900">
              <a:spcAft>
                <a:spcPts val="1200"/>
              </a:spcAft>
              <a:buSzPct val="100000"/>
              <a:buChar char="•"/>
            </a:pPr>
            <a:r>
              <a:rPr lang="en-US" sz="1600" b="1" dirty="0">
                <a:solidFill>
                  <a:schemeClr val="tx1"/>
                </a:solidFill>
              </a:rPr>
              <a:t>Sai (The Perfect Match), </a:t>
            </a:r>
            <a:pPr indent="0" marL="0">
              <a:spcAft>
                <a:spcPts val="1200"/>
              </a:spcAft>
              <a:buNone/>
            </a:pPr>
            <a:r>
              <a:rPr lang="en-US" sz="1600" dirty="0">
                <a:solidFill>
                  <a:schemeClr val="tx1"/>
                </a:solidFill>
              </a:rPr>
              <a:t>nudged by the AI agent Tilly into preferring the beautiful girl in the "2 + 2 = 4" T-shirt.</a:t>
            </a:r>
            <a:endParaRPr lang="en-US" sz="1600" dirty="0"/>
          </a:p>
        </p:txBody>
      </p:sp>
      <p:sp>
        <p:nvSpPr>
          <p:cNvPr id="6" name="source tag"/>
          <p:cNvSpPr txBox="1"/>
          <p:nvPr/>
        </p:nvSpPr>
        <p:spPr>
          <a:xfrm>
            <a:off x="7772400" y="5029200"/>
            <a:ext cx="3840480" cy="822960"/>
          </a:xfrm>
          <a:prstGeom prst="rect">
            <a:avLst/>
          </a:prstGeom>
          <a:solidFill>
            <a:schemeClr val="bg2"/>
          </a:solidFill>
          <a:ln/>
        </p:spPr>
        <p:txBody>
          <a:bodyPr wrap="square" lIns="50800" tIns="101600" rIns="101600" bIns="50800" rtlCol="0" anchor="ctr"/>
          <a:lstStyle/>
          <a:p>
            <a:pPr indent="0" marL="0">
              <a:buNone/>
            </a:pPr>
            <a:r>
              <a:rPr lang="en-US" sz="1300" i="1" dirty="0">
                <a:solidFill>
                  <a:schemeClr val="accent1"/>
                </a:solidFill>
              </a:rPr>
              <a:t>The 2 + 2 = 4 image comes from the novella. Larry Cedar's show leaves it out, so this panel is our summary of the book, not of the performance.</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365760"/>
          </a:xfrm>
          <a:prstGeom prst="rect">
            <a:avLst/>
          </a:prstGeom>
          <a:noFill/>
          <a:ln/>
        </p:spPr>
        <p:txBody>
          <a:bodyPr wrap="square" lIns="0" tIns="0" rIns="0" bIns="0" rtlCol="0"/>
          <a:lstStyle/>
          <a:p>
            <a:pPr indent="0" marL="0">
              <a:buNone/>
            </a:pPr>
            <a:r>
              <a:rPr lang="en-US" sz="1300" b="1" spc="200" kern="0" dirty="0">
                <a:solidFill>
                  <a:schemeClr val="accent1"/>
                </a:solidFill>
                <a:latin typeface="Calibri" pitchFamily="34" charset="0"/>
                <a:ea typeface="Calibri" pitchFamily="34" charset="-122"/>
                <a:cs typeface="Calibri" pitchFamily="34" charset="-120"/>
              </a:rPr>
              <a:t>SEGUE TO TALE 2 · THE COURSE ARC</a:t>
            </a:r>
            <a:endParaRPr lang="en-US" sz="1300" dirty="0"/>
          </a:p>
        </p:txBody>
      </p:sp>
      <p:sp>
        <p:nvSpPr>
          <p:cNvPr id="3" name="Text 0"/>
          <p:cNvSpPr/>
          <p:nvPr>
            <p:ph idx="101" type="title" hasCustomPrompt="1"/>
          </p:nvPr>
        </p:nvSpPr>
        <p:spPr>
          <a:xfrm>
            <a:off x="548640" y="594360"/>
            <a:ext cx="11064240" cy="777240"/>
          </a:xfrm>
          <a:prstGeom prst="rect">
            <a:avLst/>
          </a:prstGeom>
          <a:noFill/>
          <a:ln/>
        </p:spPr>
        <p:txBody>
          <a:bodyPr wrap="square" lIns="0" tIns="0" rIns="0" bIns="0" rtlCol="0" anchor="t"/>
          <a:lstStyle/>
          <a:p>
            <a:pPr algn="l" indent="0" marL="0">
              <a:buNone/>
            </a:pPr>
            <a:r>
              <a:rPr lang="en-US" sz="3400" b="1" dirty="0">
                <a:solidFill>
                  <a:schemeClr val="tx1"/>
                </a:solidFill>
                <a:latin typeface="Cambria" pitchFamily="34" charset="0"/>
                <a:ea typeface="Cambria" pitchFamily="34" charset="-122"/>
                <a:cs typeface="Cambria" pitchFamily="34" charset="-120"/>
              </a:rPr>
              <a:t>Some lenses</a:t>
            </a:r>
            <a:endParaRPr lang="en-US" sz="3400" dirty="0"/>
          </a:p>
        </p:txBody>
      </p:sp>
      <p:pic>
        <p:nvPicPr>
          <p:cNvPr id="4" name="lenses illustration" descr="An Arc of Stories and Lenses: four tales from the Age of Reason to the Crib, each paired with its thinkers">    </p:cNvPr>
          <p:cNvPicPr>
            <a:picLocks noChangeAspect="1"/>
          </p:cNvPicPr>
          <p:nvPr/>
        </p:nvPicPr>
        <p:blipFill>
          <a:blip r:embed="rId1"/>
          <a:stretch>
            <a:fillRect/>
          </a:stretch>
        </p:blipFill>
        <p:spPr>
          <a:xfrm>
            <a:off x="548640" y="1508760"/>
            <a:ext cx="6247453" cy="5029200"/>
          </a:xfrm>
          <a:prstGeom prst="rect">
            <a:avLst/>
          </a:prstGeom>
        </p:spPr>
      </p:pic>
      <p:sp>
        <p:nvSpPr>
          <p:cNvPr id="5" name="Text 2"/>
          <p:cNvSpPr txBox="1"/>
          <p:nvPr/>
        </p:nvSpPr>
        <p:spPr>
          <a:xfrm>
            <a:off x="7070413" y="1508760"/>
            <a:ext cx="4542467" cy="5029200"/>
          </a:xfrm>
          <a:prstGeom prst="rect">
            <a:avLst/>
          </a:prstGeom>
          <a:noFill/>
          <a:ln/>
        </p:spPr>
        <p:txBody>
          <a:bodyPr wrap="square" rtlCol="0" anchor="t"/>
          <a:lstStyle/>
          <a:p>
            <a:pPr marL="342900" indent="-342900">
              <a:spcAft>
                <a:spcPts val="500"/>
              </a:spcAft>
              <a:buSzPct val="100000"/>
              <a:buChar char="•"/>
            </a:pPr>
            <a:r>
              <a:rPr lang="en-US" sz="1500" b="1" dirty="0">
                <a:solidFill>
                  <a:schemeClr val="tx1"/>
                </a:solidFill>
              </a:rPr>
              <a:t>Human Outlier Analysis </a:t>
            </a:r>
            <a:pPr indent="0" marL="0">
              <a:spcAft>
                <a:spcPts val="500"/>
              </a:spcAft>
              <a:buNone/>
            </a:pPr>
            <a:r>
              <a:rPr lang="en-US" sz="1500" dirty="0">
                <a:solidFill>
                  <a:schemeClr val="tx1"/>
                </a:solidFill>
              </a:rPr>
              <a:t>(Michel Foucault)</a:t>
            </a:r>
            <a:endParaRPr lang="en-US" sz="1500" dirty="0"/>
          </a:p>
          <a:p>
            <a:pPr lvl="1" marL="355600" indent="-177800">
              <a:spcAft>
                <a:spcPts val="500"/>
              </a:spcAft>
              <a:buSzPct val="100000"/>
              <a:buChar char="•"/>
            </a:pPr>
            <a:r>
              <a:rPr lang="en-US" sz="1400" dirty="0">
                <a:solidFill>
                  <a:schemeClr val="tx2"/>
                </a:solidFill>
              </a:rPr>
              <a:t>Madness and confinement</a:t>
            </a:r>
            <a:endParaRPr lang="en-US" sz="1500" dirty="0"/>
          </a:p>
          <a:p>
            <a:pPr lvl="1" marL="355600" indent="-177800">
              <a:spcAft>
                <a:spcPts val="500"/>
              </a:spcAft>
              <a:buSzPct val="100000"/>
              <a:buChar char="•"/>
            </a:pPr>
            <a:r>
              <a:rPr lang="en-US" sz="1400" dirty="0">
                <a:solidFill>
                  <a:schemeClr val="tx2"/>
                </a:solidFill>
              </a:rPr>
              <a:t>Knowledge and limits of thought</a:t>
            </a:r>
            <a:endParaRPr lang="en-US" sz="1500" dirty="0"/>
          </a:p>
          <a:p>
            <a:pPr lvl="1" marL="355600" indent="-177800">
              <a:spcAft>
                <a:spcPts val="500"/>
              </a:spcAft>
              <a:buSzPct val="100000"/>
              <a:buChar char="•"/>
            </a:pPr>
            <a:r>
              <a:rPr lang="en-US" sz="1400" dirty="0">
                <a:solidFill>
                  <a:schemeClr val="tx2"/>
                </a:solidFill>
              </a:rPr>
              <a:t>Panopticism and disciplinary surveillance</a:t>
            </a:r>
            <a:endParaRPr lang="en-US" sz="1500" dirty="0"/>
          </a:p>
          <a:p>
            <a:pPr marL="342900" indent="-342900">
              <a:spcAft>
                <a:spcPts val="500"/>
              </a:spcAft>
              <a:buSzPct val="100000"/>
              <a:buChar char="•"/>
            </a:pPr>
            <a:r>
              <a:rPr lang="en-US" sz="1500" b="1" dirty="0">
                <a:solidFill>
                  <a:schemeClr val="tx1"/>
                </a:solidFill>
              </a:rPr>
              <a:t>Narrative Analysis </a:t>
            </a:r>
            <a:pPr indent="0" marL="0">
              <a:spcAft>
                <a:spcPts val="500"/>
              </a:spcAft>
              <a:buNone/>
            </a:pPr>
            <a:r>
              <a:rPr lang="en-US" sz="1500" dirty="0">
                <a:solidFill>
                  <a:schemeClr val="tx1"/>
                </a:solidFill>
              </a:rPr>
              <a:t>(Jerome Bruner)</a:t>
            </a:r>
            <a:endParaRPr lang="en-US" sz="1500" dirty="0"/>
          </a:p>
          <a:p>
            <a:pPr marL="342900" indent="-342900">
              <a:spcAft>
                <a:spcPts val="500"/>
              </a:spcAft>
              <a:buSzPct val="100000"/>
              <a:buChar char="•"/>
            </a:pPr>
            <a:r>
              <a:rPr lang="en-US" sz="1500" b="1" dirty="0">
                <a:solidFill>
                  <a:schemeClr val="tx1"/>
                </a:solidFill>
              </a:rPr>
              <a:t>Societal Control </a:t>
            </a:r>
            <a:pPr indent="0" marL="0">
              <a:spcAft>
                <a:spcPts val="500"/>
              </a:spcAft>
              <a:buNone/>
            </a:pPr>
            <a:r>
              <a:rPr lang="en-US" sz="1500" dirty="0">
                <a:solidFill>
                  <a:schemeClr val="tx1"/>
                </a:solidFill>
              </a:rPr>
              <a:t>(Gilles Deleuze)</a:t>
            </a:r>
            <a:endParaRPr lang="en-US" sz="1500" dirty="0"/>
          </a:p>
          <a:p>
            <a:pPr lvl="1" marL="355600" indent="-177800">
              <a:spcAft>
                <a:spcPts val="500"/>
              </a:spcAft>
              <a:buSzPct val="100000"/>
              <a:buChar char="•"/>
            </a:pPr>
            <a:r>
              <a:rPr lang="en-US" sz="1400" dirty="0">
                <a:solidFill>
                  <a:schemeClr val="tx2"/>
                </a:solidFill>
              </a:rPr>
              <a:t>Foucault's "enclosures" (prisons, schools, hospitals) are breaking down.</a:t>
            </a:r>
            <a:endParaRPr lang="en-US" sz="1500" dirty="0"/>
          </a:p>
          <a:p>
            <a:pPr lvl="1" marL="355600" indent="-177800">
              <a:spcAft>
                <a:spcPts val="500"/>
              </a:spcAft>
              <a:buSzPct val="100000"/>
              <a:buChar char="•"/>
            </a:pPr>
            <a:r>
              <a:rPr lang="en-US" sz="1400" dirty="0">
                <a:solidFill>
                  <a:schemeClr val="tx2"/>
                </a:solidFill>
              </a:rPr>
              <a:t>We are "dividuals": data points, bank codes, digital footprints tracked in a continuous loop.</a:t>
            </a:r>
            <a:endParaRPr lang="en-US" sz="1500" dirty="0"/>
          </a:p>
          <a:p>
            <a:pPr lvl="1" marL="355600" indent="-177800">
              <a:spcAft>
                <a:spcPts val="500"/>
              </a:spcAft>
              <a:buSzPct val="100000"/>
              <a:buChar char="•"/>
            </a:pPr>
            <a:r>
              <a:rPr lang="en-US" sz="1400" dirty="0">
                <a:solidFill>
                  <a:schemeClr val="tx2"/>
                </a:solidFill>
              </a:rPr>
              <a:t>Not a cage, but a network where control is fluid and constant.</a:t>
            </a:r>
            <a:endParaRPr lang="en-US" sz="1500" dirty="0"/>
          </a:p>
          <a:p>
            <a:pPr marL="342900" indent="-342900">
              <a:spcAft>
                <a:spcPts val="500"/>
              </a:spcAft>
              <a:buSzPct val="100000"/>
              <a:buChar char="•"/>
            </a:pPr>
            <a:r>
              <a:rPr lang="en-US" sz="1500" b="1" dirty="0">
                <a:solidFill>
                  <a:schemeClr val="tx1"/>
                </a:solidFill>
              </a:rPr>
              <a:t>False Needs </a:t>
            </a:r>
            <a:pPr indent="0" marL="0">
              <a:spcAft>
                <a:spcPts val="500"/>
              </a:spcAft>
              <a:buNone/>
            </a:pPr>
            <a:r>
              <a:rPr lang="en-US" sz="1500" dirty="0">
                <a:solidFill>
                  <a:schemeClr val="tx1"/>
                </a:solidFill>
              </a:rPr>
              <a:t>(Herbert Marcuse)</a:t>
            </a:r>
            <a:endParaRPr lang="en-US" sz="1500" dirty="0"/>
          </a:p>
          <a:p>
            <a:pPr marL="342900" indent="-342900">
              <a:spcAft>
                <a:spcPts val="500"/>
              </a:spcAft>
              <a:buSzPct val="100000"/>
              <a:buChar char="•"/>
            </a:pPr>
            <a:r>
              <a:rPr lang="en-US" sz="1500" b="1" dirty="0">
                <a:solidFill>
                  <a:schemeClr val="tx1"/>
                </a:solidFill>
              </a:rPr>
              <a:t>Surveillance Capitalism </a:t>
            </a:r>
            <a:pPr indent="0" marL="0">
              <a:spcAft>
                <a:spcPts val="500"/>
              </a:spcAft>
              <a:buNone/>
            </a:pPr>
            <a:r>
              <a:rPr lang="en-US" sz="1500" dirty="0">
                <a:solidFill>
                  <a:schemeClr val="tx1"/>
                </a:solidFill>
              </a:rPr>
              <a:t>(Shoshana Zuboff)</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Underground Sepia">
  <a:themeElements>
    <a:clrScheme name="Underground Sepia">
      <a:dk1>
        <a:srgbClr val="2B1D14"/>
      </a:dk1>
      <a:lt1>
        <a:srgbClr val="FFFFFF"/>
      </a:lt1>
      <a:dk2>
        <a:srgbClr val="5A3E2B"/>
      </a:dk2>
      <a:lt2>
        <a:srgbClr val="F4EEE6"/>
      </a:lt2>
      <a:accent1>
        <a:srgbClr val="9C3D1E"/>
      </a:accent1>
      <a:accent2>
        <a:srgbClr val="B9823A"/>
      </a:accent2>
      <a:accent3>
        <a:srgbClr val="3E5C5A"/>
      </a:accent3>
      <a:accent4>
        <a:srgbClr val="7A6A58"/>
      </a:accent4>
      <a:accent5>
        <a:srgbClr val="E3D5C1"/>
      </a:accent5>
      <a:accent6>
        <a:srgbClr val="6B4F3A"/>
      </a:accent6>
      <a:hlink>
        <a:srgbClr val="9C3D1E"/>
      </a:hlink>
      <a:folHlink>
        <a:srgbClr val="6B4F3A"/>
      </a:folHlink>
    </a:clrScheme>
    <a:fontScheme name="Underground Sep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Notes from Underground</dc:title>
  <dc:subject>PptxGenJS Presentation</dc:subject>
  <dc:creator>Scott Axelrod</dc:creator>
  <cp:lastModifiedBy>Scott Axelrod</cp:lastModifiedBy>
  <cp:revision>1</cp:revision>
  <dcterms:created xsi:type="dcterms:W3CDTF">2026-11-01T15:13:11Z</dcterms:created>
  <dcterms:modified xsi:type="dcterms:W3CDTF">2026-11-01T15:13:11Z</dcterms:modified>
</cp:coreProperties>
</file>