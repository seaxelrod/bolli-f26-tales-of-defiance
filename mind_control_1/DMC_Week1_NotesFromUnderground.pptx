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E5BFB8-DE2B-8125-F920-A194697E26F7}">
          <p14:sldIdLst>
            <p14:sldId id="256"/>
            <p14:sldId id="257"/>
          </p14:sldIdLst>
        </p14:section>
        <p14:section name="Context" id="{55456A12-6C4E-26D1-58BA-7822BAD8250E}">
          <p14:sldIdLst>
            <p14:sldId id="258"/>
            <p14:sldId id="259"/>
            <p14:sldId id="260"/>
            <p14:sldId id="261"/>
            <p14:sldId id="262"/>
          </p14:sldIdLst>
        </p14:section>
        <p14:section name="Dialogue" id="{DD6653CC-1263-662F-3482-8F80DF2711F1}">
          <p14:sldIdLst>
            <p14:sldId id="263"/>
            <p14:sldId id="264"/>
            <p14:sldId id="265"/>
            <p14:sldId id="266"/>
            <p14:sldId id="267"/>
          </p14:sldIdLst>
        </p14:section>
        <p14:section name="Questions" id="{5F2C0738-C3C5-8529-0704-F29259601438}">
          <p14:sldIdLst>
            <p14:sldId id="268"/>
            <p14:sldId id="269"/>
          </p14:sldIdLst>
        </p14:section>
        <p14:section name="Segue to Tale 2" id="{F167994E-4567-8581-E38D-0AA747972C92}">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90" d="100"/>
          <a:sy n="90" d="100"/>
        </p:scale>
        <p:origin x="216" y="9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3372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Order of the session: context for Notes from Underground; Larry Cedar clip 1; read the Ruth &amp; Dev dialogue; clip 2; homework questions; course overview pages.</a:t>
            </a:r>
          </a:p>
          <a:p>
            <a:endParaRPr lang="en-US" dirty="0"/>
          </a:p>
          <a:p>
            <a:r>
              <a:rPr lang="en-US" dirty="0"/>
              <a:t>FACILITATION · TIME PLAN (assumes ~90 min; scale if different)</a:t>
            </a:r>
          </a:p>
          <a:p>
            <a:r>
              <a:rPr lang="en-US" dirty="0"/>
              <a:t>Welcome + roadmap (slides 1–2): 3 min. Context (3–7): 12 min. Clip 1 + dialogue (8–11): 15 min. Clip 2 (12): 3 min. QUESTIONS (13–14): 35 min. Segue (15–18): 10 min. Buffer: 12 min.</a:t>
            </a:r>
          </a:p>
          <a:p>
            <a:r>
              <a:rPr lang="en-US" dirty="0"/>
              <a:t>Aim for roughly 45% of the session in discussion. Keep the buffer for discussion overflow, not for lecture.</a:t>
            </a:r>
          </a:p>
          <a:p>
            <a:r>
              <a:rPr lang="en-US" dirty="0"/>
              <a:t>Opener: ask 'What stayed with you from the reading?' to learn what students remember and care about.</a:t>
            </a:r>
          </a:p>
          <a:p>
            <a:r>
              <a:rPr lang="en-US" dirty="0"/>
              <a:t>Set up a 'parking lot' (flip chart or corner of the board) for questions that come up during context; promise to return to them in the discussion.</a:t>
            </a:r>
          </a:p>
          <a:p>
            <a:r>
              <a:rPr lang="en-US" dirty="0"/>
              <a:t>SOURCE NOTE: Students watched Larry Cedar's one-man show rather than reading the novella. The show is a subset of the text. It omits the Crystal Palace, '2 × 2 = 4', the anthill/ant-heap and 'sticking out your tongue'. Slides 3, 5, 7 and 17 are tagged accordingly. Keep it brief and matter-of-fact.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~2 min</a:t>
            </a:r>
          </a:p>
          <a:p>
            <a:r>
              <a:rPr lang="en-US" dirty="0"/>
              <a:t>Say plainly that this is a discussion-weighted session: brief context, a dialogue, then most of our time on the questions.</a:t>
            </a:r>
          </a:p>
          <a:p>
            <a:r>
              <a:rPr lang="en-US" dirty="0"/>
              <a:t>Invite students to jump in with questions at any point, and note that anything that would derail the flow goes in the parking lot.</a:t>
            </a:r>
          </a:p>
          <a:p>
            <a:r>
              <a:rPr lang="en-US" dirty="0"/>
              <a:t>Point to slides 13–14 as the main event.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~3 min (reference slide, do NOT walk every date)</a:t>
            </a:r>
          </a:p>
          <a:p>
            <a:r>
              <a:rPr lang="en-US" dirty="0"/>
              <a:t>Highlight only three anchors: 1861 emancipation; 1863–64 Chernyshevsky and Dostoevsky's reply; 1881 assassination. Say 'the rest is here for reference.'</a:t>
            </a:r>
          </a:p>
          <a:p>
            <a:r>
              <a:rPr lang="en-US" dirty="0"/>
              <a:t>No questions invited here unless someone asks; park the rest.</a:t>
            </a:r>
          </a:p>
          <a:p>
            <a:r>
              <a:rPr lang="en-US" dirty="0"/>
              <a:t>SOURCE NOTE: The 1863 Crystal Palace item is background from the novella, not the performance. Mention that in passing, not as a caveat.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~3 min (combined with slide 5, ~5 min total)</a:t>
            </a:r>
          </a:p>
          <a:p>
            <a:r>
              <a:rPr lang="en-US" dirty="0"/>
              <a:t>Keep it brisk: reforms made room for radicals; nihilism = faith in reason/science.</a:t>
            </a:r>
          </a:p>
          <a:p>
            <a:r>
              <a:rPr lang="en-US" dirty="0"/>
              <a:t>Land the irony: the nihilists believed passionately in one thing, reason.</a:t>
            </a:r>
          </a:p>
          <a:p>
            <a:r>
              <a:rPr lang="en-US" dirty="0"/>
              <a:t>One light check-in: 'Does anyone know where they've met this kind of faith in science or reason before?'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~3 min</a:t>
            </a:r>
          </a:p>
          <a:p>
            <a:r>
              <a:rPr lang="en-US" dirty="0"/>
              <a:t>Describe the Crystal Palace quickly: glass, iron, everyone rational, conflict gone.</a:t>
            </a:r>
          </a:p>
          <a:p>
            <a:r>
              <a:rPr lang="en-US" dirty="0"/>
              <a:t>Single check-in: 'Would you want to live there? What would you miss?' Take 2–3 quick answers only, then move on. Bank the rest of this interest for the discussion segment.</a:t>
            </a:r>
          </a:p>
          <a:p>
            <a:r>
              <a:rPr lang="en-US" dirty="0"/>
              <a:t>ACKNOWLEDGE (about 20 sec): 'Heads up: the Crystal Palace isn't in Larry Cedar's show. It's in the novella and in Chernyshevsky's book. I'm including it because it's the vision of the future the Underground Man is arguing against. Listen to how Ruth describes it on slide 9: the confident people who say that if we knew our real interest we'd be good.'</a:t>
            </a:r>
          </a:p>
          <a:p>
            <a:r>
              <a:rPr lang="en-US" dirty="0"/>
              <a:t>DISCUSSION PROMPT: 'He never names who he's arguing with. Who do you think he's talking to?' Let students guess before you name Chernyshevsky and the Palace.</a:t>
            </a:r>
          </a:p>
          <a:p>
            <a:r>
              <a:rPr lang="en-US" dirty="0"/>
              <a:t>Cut to about 2 min total here, since the Palace is not in the text students saw.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~1–2 min (the quickest slide to gloss over)</a:t>
            </a:r>
          </a:p>
          <a:p>
            <a:r>
              <a:rPr lang="en-US" dirty="0"/>
              <a:t>Key line: 'Punished first versus writes first.' Dostoevsky attacks a dream he once partly shared; Chernyshevsky writes, then pays.</a:t>
            </a:r>
          </a:p>
          <a:p>
            <a:r>
              <a:rPr lang="en-US" dirty="0"/>
              <a:t>Say it matters because it shapes who each man is arguing with, then move on. Don't invite discussion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~4 min (SLOW DOWN: this sets up the concepts the questions rely on)</a:t>
            </a:r>
          </a:p>
          <a:p>
            <a:r>
              <a:rPr lang="en-US" dirty="0"/>
              <a:t>Spend time on 'not piano keys' (in the show). Treat '2 × 2 = 4' and the anthill/'tongue' image as novella material that the show omits.</a:t>
            </a:r>
          </a:p>
          <a:p>
            <a:r>
              <a:rPr lang="en-US" dirty="0"/>
              <a:t>Emphasize: the target is reason claiming totality, not reason itself.</a:t>
            </a:r>
          </a:p>
          <a:p>
            <a:r>
              <a:rPr lang="en-US" dirty="0"/>
              <a:t>Ask ONE question: 'Is the freedom to act against your own interest worth having?' Take 2–3 responses. This previews the main discussion.</a:t>
            </a:r>
          </a:p>
          <a:p>
            <a:r>
              <a:rPr lang="en-US" dirty="0"/>
              <a:t>TAGS ON SLIDE: Piano keys is in the show (about 18:29). '2 × 2 = 4' and the anthill/ant-heap and 'stick out your tongue' images are in the novella, not the performance.</a:t>
            </a:r>
          </a:p>
          <a:p>
            <a:r>
              <a:rPr lang="en-US" dirty="0"/>
              <a:t>SAY: 'The show kept the piano keys but left out the other two famous images. What do we gain or lose by cutting them?' Treat it as an adaptation choice, but don't claim to know why the adapter cut them.</a:t>
            </a:r>
          </a:p>
          <a:p>
            <a:r>
              <a:rPr lang="en-US" dirty="0"/>
              <a:t>CLIP: Cue Larry Cedar's show at 17:58 and stop at 19:00 (about 1 minute); this is the piano keys passage in context. Video: </a:t>
            </a:r>
            <a:r>
              <a:rPr lang="en-US" dirty="0" err="1"/>
              <a:t>youtube.com</a:t>
            </a:r>
            <a:r>
              <a:rPr lang="en-US" dirty="0"/>
              <a:t>/</a:t>
            </a:r>
            <a:r>
              <a:rPr lang="en-US" dirty="0" err="1"/>
              <a:t>watch?v</a:t>
            </a:r>
            <a:r>
              <a:rPr lang="en-US" dirty="0"/>
              <a:t>=asp5tqDql0g (start at 17:58).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 https://www.youtube.com/watch?v=asp5tqDql0g&amp;t=90s  (opening: "I am a sick man...")</a:t>
            </a:r>
          </a:p>
          <a:p>
            <a:endParaRPr lang="en-US" dirty="0"/>
          </a:p>
          <a:p>
            <a:r>
              <a:rPr lang="en-US" dirty="0"/>
              <a:t>FACILITATION · ~3 min</a:t>
            </a:r>
          </a:p>
          <a:p>
            <a:r>
              <a:rPr lang="en-US" dirty="0"/>
              <a:t>Before playing: 'Listen for the tone. Is he angry, sad, funny?' After: take 1–2 reactions only.</a:t>
            </a:r>
          </a:p>
          <a:p>
            <a:r>
              <a:rPr lang="en-US" dirty="0"/>
              <a:t>Remind students they will hear the full text in the dialogue, so this clip is atmosphere, not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marks in Larry Cedar's performance (https://www.youtube.com/watch?v=asp5tqDql0g):
RUTH ""I am a sick man. I am a spiteful man." ..." → 1:30
RUTH "He doesn't want one. He's a retired cler..." → 6:40
RUTH "The confident people who say we only do ..." → 13:41</a:t>
            </a:r>
          </a:p>
          <a:p>
            <a:endParaRPr lang="en-US" dirty="0"/>
          </a:p>
          <a:p>
            <a:r>
              <a:rPr lang="en-US" dirty="0"/>
              <a:t>FACILITATION · ~5 min</a:t>
            </a:r>
          </a:p>
          <a:p>
            <a:r>
              <a:rPr lang="en-US" dirty="0"/>
              <a:t>Recruit two volunteers to read Ruth and Dev (or read it with a student). This keeps the room engaged and varies the voices.</a:t>
            </a:r>
          </a:p>
          <a:p>
            <a:r>
              <a:rPr lang="en-US" dirty="0"/>
              <a:t>No pause needed in Part 1; keep the momentum.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marks in Larry Cedar's performance (https://www.youtube.com/watch?v=asp5tqDql0g):
RUTH "That's exactly his target. He says what ..." → 15:11
RUTH "Especially then. A man may choose someth..." → 18:29
RUTH "And he asks the reformers a question: ho..." → 19:03</a:t>
            </a:r>
          </a:p>
          <a:p>
            <a:endParaRPr lang="en-US" dirty="0"/>
          </a:p>
          <a:p>
            <a:r>
              <a:rPr lang="en-US" dirty="0"/>
              <a:t>FACILITATION · ~5 min</a:t>
            </a:r>
          </a:p>
          <a:p>
            <a:r>
              <a:rPr lang="en-US" dirty="0"/>
              <a:t>PAUSE at the end of this part and ask: 'Is he a hero of freedom, or just spiteful?'</a:t>
            </a:r>
          </a:p>
          <a:p>
            <a:r>
              <a:rPr lang="en-US" dirty="0"/>
              <a:t>Take 2–3 views. Don't resolve it; say 'hold that thought, because Part 3 complicates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marks in Larry Cedar's performance (https://www.youtube.com/watch?v=asp5tqDql0g):
RUTH "She does. And he turns on her. He tells ..." → 1:21:13, 1:24:03
RUTH "He even admits that, for him, loving mea..." → 1:25:04
RUTH "He turns the mirror on us. Give any one ..." → 1:29:45</a:t>
            </a:r>
          </a:p>
          <a:p>
            <a:endParaRPr lang="en-US" dirty="0"/>
          </a:p>
          <a:p>
            <a:r>
              <a:rPr lang="en-US" dirty="0"/>
              <a:t>FACILITATION · ~5 min</a:t>
            </a:r>
          </a:p>
          <a:p>
            <a:r>
              <a:rPr lang="en-US" dirty="0"/>
              <a:t>PAUSE at the end and ask: 'Would we notice we'd stopped choosing?'</a:t>
            </a:r>
          </a:p>
          <a:p>
            <a:r>
              <a:rPr lang="en-US" dirty="0"/>
              <a:t>This is the bridge into the questions section. Let the silence sit a few seconds before calling on anyone.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 https://www.youtube.com/watch?v=asp5tqDql0g&amp;t=5385s</a:t>
            </a:r>
          </a:p>
          <a:p>
            <a:endParaRPr lang="en-US" dirty="0"/>
          </a:p>
          <a:p>
            <a:r>
              <a:rPr lang="en-US" dirty="0"/>
              <a:t>FACILITATION · ~3 min</a:t>
            </a:r>
          </a:p>
          <a:p>
            <a:r>
              <a:rPr lang="en-US" dirty="0"/>
              <a:t>Play the clip, then ask for one-word reactions around the room, or a quick 'what hit you?'</a:t>
            </a:r>
          </a:p>
          <a:p>
            <a:r>
              <a:rPr lang="en-US" dirty="0"/>
              <a:t>Then transition: 'Let's take this to your homework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~8 min (warm-up; these are the easy, concrete questions)</a:t>
            </a:r>
          </a:p>
          <a:p>
            <a:r>
              <a:rPr lang="en-US" dirty="0"/>
              <a:t>Do NOT read all four aloud in order. Use pair-share for 2–3 minutes, then a quick popcorn round (about 5 min) to gather answers.</a:t>
            </a:r>
          </a:p>
          <a:p>
            <a:r>
              <a:rPr lang="en-US" dirty="0"/>
              <a:t>Goal: build confidence and a shared factual baseline before the harder questions.</a:t>
            </a:r>
          </a:p>
          <a:p>
            <a:r>
              <a:rPr lang="en-US" dirty="0"/>
              <a:t>If someone raises a deeper point, say 'great, hold that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~27 min (the main event; most of the discussion time lives here)</a:t>
            </a:r>
          </a:p>
          <a:p>
            <a:r>
              <a:rPr lang="en-US" dirty="0"/>
              <a:t>Choose two or three of the four questions rather than covering all; each can take 8–10 minutes.</a:t>
            </a:r>
          </a:p>
          <a:p>
            <a:r>
              <a:rPr lang="en-US" dirty="0"/>
              <a:t>Opening move, before the abstract questions: 'Has anyone ever felt like the outlier in a group?'</a:t>
            </a:r>
          </a:p>
          <a:p>
            <a:r>
              <a:rPr lang="en-US" dirty="0"/>
              <a:t>Anchor question: 'Do we lose something if we dismiss him as mad?' (links Foucault to the Underground Man and carries into 1984).</a:t>
            </a:r>
          </a:p>
          <a:p>
            <a:r>
              <a:rPr lang="en-US" dirty="0"/>
              <a:t>Provocative seed: 'Do you ever want to be managed for your own good?' (ties to the closing line of Clip 2).</a:t>
            </a:r>
          </a:p>
          <a:p>
            <a:r>
              <a:rPr lang="en-US" dirty="0"/>
              <a:t>Techniques: hold back your own view until 2–3 students have spoken; follow up with 'Say more' or 'Who sees it differently?'; for dominant voices, 'Let's hear from someone who hasn't spoken yet.'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~3 min (treat as a trailer)</a:t>
            </a:r>
          </a:p>
          <a:p>
            <a:r>
              <a:rPr lang="en-US" dirty="0"/>
              <a:t>Spend about 2 minutes on the legacy lines, then link 2 × 2 = 4 to 1984 and stop.</a:t>
            </a:r>
          </a:p>
          <a:p>
            <a:r>
              <a:rPr lang="en-US" dirty="0"/>
              <a:t>One question only if time allows: 'Which of these lines of descent surprises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~2 min</a:t>
            </a:r>
          </a:p>
          <a:p>
            <a:r>
              <a:rPr lang="en-US" dirty="0"/>
              <a:t>Quick overview of the course; no discussion needed. If the discussion ran long, shorten to 30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~3 min</a:t>
            </a:r>
          </a:p>
          <a:p>
            <a:r>
              <a:rPr lang="en-US" dirty="0"/>
              <a:t>Use the 2 + 2 motif as the through-line: crushed by 4, forced to believe 5, seeing 4 in binary, nudged toward 4.</a:t>
            </a:r>
          </a:p>
          <a:p>
            <a:r>
              <a:rPr lang="en-US" dirty="0"/>
              <a:t>Optional hook: 'Which of these four stories are you most looking forward to?'</a:t>
            </a:r>
          </a:p>
          <a:p>
            <a:r>
              <a:rPr lang="en-US" dirty="0"/>
              <a:t>SOURCE NOTE: '2 + 2 = 4' is from the novella, not from Larry Cedar's show. Say so when you introduce the through-line: 'The show leaves this out, but it's the motif the rest of the course picks up, so I'm bringing it in from the book.'</a:t>
            </a:r>
          </a:p>
          <a:p>
            <a:r>
              <a:rPr lang="en-US" dirty="0"/>
              <a:t>Optional: ask 'Does the show still make us feel the crushing logic of 2 + 2 = 4 without saying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 ~2 min (coming attractions)</a:t>
            </a:r>
          </a:p>
          <a:p>
            <a:r>
              <a:rPr lang="en-US" dirty="0"/>
              <a:t>Say these lenses are covered in the Preface; just name them and highlight that we've already met Foucault today.</a:t>
            </a:r>
          </a:p>
          <a:p>
            <a:r>
              <a:rPr lang="en-US" dirty="0"/>
              <a:t>Close by asking students to bring one example of control or defiance from their own lives to the next session.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371600"/>
            <a:ext cx="10698480" cy="457200"/>
          </a:xfrm>
          <a:prstGeom prst="rect">
            <a:avLst/>
          </a:prstGeom>
          <a:noFill/>
          <a:ln/>
        </p:spPr>
        <p:txBody>
          <a:bodyPr wrap="square" rtlCol="0"/>
          <a:lstStyle>
            <a:lvl1pPr marL="0" indent="0">
              <a:buNone/>
              <a:defRPr lang="en-US" sz="1600" b="1" kern="0" spc="300" dirty="0">
                <a:solidFill>
                  <a:schemeClr val="accent2"/>
                </a:solidFill>
                <a:latin typeface="Calibri" pitchFamily="34" charset="0"/>
                <a:ea typeface="Calibri" pitchFamily="34" charset="-122"/>
                <a:cs typeface="Calibri" pitchFamily="34" charset="-120"/>
              </a:defRPr>
            </a:lvl1pPr>
          </a:lstStyle>
          <a:p>
            <a:pPr marL="0" indent="0">
              <a:buNone/>
            </a:pPr>
            <a:endParaRPr lang="en-US" sz="1600" dirty="0"/>
          </a:p>
        </p:txBody>
      </p:sp>
      <p:sp>
        <p:nvSpPr>
          <p:cNvPr id="3" name="Text 0"/>
          <p:cNvSpPr>
            <a:spLocks noGrp="1"/>
          </p:cNvSpPr>
          <p:nvPr>
            <p:ph type="title" idx="101" hasCustomPrompt="1"/>
          </p:nvPr>
        </p:nvSpPr>
        <p:spPr>
          <a:xfrm>
            <a:off x="731520" y="1828800"/>
            <a:ext cx="10698480" cy="201168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731520" y="4023360"/>
            <a:ext cx="10698480" cy="1463040"/>
          </a:xfrm>
          <a:prstGeom prst="rect">
            <a:avLst/>
          </a:prstGeom>
          <a:noFill/>
          <a:ln/>
        </p:spPr>
        <p:txBody>
          <a:bodyPr wrap="square" rtlCol="0"/>
          <a:lstStyle>
            <a:lvl1pPr marL="0" indent="0">
              <a:buNone/>
              <a:defRPr lang="en-US" sz="2000" dirty="0">
                <a:solidFill>
                  <a:schemeClr val="accent5"/>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rtlCol="0"/>
          <a:lstStyle>
            <a:lvl1pPr marL="0" indent="0">
              <a:buNone/>
              <a:defRPr lang="en-US" sz="1300" b="1" kern="0" spc="200" dirty="0">
                <a:solidFill>
                  <a:schemeClr val="accent1"/>
                </a:solidFill>
                <a:latin typeface="Calibri" pitchFamily="34" charset="0"/>
                <a:ea typeface="Calibri" pitchFamily="34" charset="-122"/>
                <a:cs typeface="Calibri" pitchFamily="34" charset="-120"/>
              </a:defRPr>
            </a:lvl1pPr>
          </a:lstStyle>
          <a:p>
            <a:pPr marL="0" indent="0">
              <a:buNone/>
            </a:pPr>
            <a:endParaRPr lang="en-US" sz="130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rtlCol="0"/>
          <a:lstStyle>
            <a:lvl1pPr marL="0" indent="0" algn="l">
              <a:buNone/>
              <a:defRPr lang="en-US" sz="3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40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IP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10698480" cy="457200"/>
          </a:xfrm>
          <a:prstGeom prst="rect">
            <a:avLst/>
          </a:prstGeom>
          <a:noFill/>
          <a:ln/>
        </p:spPr>
        <p:txBody>
          <a:bodyPr wrap="square" rtlCol="0"/>
          <a:lstStyle>
            <a:lvl1pPr marL="0" indent="0">
              <a:buNone/>
              <a:defRPr lang="en-US" sz="1600" b="1" kern="0" spc="300" dirty="0">
                <a:solidFill>
                  <a:schemeClr val="accent2"/>
                </a:solidFill>
                <a:latin typeface="Calibri" pitchFamily="34" charset="0"/>
                <a:ea typeface="Calibri" pitchFamily="34" charset="-122"/>
                <a:cs typeface="Calibri" pitchFamily="34" charset="-120"/>
              </a:defRPr>
            </a:lvl1pPr>
          </a:lstStyle>
          <a:p>
            <a:pPr marL="0" indent="0">
              <a:buNone/>
            </a:pPr>
            <a:endParaRPr lang="en-US" sz="1600"/>
          </a:p>
        </p:txBody>
      </p:sp>
      <p:sp>
        <p:nvSpPr>
          <p:cNvPr id="3" name="Text 0"/>
          <p:cNvSpPr>
            <a:spLocks noGrp="1"/>
          </p:cNvSpPr>
          <p:nvPr>
            <p:ph type="title" idx="101" hasCustomPrompt="1"/>
          </p:nvPr>
        </p:nvSpPr>
        <p:spPr>
          <a:xfrm>
            <a:off x="731520" y="1188720"/>
            <a:ext cx="10698480" cy="91440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hyperlink" Target="https://www.youtube.com/watch?v=asp5tqDql0g&amp;start=1078&amp;end=118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www.youtube.com/watch?v=asp5tqDql0g&amp;t=90s"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www.youtube.com/watch?v=asp5tqDql0g&amp;t=5385s"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371600"/>
            <a:ext cx="10698480" cy="457200"/>
          </a:xfrm>
          <a:prstGeom prst="rect">
            <a:avLst/>
          </a:prstGeom>
          <a:noFill/>
          <a:ln/>
        </p:spPr>
        <p:txBody>
          <a:bodyPr wrap="square" rtlCol="0"/>
          <a:lstStyle/>
          <a:p>
            <a:pPr marL="0" indent="0">
              <a:buNone/>
            </a:pPr>
            <a:r>
              <a:rPr lang="en-US" sz="1600" b="1" kern="0" spc="300" dirty="0">
                <a:solidFill>
                  <a:schemeClr val="accent2"/>
                </a:solidFill>
                <a:latin typeface="Calibri" pitchFamily="34" charset="0"/>
                <a:ea typeface="Calibri" pitchFamily="34" charset="-122"/>
                <a:cs typeface="Calibri" pitchFamily="34" charset="-120"/>
              </a:rPr>
              <a:t>SESSION 1 PRESENTATION</a:t>
            </a:r>
            <a:endParaRPr lang="en-US" sz="1600" dirty="0"/>
          </a:p>
        </p:txBody>
      </p:sp>
      <p:sp>
        <p:nvSpPr>
          <p:cNvPr id="3" name="Text 0"/>
          <p:cNvSpPr>
            <a:spLocks noGrp="1"/>
          </p:cNvSpPr>
          <p:nvPr>
            <p:ph type="title" idx="101" hasCustomPrompt="1"/>
          </p:nvPr>
        </p:nvSpPr>
        <p:spPr>
          <a:xfrm>
            <a:off x="731520" y="1828800"/>
            <a:ext cx="10698480" cy="2011680"/>
          </a:xfrm>
          <a:prstGeom prst="rect">
            <a:avLst/>
          </a:prstGeom>
          <a:noFill/>
          <a:ln/>
        </p:spPr>
        <p:txBody>
          <a:bodyPr wrap="square"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Tales of Defiance to Mind Control in the Modern Age</a:t>
            </a:r>
            <a:endParaRPr lang="en-US" sz="4400" dirty="0"/>
          </a:p>
        </p:txBody>
      </p:sp>
      <p:sp>
        <p:nvSpPr>
          <p:cNvPr id="4" name="Text 0"/>
          <p:cNvSpPr>
            <a:spLocks noGrp="1"/>
          </p:cNvSpPr>
          <p:nvPr>
            <p:ph type="body" idx="102" hasCustomPrompt="1"/>
          </p:nvPr>
        </p:nvSpPr>
        <p:spPr>
          <a:xfrm>
            <a:off x="731520" y="4023360"/>
            <a:ext cx="10698480" cy="1463040"/>
          </a:xfrm>
          <a:prstGeom prst="rect">
            <a:avLst/>
          </a:prstGeom>
          <a:noFill/>
          <a:ln/>
        </p:spPr>
        <p:txBody>
          <a:bodyPr wrap="square" rtlCol="0" anchor="t"/>
          <a:lstStyle/>
          <a:p>
            <a:pPr marL="0" indent="0">
              <a:buNone/>
            </a:pPr>
            <a:r>
              <a:rPr lang="en-US" sz="2000" dirty="0">
                <a:solidFill>
                  <a:schemeClr val="accent5"/>
                </a:solidFill>
                <a:latin typeface="Calibri" pitchFamily="34" charset="0"/>
                <a:ea typeface="Calibri" pitchFamily="34" charset="-122"/>
                <a:cs typeface="Calibri" pitchFamily="34" charset="-120"/>
              </a:rPr>
              <a:t>Tale 1: Dostoevsky's </a:t>
            </a:r>
            <a:r>
              <a:rPr lang="en-US" sz="2000" i="1" dirty="0">
                <a:solidFill>
                  <a:schemeClr val="accent5"/>
                </a:solidFill>
                <a:latin typeface="Calibri" pitchFamily="34" charset="0"/>
                <a:ea typeface="Calibri" pitchFamily="34" charset="-122"/>
                <a:cs typeface="Calibri" pitchFamily="34" charset="-120"/>
              </a:rPr>
              <a:t>Notes from Underground</a:t>
            </a:r>
            <a:r>
              <a:rPr lang="en-US" sz="2000" dirty="0">
                <a:solidFill>
                  <a:schemeClr val="accent5"/>
                </a:solidFill>
                <a:latin typeface="Calibri" pitchFamily="34" charset="0"/>
                <a:ea typeface="Calibri" pitchFamily="34" charset="-122"/>
                <a:cs typeface="Calibri" pitchFamily="34" charset="-120"/>
              </a:rPr>
              <a:t> (1864)</a:t>
            </a:r>
            <a:endParaRPr lang="en-US" sz="2000" dirty="0"/>
          </a:p>
          <a:p>
            <a:pPr marL="0" indent="0">
              <a:buNone/>
            </a:pPr>
            <a:r>
              <a:rPr lang="en-US" sz="1600" dirty="0">
                <a:solidFill>
                  <a:schemeClr val="accent2"/>
                </a:solidFill>
                <a:latin typeface="Calibri" pitchFamily="34" charset="0"/>
                <a:ea typeface="Calibri" pitchFamily="34" charset="-122"/>
                <a:cs typeface="Calibri" pitchFamily="34" charset="-120"/>
              </a:rPr>
              <a:t>Scott Axelrod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SESSION 1 · TODAY</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What we'll cover</a:t>
            </a:r>
            <a:endParaRPr lang="en-US" sz="3400" dirty="0"/>
          </a:p>
        </p:txBody>
      </p:sp>
      <p:sp>
        <p:nvSpPr>
          <p:cNvPr id="4" name="agenda row 1"/>
          <p:cNvSpPr/>
          <p:nvPr/>
        </p:nvSpPr>
        <p:spPr>
          <a:xfrm>
            <a:off x="548640" y="1645920"/>
            <a:ext cx="11064240" cy="932688"/>
          </a:xfrm>
          <a:prstGeom prst="roundRect">
            <a:avLst>
              <a:gd name="adj" fmla="val 7843"/>
            </a:avLst>
          </a:prstGeom>
          <a:solidFill>
            <a:schemeClr val="bg2"/>
          </a:solidFill>
          <a:ln w="12700">
            <a:solidFill>
              <a:schemeClr val="bg2"/>
            </a:solidFill>
            <a:prstDash val="solid"/>
          </a:ln>
        </p:spPr>
        <p:txBody>
          <a:bodyPr/>
          <a:lstStyle/>
          <a:p>
            <a:endParaRPr lang="en-US"/>
          </a:p>
        </p:txBody>
      </p:sp>
      <p:sp>
        <p:nvSpPr>
          <p:cNvPr id="5" name="agenda 1 circle"/>
          <p:cNvSpPr/>
          <p:nvPr/>
        </p:nvSpPr>
        <p:spPr>
          <a:xfrm>
            <a:off x="777240" y="1792224"/>
            <a:ext cx="640080" cy="640080"/>
          </a:xfrm>
          <a:prstGeom prst="ellipse">
            <a:avLst/>
          </a:prstGeom>
          <a:solidFill>
            <a:schemeClr val="tx2"/>
          </a:solidFill>
          <a:ln w="12700">
            <a:solidFill>
              <a:schemeClr val="tx2"/>
            </a:solidFill>
            <a:prstDash val="solid"/>
          </a:ln>
        </p:spPr>
        <p:txBody>
          <a:bodyPr/>
          <a:lstStyle/>
          <a:p>
            <a:endParaRPr lang="en-US"/>
          </a:p>
        </p:txBody>
      </p:sp>
      <p:pic>
        <p:nvPicPr>
          <p:cNvPr id="6" name="agenda 1 icon" descr="agenda 1"/>
          <p:cNvPicPr>
            <a:picLocks noChangeAspect="1"/>
          </p:cNvPicPr>
          <p:nvPr/>
        </p:nvPicPr>
        <p:blipFill>
          <a:blip r:embed="rId3"/>
          <a:stretch>
            <a:fillRect/>
          </a:stretch>
        </p:blipFill>
        <p:spPr>
          <a:xfrm>
            <a:off x="918058" y="1933042"/>
            <a:ext cx="358445" cy="358445"/>
          </a:xfrm>
          <a:prstGeom prst="rect">
            <a:avLst/>
          </a:prstGeom>
        </p:spPr>
      </p:pic>
      <p:sp>
        <p:nvSpPr>
          <p:cNvPr id="7" name="Text 4"/>
          <p:cNvSpPr txBox="1"/>
          <p:nvPr/>
        </p:nvSpPr>
        <p:spPr>
          <a:xfrm>
            <a:off x="1691640" y="1645920"/>
            <a:ext cx="7680960" cy="932688"/>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Context of Notes from Underground</a:t>
            </a:r>
            <a:endParaRPr lang="en-US" sz="2200" dirty="0"/>
          </a:p>
        </p:txBody>
      </p:sp>
      <p:sp>
        <p:nvSpPr>
          <p:cNvPr id="8" name="Text 5"/>
          <p:cNvSpPr txBox="1"/>
          <p:nvPr/>
        </p:nvSpPr>
        <p:spPr>
          <a:xfrm>
            <a:off x="9418320" y="1645920"/>
            <a:ext cx="1965960" cy="932688"/>
          </a:xfrm>
          <a:prstGeom prst="rect">
            <a:avLst/>
          </a:prstGeom>
          <a:noFill/>
          <a:ln/>
        </p:spPr>
        <p:txBody>
          <a:bodyPr wrap="square" lIns="0" tIns="0" rIns="0" bIns="0" rtlCol="0" anchor="ctr"/>
          <a:lstStyle/>
          <a:p>
            <a:pPr marL="0" indent="0" algn="r">
              <a:buNone/>
            </a:pPr>
            <a:r>
              <a:rPr lang="en-US" sz="1600" dirty="0">
                <a:solidFill>
                  <a:schemeClr val="accent4"/>
                </a:solidFill>
              </a:rPr>
              <a:t>Slides 3–7</a:t>
            </a:r>
            <a:endParaRPr lang="en-US" sz="1600" dirty="0"/>
          </a:p>
        </p:txBody>
      </p:sp>
      <p:sp>
        <p:nvSpPr>
          <p:cNvPr id="9" name="agenda row 2"/>
          <p:cNvSpPr/>
          <p:nvPr/>
        </p:nvSpPr>
        <p:spPr>
          <a:xfrm>
            <a:off x="548640" y="2761488"/>
            <a:ext cx="11064240" cy="932688"/>
          </a:xfrm>
          <a:prstGeom prst="roundRect">
            <a:avLst>
              <a:gd name="adj" fmla="val 7843"/>
            </a:avLst>
          </a:prstGeom>
          <a:solidFill>
            <a:schemeClr val="accent1"/>
          </a:solidFill>
          <a:ln w="12700">
            <a:solidFill>
              <a:schemeClr val="accent1"/>
            </a:solidFill>
            <a:prstDash val="solid"/>
          </a:ln>
        </p:spPr>
        <p:txBody>
          <a:bodyPr/>
          <a:lstStyle/>
          <a:p>
            <a:endParaRPr lang="en-US"/>
          </a:p>
        </p:txBody>
      </p:sp>
      <p:sp>
        <p:nvSpPr>
          <p:cNvPr id="10" name="agenda 2 circle"/>
          <p:cNvSpPr/>
          <p:nvPr/>
        </p:nvSpPr>
        <p:spPr>
          <a:xfrm>
            <a:off x="777240" y="2907792"/>
            <a:ext cx="640080" cy="640080"/>
          </a:xfrm>
          <a:prstGeom prst="ellipse">
            <a:avLst/>
          </a:prstGeom>
          <a:solidFill>
            <a:schemeClr val="bg1"/>
          </a:solidFill>
          <a:ln w="12700">
            <a:solidFill>
              <a:schemeClr val="bg1"/>
            </a:solidFill>
            <a:prstDash val="solid"/>
          </a:ln>
        </p:spPr>
        <p:txBody>
          <a:bodyPr/>
          <a:lstStyle/>
          <a:p>
            <a:endParaRPr lang="en-US"/>
          </a:p>
        </p:txBody>
      </p:sp>
      <p:pic>
        <p:nvPicPr>
          <p:cNvPr id="11" name="agenda 2 icon" descr="agenda 2"/>
          <p:cNvPicPr>
            <a:picLocks noChangeAspect="1"/>
          </p:cNvPicPr>
          <p:nvPr/>
        </p:nvPicPr>
        <p:blipFill>
          <a:blip r:embed="rId4"/>
          <a:stretch>
            <a:fillRect/>
          </a:stretch>
        </p:blipFill>
        <p:spPr>
          <a:xfrm>
            <a:off x="918058" y="3048610"/>
            <a:ext cx="358445" cy="358445"/>
          </a:xfrm>
          <a:prstGeom prst="rect">
            <a:avLst/>
          </a:prstGeom>
        </p:spPr>
      </p:pic>
      <p:sp>
        <p:nvSpPr>
          <p:cNvPr id="12" name="Text 8"/>
          <p:cNvSpPr txBox="1"/>
          <p:nvPr/>
        </p:nvSpPr>
        <p:spPr>
          <a:xfrm>
            <a:off x="1691640" y="2761488"/>
            <a:ext cx="7680960" cy="932688"/>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A Dialog About Notes</a:t>
            </a:r>
            <a:endParaRPr lang="en-US" sz="2200" dirty="0"/>
          </a:p>
        </p:txBody>
      </p:sp>
      <p:sp>
        <p:nvSpPr>
          <p:cNvPr id="13" name="Text 9"/>
          <p:cNvSpPr txBox="1"/>
          <p:nvPr/>
        </p:nvSpPr>
        <p:spPr>
          <a:xfrm>
            <a:off x="9418320" y="2761488"/>
            <a:ext cx="1965960" cy="932688"/>
          </a:xfrm>
          <a:prstGeom prst="rect">
            <a:avLst/>
          </a:prstGeom>
          <a:noFill/>
          <a:ln/>
        </p:spPr>
        <p:txBody>
          <a:bodyPr wrap="square" lIns="0" tIns="0" rIns="0" bIns="0" rtlCol="0" anchor="ctr"/>
          <a:lstStyle/>
          <a:p>
            <a:pPr marL="0" indent="0" algn="r">
              <a:buNone/>
            </a:pPr>
            <a:r>
              <a:rPr lang="en-US" sz="1600" dirty="0">
                <a:solidFill>
                  <a:schemeClr val="accent5"/>
                </a:solidFill>
              </a:rPr>
              <a:t>Slides 8–12</a:t>
            </a:r>
            <a:endParaRPr lang="en-US" sz="1600" dirty="0"/>
          </a:p>
        </p:txBody>
      </p:sp>
      <p:sp>
        <p:nvSpPr>
          <p:cNvPr id="14" name="agenda row 3"/>
          <p:cNvSpPr/>
          <p:nvPr/>
        </p:nvSpPr>
        <p:spPr>
          <a:xfrm>
            <a:off x="548640" y="3877056"/>
            <a:ext cx="11064240" cy="932688"/>
          </a:xfrm>
          <a:prstGeom prst="roundRect">
            <a:avLst>
              <a:gd name="adj" fmla="val 7843"/>
            </a:avLst>
          </a:prstGeom>
          <a:solidFill>
            <a:schemeClr val="accent1"/>
          </a:solidFill>
          <a:ln w="12700">
            <a:solidFill>
              <a:schemeClr val="accent1"/>
            </a:solidFill>
            <a:prstDash val="solid"/>
          </a:ln>
        </p:spPr>
        <p:txBody>
          <a:bodyPr/>
          <a:lstStyle/>
          <a:p>
            <a:endParaRPr lang="en-US"/>
          </a:p>
        </p:txBody>
      </p:sp>
      <p:sp>
        <p:nvSpPr>
          <p:cNvPr id="15" name="agenda 3 circle"/>
          <p:cNvSpPr/>
          <p:nvPr/>
        </p:nvSpPr>
        <p:spPr>
          <a:xfrm>
            <a:off x="777240" y="4023360"/>
            <a:ext cx="640080" cy="640080"/>
          </a:xfrm>
          <a:prstGeom prst="ellipse">
            <a:avLst/>
          </a:prstGeom>
          <a:solidFill>
            <a:schemeClr val="bg1"/>
          </a:solidFill>
          <a:ln w="12700">
            <a:solidFill>
              <a:schemeClr val="bg1"/>
            </a:solidFill>
            <a:prstDash val="solid"/>
          </a:ln>
        </p:spPr>
        <p:txBody>
          <a:bodyPr/>
          <a:lstStyle/>
          <a:p>
            <a:endParaRPr lang="en-US"/>
          </a:p>
        </p:txBody>
      </p:sp>
      <p:pic>
        <p:nvPicPr>
          <p:cNvPr id="16" name="agenda 3 icon" descr="agenda 3"/>
          <p:cNvPicPr>
            <a:picLocks noChangeAspect="1"/>
          </p:cNvPicPr>
          <p:nvPr/>
        </p:nvPicPr>
        <p:blipFill>
          <a:blip r:embed="rId5"/>
          <a:stretch>
            <a:fillRect/>
          </a:stretch>
        </p:blipFill>
        <p:spPr>
          <a:xfrm>
            <a:off x="918058" y="4164178"/>
            <a:ext cx="358445" cy="358445"/>
          </a:xfrm>
          <a:prstGeom prst="rect">
            <a:avLst/>
          </a:prstGeom>
        </p:spPr>
      </p:pic>
      <p:sp>
        <p:nvSpPr>
          <p:cNvPr id="17" name="Text 12"/>
          <p:cNvSpPr txBox="1"/>
          <p:nvPr/>
        </p:nvSpPr>
        <p:spPr>
          <a:xfrm>
            <a:off x="1691640" y="3877056"/>
            <a:ext cx="7680960" cy="932688"/>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Concrete and Abstract Questions</a:t>
            </a:r>
            <a:endParaRPr lang="en-US" sz="2200" dirty="0"/>
          </a:p>
        </p:txBody>
      </p:sp>
      <p:sp>
        <p:nvSpPr>
          <p:cNvPr id="18" name="Text 13"/>
          <p:cNvSpPr txBox="1"/>
          <p:nvPr/>
        </p:nvSpPr>
        <p:spPr>
          <a:xfrm>
            <a:off x="9418320" y="3877056"/>
            <a:ext cx="1965960" cy="932688"/>
          </a:xfrm>
          <a:prstGeom prst="rect">
            <a:avLst/>
          </a:prstGeom>
          <a:noFill/>
          <a:ln/>
        </p:spPr>
        <p:txBody>
          <a:bodyPr wrap="square" lIns="0" tIns="0" rIns="0" bIns="0" rtlCol="0" anchor="ctr"/>
          <a:lstStyle/>
          <a:p>
            <a:pPr marL="0" indent="0" algn="r">
              <a:buNone/>
            </a:pPr>
            <a:r>
              <a:rPr lang="en-US" sz="1600" dirty="0">
                <a:solidFill>
                  <a:schemeClr val="accent5"/>
                </a:solidFill>
              </a:rPr>
              <a:t>Slides 13–14</a:t>
            </a:r>
            <a:endParaRPr lang="en-US" sz="1600" dirty="0"/>
          </a:p>
        </p:txBody>
      </p:sp>
      <p:sp>
        <p:nvSpPr>
          <p:cNvPr id="19" name="agenda row 4"/>
          <p:cNvSpPr/>
          <p:nvPr/>
        </p:nvSpPr>
        <p:spPr>
          <a:xfrm>
            <a:off x="548640" y="4992624"/>
            <a:ext cx="11064240" cy="932688"/>
          </a:xfrm>
          <a:prstGeom prst="roundRect">
            <a:avLst>
              <a:gd name="adj" fmla="val 7843"/>
            </a:avLst>
          </a:prstGeom>
          <a:solidFill>
            <a:schemeClr val="bg2"/>
          </a:solidFill>
          <a:ln w="12700">
            <a:solidFill>
              <a:schemeClr val="bg2"/>
            </a:solidFill>
            <a:prstDash val="solid"/>
          </a:ln>
        </p:spPr>
        <p:txBody>
          <a:bodyPr/>
          <a:lstStyle/>
          <a:p>
            <a:endParaRPr lang="en-US"/>
          </a:p>
        </p:txBody>
      </p:sp>
      <p:sp>
        <p:nvSpPr>
          <p:cNvPr id="20" name="agenda 4 circle"/>
          <p:cNvSpPr/>
          <p:nvPr/>
        </p:nvSpPr>
        <p:spPr>
          <a:xfrm>
            <a:off x="777240" y="5138928"/>
            <a:ext cx="640080" cy="640080"/>
          </a:xfrm>
          <a:prstGeom prst="ellipse">
            <a:avLst/>
          </a:prstGeom>
          <a:solidFill>
            <a:schemeClr val="tx2"/>
          </a:solidFill>
          <a:ln w="12700">
            <a:solidFill>
              <a:schemeClr val="tx2"/>
            </a:solidFill>
            <a:prstDash val="solid"/>
          </a:ln>
        </p:spPr>
        <p:txBody>
          <a:bodyPr/>
          <a:lstStyle/>
          <a:p>
            <a:endParaRPr lang="en-US"/>
          </a:p>
        </p:txBody>
      </p:sp>
      <p:pic>
        <p:nvPicPr>
          <p:cNvPr id="21" name="agenda 4 icon" descr="agenda 4"/>
          <p:cNvPicPr>
            <a:picLocks noChangeAspect="1"/>
          </p:cNvPicPr>
          <p:nvPr/>
        </p:nvPicPr>
        <p:blipFill>
          <a:blip r:embed="rId6"/>
          <a:stretch>
            <a:fillRect/>
          </a:stretch>
        </p:blipFill>
        <p:spPr>
          <a:xfrm>
            <a:off x="918058" y="5279746"/>
            <a:ext cx="358445" cy="358445"/>
          </a:xfrm>
          <a:prstGeom prst="rect">
            <a:avLst/>
          </a:prstGeom>
        </p:spPr>
      </p:pic>
      <p:sp>
        <p:nvSpPr>
          <p:cNvPr id="22" name="Text 16"/>
          <p:cNvSpPr txBox="1"/>
          <p:nvPr/>
        </p:nvSpPr>
        <p:spPr>
          <a:xfrm>
            <a:off x="1691640" y="4992624"/>
            <a:ext cx="7680960" cy="932688"/>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Toward 1984: Legacy, Cartoon Summary, Arc, and Lenses</a:t>
            </a:r>
            <a:endParaRPr lang="en-US" sz="2200" dirty="0"/>
          </a:p>
        </p:txBody>
      </p:sp>
      <p:sp>
        <p:nvSpPr>
          <p:cNvPr id="23" name="Text 17"/>
          <p:cNvSpPr txBox="1"/>
          <p:nvPr/>
        </p:nvSpPr>
        <p:spPr>
          <a:xfrm>
            <a:off x="9418320" y="4992624"/>
            <a:ext cx="1965960" cy="932688"/>
          </a:xfrm>
          <a:prstGeom prst="rect">
            <a:avLst/>
          </a:prstGeom>
          <a:noFill/>
          <a:ln/>
        </p:spPr>
        <p:txBody>
          <a:bodyPr wrap="square" lIns="0" tIns="0" rIns="0" bIns="0" rtlCol="0" anchor="ctr"/>
          <a:lstStyle/>
          <a:p>
            <a:pPr marL="0" indent="0" algn="r">
              <a:buNone/>
            </a:pPr>
            <a:r>
              <a:rPr lang="en-US" sz="1600" dirty="0">
                <a:solidFill>
                  <a:schemeClr val="accent4"/>
                </a:solidFill>
              </a:rPr>
              <a:t>Slides 15–18</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NOTES FROM UNDERGROUND</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Russia under Alexander II, 1849–1881</a:t>
            </a:r>
            <a:endParaRPr lang="en-US" sz="3400" dirty="0"/>
          </a:p>
        </p:txBody>
      </p:sp>
      <p:sp>
        <p:nvSpPr>
          <p:cNvPr id="4" name="timeline axis"/>
          <p:cNvSpPr/>
          <p:nvPr/>
        </p:nvSpPr>
        <p:spPr>
          <a:xfrm>
            <a:off x="1371600" y="3886200"/>
            <a:ext cx="9418320" cy="0"/>
          </a:xfrm>
          <a:prstGeom prst="line">
            <a:avLst/>
          </a:prstGeom>
          <a:noFill/>
          <a:ln w="25400">
            <a:solidFill>
              <a:schemeClr val="accent4"/>
            </a:solidFill>
            <a:prstDash val="solid"/>
          </a:ln>
        </p:spPr>
        <p:txBody>
          <a:bodyPr/>
          <a:lstStyle/>
          <a:p>
            <a:endParaRPr lang="en-US"/>
          </a:p>
        </p:txBody>
      </p:sp>
      <p:sp>
        <p:nvSpPr>
          <p:cNvPr id="5" name="dot 1849"/>
          <p:cNvSpPr/>
          <p:nvPr/>
        </p:nvSpPr>
        <p:spPr>
          <a:xfrm>
            <a:off x="1271016"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6" name="year 1849"/>
          <p:cNvSpPr txBox="1"/>
          <p:nvPr/>
        </p:nvSpPr>
        <p:spPr>
          <a:xfrm>
            <a:off x="571500"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1849</a:t>
            </a:r>
            <a:endParaRPr lang="en-US" sz="2200" dirty="0"/>
          </a:p>
        </p:txBody>
      </p:sp>
      <p:sp>
        <p:nvSpPr>
          <p:cNvPr id="7" name="event 1849"/>
          <p:cNvSpPr txBox="1"/>
          <p:nvPr/>
        </p:nvSpPr>
        <p:spPr>
          <a:xfrm>
            <a:off x="571500"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Dostoevsky's mock execution, then Siberian labor camp and exile</a:t>
            </a:r>
            <a:endParaRPr lang="en-US" sz="1400" dirty="0"/>
          </a:p>
        </p:txBody>
      </p:sp>
      <p:sp>
        <p:nvSpPr>
          <p:cNvPr id="8" name="dot 1855"/>
          <p:cNvSpPr/>
          <p:nvPr/>
        </p:nvSpPr>
        <p:spPr>
          <a:xfrm>
            <a:off x="2616490"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9" name="year 1855"/>
          <p:cNvSpPr txBox="1"/>
          <p:nvPr/>
        </p:nvSpPr>
        <p:spPr>
          <a:xfrm>
            <a:off x="1916974" y="420624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1855</a:t>
            </a:r>
            <a:endParaRPr lang="en-US" sz="2200" dirty="0"/>
          </a:p>
        </p:txBody>
      </p:sp>
      <p:sp>
        <p:nvSpPr>
          <p:cNvPr id="10" name="event 1855"/>
          <p:cNvSpPr txBox="1"/>
          <p:nvPr/>
        </p:nvSpPr>
        <p:spPr>
          <a:xfrm>
            <a:off x="1916974"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Alexander II takes the throne</a:t>
            </a:r>
            <a:endParaRPr lang="en-US" sz="1400" dirty="0"/>
          </a:p>
        </p:txBody>
      </p:sp>
      <p:sp>
        <p:nvSpPr>
          <p:cNvPr id="11" name="dot 1861"/>
          <p:cNvSpPr/>
          <p:nvPr/>
        </p:nvSpPr>
        <p:spPr>
          <a:xfrm>
            <a:off x="3961965"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12" name="year 1861"/>
          <p:cNvSpPr txBox="1"/>
          <p:nvPr/>
        </p:nvSpPr>
        <p:spPr>
          <a:xfrm>
            <a:off x="3262449"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1861</a:t>
            </a:r>
            <a:endParaRPr lang="en-US" sz="2200" dirty="0"/>
          </a:p>
        </p:txBody>
      </p:sp>
      <p:sp>
        <p:nvSpPr>
          <p:cNvPr id="13" name="event 1861"/>
          <p:cNvSpPr txBox="1"/>
          <p:nvPr/>
        </p:nvSpPr>
        <p:spPr>
          <a:xfrm>
            <a:off x="3262449"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Emancipation of the serfs; censorship loosened</a:t>
            </a:r>
            <a:endParaRPr lang="en-US" sz="1400" dirty="0"/>
          </a:p>
        </p:txBody>
      </p:sp>
      <p:sp>
        <p:nvSpPr>
          <p:cNvPr id="14" name="dot 1862"/>
          <p:cNvSpPr/>
          <p:nvPr/>
        </p:nvSpPr>
        <p:spPr>
          <a:xfrm>
            <a:off x="5307439"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15" name="year 1862"/>
          <p:cNvSpPr txBox="1"/>
          <p:nvPr/>
        </p:nvSpPr>
        <p:spPr>
          <a:xfrm>
            <a:off x="4607923" y="420624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1862</a:t>
            </a:r>
            <a:endParaRPr lang="en-US" sz="2200" dirty="0"/>
          </a:p>
        </p:txBody>
      </p:sp>
      <p:sp>
        <p:nvSpPr>
          <p:cNvPr id="16" name="event 1862"/>
          <p:cNvSpPr txBox="1"/>
          <p:nvPr/>
        </p:nvSpPr>
        <p:spPr>
          <a:xfrm>
            <a:off x="4607923"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Turgenev's Fathers and Sons names the "nihilists"</a:t>
            </a:r>
            <a:endParaRPr lang="en-US" sz="1400" dirty="0"/>
          </a:p>
        </p:txBody>
      </p:sp>
      <p:sp>
        <p:nvSpPr>
          <p:cNvPr id="17" name="dot 1863"/>
          <p:cNvSpPr/>
          <p:nvPr/>
        </p:nvSpPr>
        <p:spPr>
          <a:xfrm>
            <a:off x="6652913"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18" name="year 1863"/>
          <p:cNvSpPr txBox="1"/>
          <p:nvPr/>
        </p:nvSpPr>
        <p:spPr>
          <a:xfrm>
            <a:off x="5953397"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1863</a:t>
            </a:r>
            <a:endParaRPr lang="en-US" sz="2200" dirty="0"/>
          </a:p>
        </p:txBody>
      </p:sp>
      <p:sp>
        <p:nvSpPr>
          <p:cNvPr id="19" name="event 1863"/>
          <p:cNvSpPr txBox="1"/>
          <p:nvPr/>
        </p:nvSpPr>
        <p:spPr>
          <a:xfrm>
            <a:off x="5953397"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Chernyshevsky's What Is to Be Done? imagines the Crystal Palace</a:t>
            </a:r>
            <a:endParaRPr lang="en-US" sz="1400" dirty="0"/>
          </a:p>
        </p:txBody>
      </p:sp>
      <p:sp>
        <p:nvSpPr>
          <p:cNvPr id="20" name="dot 1864"/>
          <p:cNvSpPr/>
          <p:nvPr/>
        </p:nvSpPr>
        <p:spPr>
          <a:xfrm>
            <a:off x="7934379" y="3721608"/>
            <a:ext cx="329184" cy="329184"/>
          </a:xfrm>
          <a:prstGeom prst="ellipse">
            <a:avLst/>
          </a:prstGeom>
          <a:solidFill>
            <a:schemeClr val="accent1"/>
          </a:solidFill>
          <a:ln w="25400">
            <a:solidFill>
              <a:schemeClr val="bg1"/>
            </a:solidFill>
            <a:prstDash val="solid"/>
          </a:ln>
        </p:spPr>
        <p:txBody>
          <a:bodyPr/>
          <a:lstStyle/>
          <a:p>
            <a:endParaRPr lang="en-US"/>
          </a:p>
        </p:txBody>
      </p:sp>
      <p:sp>
        <p:nvSpPr>
          <p:cNvPr id="21" name="year 1864"/>
          <p:cNvSpPr txBox="1"/>
          <p:nvPr/>
        </p:nvSpPr>
        <p:spPr>
          <a:xfrm>
            <a:off x="7298871" y="4206240"/>
            <a:ext cx="1600200" cy="411480"/>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1864</a:t>
            </a:r>
            <a:endParaRPr lang="en-US" sz="2600" dirty="0"/>
          </a:p>
        </p:txBody>
      </p:sp>
      <p:sp>
        <p:nvSpPr>
          <p:cNvPr id="22" name="event 1864"/>
          <p:cNvSpPr txBox="1"/>
          <p:nvPr/>
        </p:nvSpPr>
        <p:spPr>
          <a:xfrm>
            <a:off x="7298871"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Dostoevsky answers with Notes from Underground</a:t>
            </a:r>
            <a:endParaRPr lang="en-US" sz="1400" dirty="0"/>
          </a:p>
        </p:txBody>
      </p:sp>
      <p:sp>
        <p:nvSpPr>
          <p:cNvPr id="23" name="dot 1866"/>
          <p:cNvSpPr/>
          <p:nvPr/>
        </p:nvSpPr>
        <p:spPr>
          <a:xfrm>
            <a:off x="9343862"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24" name="year 1866"/>
          <p:cNvSpPr txBox="1"/>
          <p:nvPr/>
        </p:nvSpPr>
        <p:spPr>
          <a:xfrm>
            <a:off x="8644346"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1866</a:t>
            </a:r>
            <a:endParaRPr lang="en-US" sz="2200" dirty="0"/>
          </a:p>
        </p:txBody>
      </p:sp>
      <p:sp>
        <p:nvSpPr>
          <p:cNvPr id="25" name="event 1866"/>
          <p:cNvSpPr txBox="1"/>
          <p:nvPr/>
        </p:nvSpPr>
        <p:spPr>
          <a:xfrm>
            <a:off x="8644346"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Karakozov tries to assassinate the Tsar</a:t>
            </a:r>
            <a:endParaRPr lang="en-US" sz="1400" dirty="0"/>
          </a:p>
        </p:txBody>
      </p:sp>
      <p:sp>
        <p:nvSpPr>
          <p:cNvPr id="26" name="dot 1881"/>
          <p:cNvSpPr/>
          <p:nvPr/>
        </p:nvSpPr>
        <p:spPr>
          <a:xfrm>
            <a:off x="10689336"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27" name="year 1881"/>
          <p:cNvSpPr txBox="1"/>
          <p:nvPr/>
        </p:nvSpPr>
        <p:spPr>
          <a:xfrm>
            <a:off x="9989820" y="420624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1881</a:t>
            </a:r>
            <a:endParaRPr lang="en-US" sz="2200" dirty="0"/>
          </a:p>
        </p:txBody>
      </p:sp>
      <p:sp>
        <p:nvSpPr>
          <p:cNvPr id="28" name="event 1881"/>
          <p:cNvSpPr txBox="1"/>
          <p:nvPr/>
        </p:nvSpPr>
        <p:spPr>
          <a:xfrm>
            <a:off x="9989820"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People's Will kills Alexander II, weeks after Dostoevsky dies</a:t>
            </a:r>
            <a:endParaRPr lang="en-US" sz="1400" dirty="0"/>
          </a:p>
        </p:txBody>
      </p:sp>
      <p:sp>
        <p:nvSpPr>
          <p:cNvPr id="29" name="Text 27"/>
          <p:cNvSpPr txBox="1"/>
          <p:nvPr/>
        </p:nvSpPr>
        <p:spPr>
          <a:xfrm>
            <a:off x="548640" y="6263640"/>
            <a:ext cx="8229600" cy="320040"/>
          </a:xfrm>
          <a:prstGeom prst="rect">
            <a:avLst/>
          </a:prstGeom>
          <a:noFill/>
          <a:ln/>
        </p:spPr>
        <p:txBody>
          <a:bodyPr wrap="square" lIns="0" tIns="0" rIns="0" bIns="0" rtlCol="0" anchor="ctr"/>
          <a:lstStyle/>
          <a:p>
            <a:pPr marL="0" indent="0">
              <a:buNone/>
            </a:pPr>
            <a:r>
              <a:rPr lang="en-US" sz="1000" i="1" dirty="0">
                <a:solidFill>
                  <a:schemeClr val="accent4"/>
                </a:solidFill>
              </a:rPr>
              <a:t>Not to scale. Adapted from DMC Chronology and the Notes from Underground context notes.</a:t>
            </a:r>
            <a:endParaRPr lang="en-US" sz="1000" dirty="0"/>
          </a:p>
        </p:txBody>
      </p:sp>
      <p:sp>
        <p:nvSpPr>
          <p:cNvPr id="30"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SETTING</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A reforming Tsar and the first nihilists</a:t>
            </a:r>
            <a:endParaRPr lang="en-US" sz="3400" dirty="0"/>
          </a:p>
        </p:txBody>
      </p:sp>
      <p:sp>
        <p:nvSpPr>
          <p:cNvPr id="4" name="Alexander II card"/>
          <p:cNvSpPr/>
          <p:nvPr/>
        </p:nvSpPr>
        <p:spPr>
          <a:xfrm>
            <a:off x="548640" y="1645920"/>
            <a:ext cx="5394960" cy="4480560"/>
          </a:xfrm>
          <a:prstGeom prst="roundRect">
            <a:avLst>
              <a:gd name="adj" fmla="val 1633"/>
            </a:avLst>
          </a:prstGeom>
          <a:solidFill>
            <a:schemeClr val="bg2"/>
          </a:solidFill>
          <a:ln w="12700">
            <a:solidFill>
              <a:schemeClr val="bg2"/>
            </a:solidFill>
            <a:prstDash val="solid"/>
          </a:ln>
        </p:spPr>
        <p:txBody>
          <a:bodyPr/>
          <a:lstStyle/>
          <a:p>
            <a:endParaRPr lang="en-US"/>
          </a:p>
        </p:txBody>
      </p:sp>
      <p:sp>
        <p:nvSpPr>
          <p:cNvPr id="5" name="crown circle"/>
          <p:cNvSpPr/>
          <p:nvPr/>
        </p:nvSpPr>
        <p:spPr>
          <a:xfrm>
            <a:off x="868680" y="1920240"/>
            <a:ext cx="777240" cy="777240"/>
          </a:xfrm>
          <a:prstGeom prst="ellipse">
            <a:avLst/>
          </a:prstGeom>
          <a:solidFill>
            <a:schemeClr val="tx2"/>
          </a:solidFill>
          <a:ln w="12700">
            <a:solidFill>
              <a:schemeClr val="tx2"/>
            </a:solidFill>
            <a:prstDash val="solid"/>
          </a:ln>
        </p:spPr>
        <p:txBody>
          <a:bodyPr/>
          <a:lstStyle/>
          <a:p>
            <a:endParaRPr lang="en-US"/>
          </a:p>
        </p:txBody>
      </p:sp>
      <p:pic>
        <p:nvPicPr>
          <p:cNvPr id="6" name="crown icon" descr="crown"/>
          <p:cNvPicPr>
            <a:picLocks noChangeAspect="1"/>
          </p:cNvPicPr>
          <p:nvPr/>
        </p:nvPicPr>
        <p:blipFill>
          <a:blip r:embed="rId3"/>
          <a:stretch>
            <a:fillRect/>
          </a:stretch>
        </p:blipFill>
        <p:spPr>
          <a:xfrm>
            <a:off x="1039673" y="2091233"/>
            <a:ext cx="435254" cy="435254"/>
          </a:xfrm>
          <a:prstGeom prst="rect">
            <a:avLst/>
          </a:prstGeom>
        </p:spPr>
      </p:pic>
      <p:sp>
        <p:nvSpPr>
          <p:cNvPr id="7" name="Text 4"/>
          <p:cNvSpPr txBox="1"/>
          <p:nvPr/>
        </p:nvSpPr>
        <p:spPr>
          <a:xfrm>
            <a:off x="1828800" y="2011680"/>
            <a:ext cx="3931920" cy="59436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Alexander II (r. 1855–1881)</a:t>
            </a:r>
            <a:endParaRPr lang="en-US" sz="2200" dirty="0"/>
          </a:p>
        </p:txBody>
      </p:sp>
      <p:sp>
        <p:nvSpPr>
          <p:cNvPr id="8" name="Text 5"/>
          <p:cNvSpPr txBox="1"/>
          <p:nvPr/>
        </p:nvSpPr>
        <p:spPr>
          <a:xfrm>
            <a:off x="868680" y="2926080"/>
            <a:ext cx="4846320" cy="301752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His Great Reforms, above all freeing the serfs in 1861, and looser censorship made room for a radical intelligentsia.</a:t>
            </a:r>
            <a:endParaRPr lang="en-US" sz="1600" dirty="0"/>
          </a:p>
          <a:p>
            <a:pPr marL="342900" indent="-342900">
              <a:spcAft>
                <a:spcPts val="1000"/>
              </a:spcAft>
              <a:buSzPct val="100000"/>
              <a:buChar char="•"/>
            </a:pPr>
            <a:r>
              <a:rPr lang="en-US" sz="1600" dirty="0">
                <a:solidFill>
                  <a:schemeClr val="tx2"/>
                </a:solidFill>
              </a:rPr>
              <a:t>When the reforms didn't satisfy the radicals, his government cracked down.</a:t>
            </a:r>
            <a:endParaRPr lang="en-US" sz="1600" dirty="0"/>
          </a:p>
          <a:p>
            <a:pPr marL="342900" indent="-342900">
              <a:spcAft>
                <a:spcPts val="1000"/>
              </a:spcAft>
              <a:buSzPct val="100000"/>
              <a:buChar char="•"/>
            </a:pPr>
            <a:r>
              <a:rPr lang="en-US" sz="1600" dirty="0">
                <a:solidFill>
                  <a:schemeClr val="tx2"/>
                </a:solidFill>
              </a:rPr>
              <a:t>His reign brought the movement into being, and became its target.</a:t>
            </a:r>
            <a:endParaRPr lang="en-US" sz="1600" dirty="0"/>
          </a:p>
        </p:txBody>
      </p:sp>
      <p:sp>
        <p:nvSpPr>
          <p:cNvPr id="9" name="Nihilism card"/>
          <p:cNvSpPr/>
          <p:nvPr/>
        </p:nvSpPr>
        <p:spPr>
          <a:xfrm>
            <a:off x="6263640" y="1645920"/>
            <a:ext cx="5394960" cy="4480560"/>
          </a:xfrm>
          <a:prstGeom prst="roundRect">
            <a:avLst>
              <a:gd name="adj" fmla="val 1633"/>
            </a:avLst>
          </a:prstGeom>
          <a:solidFill>
            <a:schemeClr val="bg2"/>
          </a:solidFill>
          <a:ln w="12700">
            <a:solidFill>
              <a:schemeClr val="bg2"/>
            </a:solidFill>
            <a:prstDash val="solid"/>
          </a:ln>
        </p:spPr>
        <p:txBody>
          <a:bodyPr/>
          <a:lstStyle/>
          <a:p>
            <a:endParaRPr lang="en-US"/>
          </a:p>
        </p:txBody>
      </p:sp>
      <p:sp>
        <p:nvSpPr>
          <p:cNvPr id="10" name="flask circle"/>
          <p:cNvSpPr/>
          <p:nvPr/>
        </p:nvSpPr>
        <p:spPr>
          <a:xfrm>
            <a:off x="6583680" y="1920240"/>
            <a:ext cx="777240" cy="777240"/>
          </a:xfrm>
          <a:prstGeom prst="ellipse">
            <a:avLst/>
          </a:prstGeom>
          <a:solidFill>
            <a:schemeClr val="accent3"/>
          </a:solidFill>
          <a:ln w="12700">
            <a:solidFill>
              <a:schemeClr val="accent3"/>
            </a:solidFill>
            <a:prstDash val="solid"/>
          </a:ln>
        </p:spPr>
        <p:txBody>
          <a:bodyPr/>
          <a:lstStyle/>
          <a:p>
            <a:endParaRPr lang="en-US"/>
          </a:p>
        </p:txBody>
      </p:sp>
      <p:pic>
        <p:nvPicPr>
          <p:cNvPr id="11" name="flask icon" descr="flask"/>
          <p:cNvPicPr>
            <a:picLocks noChangeAspect="1"/>
          </p:cNvPicPr>
          <p:nvPr/>
        </p:nvPicPr>
        <p:blipFill>
          <a:blip r:embed="rId4"/>
          <a:stretch>
            <a:fillRect/>
          </a:stretch>
        </p:blipFill>
        <p:spPr>
          <a:xfrm>
            <a:off x="6754673" y="2091233"/>
            <a:ext cx="435254" cy="435254"/>
          </a:xfrm>
          <a:prstGeom prst="rect">
            <a:avLst/>
          </a:prstGeom>
        </p:spPr>
      </p:pic>
      <p:sp>
        <p:nvSpPr>
          <p:cNvPr id="12" name="Text 8"/>
          <p:cNvSpPr txBox="1"/>
          <p:nvPr/>
        </p:nvSpPr>
        <p:spPr>
          <a:xfrm>
            <a:off x="7543800" y="2011680"/>
            <a:ext cx="3931920" cy="59436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Russian Nihilism</a:t>
            </a:r>
            <a:endParaRPr lang="en-US" sz="2200" dirty="0"/>
          </a:p>
        </p:txBody>
      </p:sp>
      <p:sp>
        <p:nvSpPr>
          <p:cNvPr id="13" name="Text 9"/>
          <p:cNvSpPr txBox="1"/>
          <p:nvPr/>
        </p:nvSpPr>
        <p:spPr>
          <a:xfrm>
            <a:off x="6583680" y="2926080"/>
            <a:ext cx="4846320" cy="301752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Named through Bazarov, hero of Turgenev's Fathers and Sons (1862).</a:t>
            </a:r>
            <a:endParaRPr lang="en-US" sz="1600" dirty="0"/>
          </a:p>
          <a:p>
            <a:pPr marL="342900" indent="-342900">
              <a:spcAft>
                <a:spcPts val="1000"/>
              </a:spcAft>
              <a:buSzPct val="100000"/>
              <a:buChar char="•"/>
            </a:pPr>
            <a:r>
              <a:rPr lang="en-US" sz="1600" dirty="0">
                <a:solidFill>
                  <a:schemeClr val="tx2"/>
                </a:solidFill>
              </a:rPr>
              <a:t>Less "nothing matters" than "nothing counts except what science can verify."</a:t>
            </a:r>
            <a:endParaRPr lang="en-US" sz="1600" dirty="0"/>
          </a:p>
          <a:p>
            <a:pPr marL="342900" indent="-342900">
              <a:spcAft>
                <a:spcPts val="1000"/>
              </a:spcAft>
              <a:buSzPct val="100000"/>
              <a:buChar char="•"/>
            </a:pPr>
            <a:r>
              <a:rPr lang="en-US" sz="1600" dirty="0">
                <a:solidFill>
                  <a:schemeClr val="tx2"/>
                </a:solidFill>
              </a:rPr>
              <a:t>Out: religion, tradition, art for its own sake, inherited authority. In: materialism, utilitarianism, scientism.</a:t>
            </a:r>
            <a:endParaRPr lang="en-US" sz="1600" dirty="0"/>
          </a:p>
          <a:p>
            <a:pPr marL="342900" indent="-342900">
              <a:spcAft>
                <a:spcPts val="1000"/>
              </a:spcAft>
              <a:buSzPct val="100000"/>
              <a:buChar char="•"/>
            </a:pPr>
            <a:r>
              <a:rPr lang="en-US" sz="1600" b="1" dirty="0">
                <a:solidFill>
                  <a:schemeClr val="accent1"/>
                </a:solidFill>
              </a:rPr>
              <a:t>The irony: these nihilists believed passionately in one thing, reason.</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DREAM</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Chernyshevsky's Crystal Palace</a:t>
            </a:r>
            <a:endParaRPr lang="en-US" sz="3400" dirty="0"/>
          </a:p>
        </p:txBody>
      </p:sp>
      <p:sp>
        <p:nvSpPr>
          <p:cNvPr id="4" name="palace roof"/>
          <p:cNvSpPr/>
          <p:nvPr/>
        </p:nvSpPr>
        <p:spPr>
          <a:xfrm>
            <a:off x="822960" y="1463040"/>
            <a:ext cx="4206240" cy="914400"/>
          </a:xfrm>
          <a:prstGeom prst="triangle">
            <a:avLst/>
          </a:prstGeom>
          <a:solidFill>
            <a:schemeClr val="accent3">
              <a:alpha val="75000"/>
            </a:schemeClr>
          </a:solidFill>
          <a:ln w="19050">
            <a:solidFill>
              <a:schemeClr val="tx2"/>
            </a:solidFill>
            <a:prstDash val="solid"/>
          </a:ln>
        </p:spPr>
        <p:txBody>
          <a:bodyPr/>
          <a:lstStyle/>
          <a:p>
            <a:endParaRPr lang="en-US"/>
          </a:p>
        </p:txBody>
      </p:sp>
      <p:sp>
        <p:nvSpPr>
          <p:cNvPr id="5" name="pane 0-0"/>
          <p:cNvSpPr/>
          <p:nvPr/>
        </p:nvSpPr>
        <p:spPr>
          <a:xfrm>
            <a:off x="822960" y="23774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6" name="pane 0-1"/>
          <p:cNvSpPr/>
          <p:nvPr/>
        </p:nvSpPr>
        <p:spPr>
          <a:xfrm>
            <a:off x="1524000" y="23774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7" name="pane 0-2"/>
          <p:cNvSpPr/>
          <p:nvPr/>
        </p:nvSpPr>
        <p:spPr>
          <a:xfrm>
            <a:off x="2225040" y="23774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8" name="pane 0-3"/>
          <p:cNvSpPr/>
          <p:nvPr/>
        </p:nvSpPr>
        <p:spPr>
          <a:xfrm>
            <a:off x="2926080" y="23774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9" name="pane 0-4"/>
          <p:cNvSpPr/>
          <p:nvPr/>
        </p:nvSpPr>
        <p:spPr>
          <a:xfrm>
            <a:off x="3627120" y="23774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10" name="pane 0-5"/>
          <p:cNvSpPr/>
          <p:nvPr/>
        </p:nvSpPr>
        <p:spPr>
          <a:xfrm>
            <a:off x="4328160" y="23774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1" name="pane 1-0"/>
          <p:cNvSpPr/>
          <p:nvPr/>
        </p:nvSpPr>
        <p:spPr>
          <a:xfrm>
            <a:off x="822960" y="30632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12" name="pane 1-1"/>
          <p:cNvSpPr/>
          <p:nvPr/>
        </p:nvSpPr>
        <p:spPr>
          <a:xfrm>
            <a:off x="1524000" y="30632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3" name="pane 1-2"/>
          <p:cNvSpPr/>
          <p:nvPr/>
        </p:nvSpPr>
        <p:spPr>
          <a:xfrm>
            <a:off x="2225040" y="30632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14" name="pane 1-3"/>
          <p:cNvSpPr/>
          <p:nvPr/>
        </p:nvSpPr>
        <p:spPr>
          <a:xfrm>
            <a:off x="2926080" y="30632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15" name="pane 1-4"/>
          <p:cNvSpPr/>
          <p:nvPr/>
        </p:nvSpPr>
        <p:spPr>
          <a:xfrm>
            <a:off x="3627120" y="30632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6" name="pane 1-5"/>
          <p:cNvSpPr/>
          <p:nvPr/>
        </p:nvSpPr>
        <p:spPr>
          <a:xfrm>
            <a:off x="4328160" y="30632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17" name="pane 2-0"/>
          <p:cNvSpPr/>
          <p:nvPr/>
        </p:nvSpPr>
        <p:spPr>
          <a:xfrm>
            <a:off x="822960" y="37490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8" name="pane 2-1"/>
          <p:cNvSpPr/>
          <p:nvPr/>
        </p:nvSpPr>
        <p:spPr>
          <a:xfrm>
            <a:off x="1524000" y="37490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19" name="pane 2-2"/>
          <p:cNvSpPr/>
          <p:nvPr/>
        </p:nvSpPr>
        <p:spPr>
          <a:xfrm>
            <a:off x="2225040" y="37490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0" name="pane 2-3"/>
          <p:cNvSpPr/>
          <p:nvPr/>
        </p:nvSpPr>
        <p:spPr>
          <a:xfrm>
            <a:off x="2926080" y="37490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21" name="pane 2-4"/>
          <p:cNvSpPr/>
          <p:nvPr/>
        </p:nvSpPr>
        <p:spPr>
          <a:xfrm>
            <a:off x="3627120" y="37490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22" name="pane 2-5"/>
          <p:cNvSpPr/>
          <p:nvPr/>
        </p:nvSpPr>
        <p:spPr>
          <a:xfrm>
            <a:off x="4328160" y="37490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3" name="pane 3-0"/>
          <p:cNvSpPr/>
          <p:nvPr/>
        </p:nvSpPr>
        <p:spPr>
          <a:xfrm>
            <a:off x="822960" y="44348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24" name="pane 3-1"/>
          <p:cNvSpPr/>
          <p:nvPr/>
        </p:nvSpPr>
        <p:spPr>
          <a:xfrm>
            <a:off x="1524000" y="44348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5" name="pane 3-2"/>
          <p:cNvSpPr/>
          <p:nvPr/>
        </p:nvSpPr>
        <p:spPr>
          <a:xfrm>
            <a:off x="2225040" y="44348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26" name="pane 3-3"/>
          <p:cNvSpPr/>
          <p:nvPr/>
        </p:nvSpPr>
        <p:spPr>
          <a:xfrm>
            <a:off x="2926080" y="44348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27" name="pane 3-4"/>
          <p:cNvSpPr/>
          <p:nvPr/>
        </p:nvSpPr>
        <p:spPr>
          <a:xfrm>
            <a:off x="3627120" y="44348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8" name="pane 3-5"/>
          <p:cNvSpPr/>
          <p:nvPr/>
        </p:nvSpPr>
        <p:spPr>
          <a:xfrm>
            <a:off x="4328160" y="44348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29" name="Text 27"/>
          <p:cNvSpPr txBox="1"/>
          <p:nvPr/>
        </p:nvSpPr>
        <p:spPr>
          <a:xfrm>
            <a:off x="822960" y="5303520"/>
            <a:ext cx="4206240" cy="365760"/>
          </a:xfrm>
          <a:prstGeom prst="rect">
            <a:avLst/>
          </a:prstGeom>
          <a:noFill/>
          <a:ln/>
        </p:spPr>
        <p:txBody>
          <a:bodyPr wrap="square" lIns="0" tIns="0" rIns="0" bIns="0" rtlCol="0" anchor="ctr"/>
          <a:lstStyle/>
          <a:p>
            <a:pPr marL="0" indent="0" algn="ctr">
              <a:buNone/>
            </a:pPr>
            <a:r>
              <a:rPr lang="en-US" sz="1200" i="1" dirty="0">
                <a:solidFill>
                  <a:schemeClr val="accent4"/>
                </a:solidFill>
              </a:rPr>
              <a:t>Glass, iron, and everyone finally rational</a:t>
            </a:r>
            <a:endParaRPr lang="en-US" sz="1200" dirty="0"/>
          </a:p>
        </p:txBody>
      </p:sp>
      <p:sp>
        <p:nvSpPr>
          <p:cNvPr id="30" name="Text 28"/>
          <p:cNvSpPr txBox="1"/>
          <p:nvPr/>
        </p:nvSpPr>
        <p:spPr>
          <a:xfrm>
            <a:off x="5760720" y="1645920"/>
            <a:ext cx="5852160" cy="45720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What Is to Be Done? (1863)</a:t>
            </a:r>
            <a:endParaRPr lang="en-US" sz="2200" dirty="0"/>
          </a:p>
          <a:p>
            <a:pPr marL="0" indent="0">
              <a:buNone/>
            </a:pPr>
            <a:r>
              <a:rPr lang="en-US" sz="1600" dirty="0">
                <a:solidFill>
                  <a:schemeClr val="tx2"/>
                </a:solidFill>
              </a:rPr>
              <a:t>Written while Chernyshevsky was imprisoned in the Peter and Paul Fortress.</a:t>
            </a:r>
            <a:endParaRPr lang="en-US" sz="2200" dirty="0"/>
          </a:p>
          <a:p>
            <a:pPr marL="0" indent="0">
              <a:buNone/>
            </a:pPr>
            <a:r>
              <a:rPr lang="en-US" sz="800" dirty="0">
                <a:solidFill>
                  <a:srgbClr val="000000"/>
                </a:solidFill>
              </a:rPr>
              <a:t> </a:t>
            </a:r>
            <a:endParaRPr lang="en-US" sz="2200" dirty="0"/>
          </a:p>
          <a:p>
            <a:pPr marL="0" indent="0">
              <a:buNone/>
            </a:pPr>
            <a:r>
              <a:rPr lang="en-US" sz="1800" b="1" dirty="0">
                <a:solidFill>
                  <a:schemeClr val="accent1"/>
                </a:solidFill>
              </a:rPr>
              <a:t>Rational egoism</a:t>
            </a:r>
            <a:endParaRPr lang="en-US" sz="2200" dirty="0"/>
          </a:p>
          <a:p>
            <a:pPr marL="0" indent="0">
              <a:buNone/>
            </a:pPr>
            <a:r>
              <a:rPr lang="en-US" sz="1600" dirty="0">
                <a:solidFill>
                  <a:schemeClr val="tx2"/>
                </a:solidFill>
              </a:rPr>
              <a:t>People always act in their own interest. Show them where it truly lies, and they will behave well.</a:t>
            </a:r>
            <a:endParaRPr lang="en-US" sz="2200" dirty="0"/>
          </a:p>
          <a:p>
            <a:pPr marL="0" indent="0">
              <a:buNone/>
            </a:pPr>
            <a:r>
              <a:rPr lang="en-US" sz="800" dirty="0">
                <a:solidFill>
                  <a:srgbClr val="000000"/>
                </a:solidFill>
              </a:rPr>
              <a:t> </a:t>
            </a:r>
            <a:endParaRPr lang="en-US" sz="2200" dirty="0"/>
          </a:p>
          <a:p>
            <a:pPr marL="0" indent="0">
              <a:buNone/>
            </a:pPr>
            <a:r>
              <a:rPr lang="en-US" sz="1800" b="1" dirty="0">
                <a:solidFill>
                  <a:schemeClr val="accent1"/>
                </a:solidFill>
              </a:rPr>
              <a:t>The Crystal Palace</a:t>
            </a:r>
            <a:endParaRPr lang="en-US" sz="2200" dirty="0"/>
          </a:p>
          <a:p>
            <a:pPr marL="0" indent="0">
              <a:buNone/>
            </a:pPr>
            <a:r>
              <a:rPr lang="en-US" sz="1600" dirty="0">
                <a:solidFill>
                  <a:schemeClr val="tx2"/>
                </a:solidFill>
              </a:rPr>
              <a:t>In Vera Pavlovna's Fourth Dream: a glass-and-iron communal paradise, modeled on London's 1851 exhibition hall and Fourier's phalanstery. Society designed by reason, where conflict disappears.</a:t>
            </a:r>
            <a:endParaRPr lang="en-US" sz="2200" dirty="0"/>
          </a:p>
          <a:p>
            <a:pPr marL="0" indent="0">
              <a:buNone/>
            </a:pPr>
            <a:r>
              <a:rPr lang="en-US" sz="800" dirty="0">
                <a:solidFill>
                  <a:srgbClr val="000000"/>
                </a:solidFill>
              </a:rPr>
              <a:t> </a:t>
            </a:r>
            <a:endParaRPr lang="en-US" sz="2200" dirty="0"/>
          </a:p>
          <a:p>
            <a:pPr marL="0" indent="0">
              <a:buNone/>
            </a:pPr>
            <a:r>
              <a:rPr lang="en-US" sz="1500" i="1" dirty="0">
                <a:solidFill>
                  <a:schemeClr val="accent4"/>
                </a:solidFill>
              </a:rPr>
              <a:t>Afterward: a "civil execution" (public degradation), Siberian prison, exile. Lenin later reused the title.</a:t>
            </a:r>
            <a:endParaRPr lang="en-US" sz="2200" dirty="0"/>
          </a:p>
        </p:txBody>
      </p:sp>
      <p:sp>
        <p:nvSpPr>
          <p:cNvPr id="31"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5</a:t>
            </a:fld>
            <a:endParaRPr lang="en-US"/>
          </a:p>
        </p:txBody>
      </p:sp>
      <p:sp>
        <p:nvSpPr>
          <p:cNvPr id="32" name="TextBox 31"/>
          <p:cNvSpPr txBox="1"/>
          <p:nvPr/>
        </p:nvSpPr>
        <p:spPr>
          <a:xfrm>
            <a:off x="5760720" y="5354479"/>
            <a:ext cx="5852160" cy="492443"/>
          </a:xfrm>
          <a:prstGeom prst="rect">
            <a:avLst/>
          </a:prstGeom>
          <a:solidFill>
            <a:schemeClr val="bg2"/>
          </a:solidFill>
        </p:spPr>
        <p:txBody>
          <a:bodyPr wrap="square" lIns="137160" rIns="137160" anchor="ctr">
            <a:spAutoFit/>
          </a:bodyPr>
          <a:lstStyle/>
          <a:p>
            <a:r>
              <a:rPr sz="1300" b="1" i="1" dirty="0">
                <a:solidFill>
                  <a:schemeClr val="accent1"/>
                </a:solidFill>
              </a:rPr>
              <a:t>Heads up: </a:t>
            </a:r>
            <a:r>
              <a:rPr sz="1300" i="1" dirty="0">
                <a:solidFill>
                  <a:schemeClr val="accent1"/>
                </a:solidFill>
              </a:rPr>
              <a:t>Chernyshevsky's Crystal Palace is </a:t>
            </a:r>
            <a:r>
              <a:rPr lang="en-US" sz="1300" i="1" dirty="0">
                <a:solidFill>
                  <a:schemeClr val="accent1"/>
                </a:solidFill>
              </a:rPr>
              <a:t>in the novella, but </a:t>
            </a:r>
            <a:r>
              <a:rPr sz="1300" i="1" dirty="0">
                <a:solidFill>
                  <a:schemeClr val="accent1"/>
                </a:solidFill>
              </a:rPr>
              <a:t>not in Larry Cedar's show. The Underground Man argues against it without naming it</a:t>
            </a:r>
            <a:r>
              <a:rPr lang="en-US" sz="1300" i="1" dirty="0">
                <a:solidFill>
                  <a:schemeClr val="accent1"/>
                </a:solidFill>
              </a:rPr>
              <a:t> in the show.</a:t>
            </a:r>
            <a:endParaRPr sz="1300" i="1" dirty="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REBUTTAL</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Two writers, two Siberias, in opposite order</a:t>
            </a:r>
            <a:endParaRPr lang="en-US" sz="3400" dirty="0"/>
          </a:p>
        </p:txBody>
      </p:sp>
      <p:sp>
        <p:nvSpPr>
          <p:cNvPr id="4" name="Dostoevsky card"/>
          <p:cNvSpPr/>
          <p:nvPr/>
        </p:nvSpPr>
        <p:spPr>
          <a:xfrm>
            <a:off x="548640" y="1645920"/>
            <a:ext cx="5394960" cy="4206240"/>
          </a:xfrm>
          <a:prstGeom prst="roundRect">
            <a:avLst>
              <a:gd name="adj" fmla="val 1739"/>
            </a:avLst>
          </a:prstGeom>
          <a:solidFill>
            <a:schemeClr val="bg2"/>
          </a:solidFill>
          <a:ln w="12700">
            <a:solidFill>
              <a:schemeClr val="bg2"/>
            </a:solidFill>
            <a:prstDash val="solid"/>
          </a:ln>
        </p:spPr>
        <p:txBody>
          <a:bodyPr/>
          <a:lstStyle/>
          <a:p>
            <a:endParaRPr lang="en-US"/>
          </a:p>
        </p:txBody>
      </p:sp>
      <p:sp>
        <p:nvSpPr>
          <p:cNvPr id="5" name="Dostoevsky circle"/>
          <p:cNvSpPr/>
          <p:nvPr/>
        </p:nvSpPr>
        <p:spPr>
          <a:xfrm>
            <a:off x="868680" y="1874520"/>
            <a:ext cx="685800" cy="685800"/>
          </a:xfrm>
          <a:prstGeom prst="ellipse">
            <a:avLst/>
          </a:prstGeom>
          <a:solidFill>
            <a:schemeClr val="tx2"/>
          </a:solidFill>
          <a:ln w="12700">
            <a:solidFill>
              <a:schemeClr val="tx2"/>
            </a:solidFill>
            <a:prstDash val="solid"/>
          </a:ln>
        </p:spPr>
        <p:txBody>
          <a:bodyPr/>
          <a:lstStyle/>
          <a:p>
            <a:endParaRPr lang="en-US"/>
          </a:p>
        </p:txBody>
      </p:sp>
      <p:pic>
        <p:nvPicPr>
          <p:cNvPr id="6" name="Dostoevsky icon" descr="Dostoevsky"/>
          <p:cNvPicPr>
            <a:picLocks noChangeAspect="1"/>
          </p:cNvPicPr>
          <p:nvPr/>
        </p:nvPicPr>
        <p:blipFill>
          <a:blip r:embed="rId3"/>
          <a:stretch>
            <a:fillRect/>
          </a:stretch>
        </p:blipFill>
        <p:spPr>
          <a:xfrm>
            <a:off x="1019556" y="2025396"/>
            <a:ext cx="384048" cy="384048"/>
          </a:xfrm>
          <a:prstGeom prst="rect">
            <a:avLst/>
          </a:prstGeom>
        </p:spPr>
      </p:pic>
      <p:sp>
        <p:nvSpPr>
          <p:cNvPr id="7" name="Text 4"/>
          <p:cNvSpPr txBox="1"/>
          <p:nvPr/>
        </p:nvSpPr>
        <p:spPr>
          <a:xfrm>
            <a:off x="1737360" y="1920240"/>
            <a:ext cx="4023360" cy="59436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Dostoevsky</a:t>
            </a:r>
            <a:endParaRPr lang="en-US" sz="2400" dirty="0"/>
          </a:p>
        </p:txBody>
      </p:sp>
      <p:sp>
        <p:nvSpPr>
          <p:cNvPr id="8" name="Dostoevsky step 0"/>
          <p:cNvSpPr/>
          <p:nvPr/>
        </p:nvSpPr>
        <p:spPr>
          <a:xfrm>
            <a:off x="868680" y="27889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68680" y="27889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1849</a:t>
            </a:r>
            <a:endParaRPr lang="en-US" sz="1500" dirty="0"/>
          </a:p>
        </p:txBody>
      </p:sp>
      <p:sp>
        <p:nvSpPr>
          <p:cNvPr id="10" name="Text 7"/>
          <p:cNvSpPr txBox="1"/>
          <p:nvPr/>
        </p:nvSpPr>
        <p:spPr>
          <a:xfrm>
            <a:off x="2057400" y="2788920"/>
            <a:ext cx="3657600" cy="685800"/>
          </a:xfrm>
          <a:prstGeom prst="rect">
            <a:avLst/>
          </a:prstGeom>
          <a:noFill/>
          <a:ln/>
        </p:spPr>
        <p:txBody>
          <a:bodyPr wrap="square" lIns="0" tIns="0" rIns="0" bIns="0" rtlCol="0" anchor="ctr"/>
          <a:lstStyle/>
          <a:p>
            <a:pPr marL="0" indent="0">
              <a:buNone/>
            </a:pPr>
            <a:r>
              <a:rPr lang="en-US" sz="1500" dirty="0">
                <a:solidFill>
                  <a:schemeClr val="tx2"/>
                </a:solidFill>
              </a:rPr>
              <a:t>Petrashevsky circle: utopian socialism and banned books</a:t>
            </a:r>
            <a:endParaRPr lang="en-US" sz="1500" dirty="0"/>
          </a:p>
        </p:txBody>
      </p:sp>
      <p:sp>
        <p:nvSpPr>
          <p:cNvPr id="11" name="Dostoevsky step 1"/>
          <p:cNvSpPr/>
          <p:nvPr/>
        </p:nvSpPr>
        <p:spPr>
          <a:xfrm>
            <a:off x="868680" y="37033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12" name="Text 9"/>
          <p:cNvSpPr txBox="1"/>
          <p:nvPr/>
        </p:nvSpPr>
        <p:spPr>
          <a:xfrm>
            <a:off x="868680" y="37033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Punished</a:t>
            </a:r>
            <a:endParaRPr lang="en-US" sz="1500" dirty="0"/>
          </a:p>
        </p:txBody>
      </p:sp>
      <p:sp>
        <p:nvSpPr>
          <p:cNvPr id="13" name="Text 10"/>
          <p:cNvSpPr txBox="1"/>
          <p:nvPr/>
        </p:nvSpPr>
        <p:spPr>
          <a:xfrm>
            <a:off x="2057400" y="3703320"/>
            <a:ext cx="3657600" cy="685800"/>
          </a:xfrm>
          <a:prstGeom prst="rect">
            <a:avLst/>
          </a:prstGeom>
          <a:noFill/>
          <a:ln/>
        </p:spPr>
        <p:txBody>
          <a:bodyPr wrap="square" lIns="0" tIns="0" rIns="0" bIns="0" rtlCol="0" anchor="ctr"/>
          <a:lstStyle/>
          <a:p>
            <a:pPr marL="0" indent="0">
              <a:buNone/>
            </a:pPr>
            <a:r>
              <a:rPr lang="en-US" sz="1500" dirty="0">
                <a:solidFill>
                  <a:schemeClr val="tx2"/>
                </a:solidFill>
              </a:rPr>
              <a:t>Mock execution, hard labor in Siberia, exile in the army</a:t>
            </a:r>
            <a:endParaRPr lang="en-US" sz="1500" dirty="0"/>
          </a:p>
        </p:txBody>
      </p:sp>
      <p:sp>
        <p:nvSpPr>
          <p:cNvPr id="14" name="Dostoevsky step 2"/>
          <p:cNvSpPr/>
          <p:nvPr/>
        </p:nvSpPr>
        <p:spPr>
          <a:xfrm>
            <a:off x="868680" y="4617720"/>
            <a:ext cx="1005840" cy="685800"/>
          </a:xfrm>
          <a:prstGeom prst="roundRect">
            <a:avLst>
              <a:gd name="adj" fmla="val 8000"/>
            </a:avLst>
          </a:prstGeom>
          <a:solidFill>
            <a:schemeClr val="accent1"/>
          </a:solidFill>
          <a:ln w="12700">
            <a:solidFill>
              <a:schemeClr val="accent1"/>
            </a:solidFill>
            <a:prstDash val="solid"/>
          </a:ln>
        </p:spPr>
        <p:txBody>
          <a:bodyPr/>
          <a:lstStyle/>
          <a:p>
            <a:endParaRPr lang="en-US"/>
          </a:p>
        </p:txBody>
      </p:sp>
      <p:sp>
        <p:nvSpPr>
          <p:cNvPr id="15" name="Text 12"/>
          <p:cNvSpPr txBox="1"/>
          <p:nvPr/>
        </p:nvSpPr>
        <p:spPr>
          <a:xfrm>
            <a:off x="868680" y="46177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1864</a:t>
            </a:r>
            <a:endParaRPr lang="en-US" sz="1500" dirty="0"/>
          </a:p>
        </p:txBody>
      </p:sp>
      <p:sp>
        <p:nvSpPr>
          <p:cNvPr id="16" name="Text 13"/>
          <p:cNvSpPr txBox="1"/>
          <p:nvPr/>
        </p:nvSpPr>
        <p:spPr>
          <a:xfrm>
            <a:off x="2057400" y="4617720"/>
            <a:ext cx="3657600" cy="685800"/>
          </a:xfrm>
          <a:prstGeom prst="rect">
            <a:avLst/>
          </a:prstGeom>
          <a:noFill/>
          <a:ln/>
        </p:spPr>
        <p:txBody>
          <a:bodyPr wrap="square" lIns="0" tIns="0" rIns="0" bIns="0" rtlCol="0" anchor="ctr"/>
          <a:lstStyle/>
          <a:p>
            <a:pPr marL="0" indent="0">
              <a:buNone/>
            </a:pPr>
            <a:r>
              <a:rPr lang="en-US" sz="1500" dirty="0">
                <a:solidFill>
                  <a:schemeClr val="tx2"/>
                </a:solidFill>
              </a:rPr>
              <a:t>Then writes Notes from Underground</a:t>
            </a:r>
            <a:endParaRPr lang="en-US" sz="1500" dirty="0"/>
          </a:p>
        </p:txBody>
      </p:sp>
      <p:sp>
        <p:nvSpPr>
          <p:cNvPr id="17" name="Text 14"/>
          <p:cNvSpPr txBox="1"/>
          <p:nvPr/>
        </p:nvSpPr>
        <p:spPr>
          <a:xfrm>
            <a:off x="868680" y="5486400"/>
            <a:ext cx="4846320" cy="320040"/>
          </a:xfrm>
          <a:prstGeom prst="rect">
            <a:avLst/>
          </a:prstGeom>
          <a:noFill/>
          <a:ln/>
        </p:spPr>
        <p:txBody>
          <a:bodyPr wrap="square" lIns="0" tIns="0" rIns="0" bIns="0" rtlCol="0" anchor="ctr"/>
          <a:lstStyle/>
          <a:p>
            <a:pPr marL="0" indent="0">
              <a:buNone/>
            </a:pPr>
            <a:r>
              <a:rPr lang="en-US" sz="1300" i="1" dirty="0">
                <a:solidFill>
                  <a:schemeClr val="accent1"/>
                </a:solidFill>
              </a:rPr>
              <a:t>Punished first, then attacks a dream he once partly shared</a:t>
            </a:r>
            <a:endParaRPr lang="en-US" sz="1300" dirty="0"/>
          </a:p>
        </p:txBody>
      </p:sp>
      <p:sp>
        <p:nvSpPr>
          <p:cNvPr id="18" name="Chernyshevsky card"/>
          <p:cNvSpPr/>
          <p:nvPr/>
        </p:nvSpPr>
        <p:spPr>
          <a:xfrm>
            <a:off x="6263640" y="1645920"/>
            <a:ext cx="5394960" cy="4206240"/>
          </a:xfrm>
          <a:prstGeom prst="roundRect">
            <a:avLst>
              <a:gd name="adj" fmla="val 1739"/>
            </a:avLst>
          </a:prstGeom>
          <a:solidFill>
            <a:schemeClr val="bg2"/>
          </a:solidFill>
          <a:ln w="12700">
            <a:solidFill>
              <a:schemeClr val="bg2"/>
            </a:solidFill>
            <a:prstDash val="solid"/>
          </a:ln>
        </p:spPr>
        <p:txBody>
          <a:bodyPr/>
          <a:lstStyle/>
          <a:p>
            <a:endParaRPr lang="en-US"/>
          </a:p>
        </p:txBody>
      </p:sp>
      <p:sp>
        <p:nvSpPr>
          <p:cNvPr id="19" name="Chernyshevsky circle"/>
          <p:cNvSpPr/>
          <p:nvPr/>
        </p:nvSpPr>
        <p:spPr>
          <a:xfrm>
            <a:off x="6583680" y="1874520"/>
            <a:ext cx="685800" cy="685800"/>
          </a:xfrm>
          <a:prstGeom prst="ellipse">
            <a:avLst/>
          </a:prstGeom>
          <a:solidFill>
            <a:schemeClr val="accent3"/>
          </a:solidFill>
          <a:ln w="12700">
            <a:solidFill>
              <a:schemeClr val="accent3"/>
            </a:solidFill>
            <a:prstDash val="solid"/>
          </a:ln>
        </p:spPr>
        <p:txBody>
          <a:bodyPr/>
          <a:lstStyle/>
          <a:p>
            <a:endParaRPr lang="en-US"/>
          </a:p>
        </p:txBody>
      </p:sp>
      <p:pic>
        <p:nvPicPr>
          <p:cNvPr id="20" name="Chernyshevsky icon" descr="Chernyshevsky"/>
          <p:cNvPicPr>
            <a:picLocks noChangeAspect="1"/>
          </p:cNvPicPr>
          <p:nvPr/>
        </p:nvPicPr>
        <p:blipFill>
          <a:blip r:embed="rId4"/>
          <a:stretch>
            <a:fillRect/>
          </a:stretch>
        </p:blipFill>
        <p:spPr>
          <a:xfrm>
            <a:off x="6734556" y="2025396"/>
            <a:ext cx="384048" cy="384048"/>
          </a:xfrm>
          <a:prstGeom prst="rect">
            <a:avLst/>
          </a:prstGeom>
        </p:spPr>
      </p:pic>
      <p:sp>
        <p:nvSpPr>
          <p:cNvPr id="21" name="Text 17"/>
          <p:cNvSpPr txBox="1"/>
          <p:nvPr/>
        </p:nvSpPr>
        <p:spPr>
          <a:xfrm>
            <a:off x="7452360" y="1920240"/>
            <a:ext cx="4023360" cy="59436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Chernyshevsky</a:t>
            </a:r>
            <a:endParaRPr lang="en-US" sz="2400" dirty="0"/>
          </a:p>
        </p:txBody>
      </p:sp>
      <p:sp>
        <p:nvSpPr>
          <p:cNvPr id="22" name="Chernyshevsky step 0"/>
          <p:cNvSpPr/>
          <p:nvPr/>
        </p:nvSpPr>
        <p:spPr>
          <a:xfrm>
            <a:off x="6583680" y="2788920"/>
            <a:ext cx="1005840" cy="685800"/>
          </a:xfrm>
          <a:prstGeom prst="roundRect">
            <a:avLst>
              <a:gd name="adj" fmla="val 8000"/>
            </a:avLst>
          </a:prstGeom>
          <a:solidFill>
            <a:schemeClr val="accent1"/>
          </a:solidFill>
          <a:ln w="12700">
            <a:solidFill>
              <a:schemeClr val="accent1"/>
            </a:solidFill>
            <a:prstDash val="solid"/>
          </a:ln>
        </p:spPr>
        <p:txBody>
          <a:bodyPr/>
          <a:lstStyle/>
          <a:p>
            <a:endParaRPr lang="en-US"/>
          </a:p>
        </p:txBody>
      </p:sp>
      <p:sp>
        <p:nvSpPr>
          <p:cNvPr id="23" name="Text 19"/>
          <p:cNvSpPr txBox="1"/>
          <p:nvPr/>
        </p:nvSpPr>
        <p:spPr>
          <a:xfrm>
            <a:off x="6583680" y="27889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1863</a:t>
            </a:r>
            <a:endParaRPr lang="en-US" sz="1500" dirty="0"/>
          </a:p>
        </p:txBody>
      </p:sp>
      <p:sp>
        <p:nvSpPr>
          <p:cNvPr id="24" name="Text 20"/>
          <p:cNvSpPr txBox="1"/>
          <p:nvPr/>
        </p:nvSpPr>
        <p:spPr>
          <a:xfrm>
            <a:off x="7772400" y="2788920"/>
            <a:ext cx="3657600" cy="685800"/>
          </a:xfrm>
          <a:prstGeom prst="rect">
            <a:avLst/>
          </a:prstGeom>
          <a:noFill/>
          <a:ln/>
        </p:spPr>
        <p:txBody>
          <a:bodyPr wrap="square" lIns="0" tIns="0" rIns="0" bIns="0" rtlCol="0" anchor="ctr"/>
          <a:lstStyle/>
          <a:p>
            <a:pPr marL="0" indent="0">
              <a:buNone/>
            </a:pPr>
            <a:r>
              <a:rPr lang="en-US" sz="1500" dirty="0">
                <a:solidFill>
                  <a:schemeClr val="tx2"/>
                </a:solidFill>
              </a:rPr>
              <a:t>Writes What Is to Be Done? in prison</a:t>
            </a:r>
            <a:endParaRPr lang="en-US" sz="1500" dirty="0"/>
          </a:p>
        </p:txBody>
      </p:sp>
      <p:sp>
        <p:nvSpPr>
          <p:cNvPr id="25" name="Chernyshevsky step 1"/>
          <p:cNvSpPr/>
          <p:nvPr/>
        </p:nvSpPr>
        <p:spPr>
          <a:xfrm>
            <a:off x="6583680" y="37033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26" name="Text 22"/>
          <p:cNvSpPr txBox="1"/>
          <p:nvPr/>
        </p:nvSpPr>
        <p:spPr>
          <a:xfrm>
            <a:off x="6583680" y="37033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Punished</a:t>
            </a:r>
            <a:endParaRPr lang="en-US" sz="1500" dirty="0"/>
          </a:p>
        </p:txBody>
      </p:sp>
      <p:sp>
        <p:nvSpPr>
          <p:cNvPr id="27" name="Text 23"/>
          <p:cNvSpPr txBox="1"/>
          <p:nvPr/>
        </p:nvSpPr>
        <p:spPr>
          <a:xfrm>
            <a:off x="7772400" y="3703320"/>
            <a:ext cx="3657600" cy="685800"/>
          </a:xfrm>
          <a:prstGeom prst="rect">
            <a:avLst/>
          </a:prstGeom>
          <a:noFill/>
          <a:ln/>
        </p:spPr>
        <p:txBody>
          <a:bodyPr wrap="square" lIns="0" tIns="0" rIns="0" bIns="0" rtlCol="0" anchor="ctr"/>
          <a:lstStyle/>
          <a:p>
            <a:pPr marL="0" indent="0">
              <a:buNone/>
            </a:pPr>
            <a:r>
              <a:rPr lang="en-US" sz="1500" dirty="0">
                <a:solidFill>
                  <a:schemeClr val="tx2"/>
                </a:solidFill>
              </a:rPr>
              <a:t>Civil execution, Siberian prison, exile</a:t>
            </a:r>
            <a:endParaRPr lang="en-US" sz="1500" dirty="0"/>
          </a:p>
        </p:txBody>
      </p:sp>
      <p:sp>
        <p:nvSpPr>
          <p:cNvPr id="28" name="Chernyshevsky step 2"/>
          <p:cNvSpPr/>
          <p:nvPr/>
        </p:nvSpPr>
        <p:spPr>
          <a:xfrm>
            <a:off x="6583680" y="46177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29" name="Text 25"/>
          <p:cNvSpPr txBox="1"/>
          <p:nvPr/>
        </p:nvSpPr>
        <p:spPr>
          <a:xfrm>
            <a:off x="6583680" y="46177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Legacy</a:t>
            </a:r>
            <a:endParaRPr lang="en-US" sz="1500" dirty="0"/>
          </a:p>
        </p:txBody>
      </p:sp>
      <p:sp>
        <p:nvSpPr>
          <p:cNvPr id="30" name="Text 26"/>
          <p:cNvSpPr txBox="1"/>
          <p:nvPr/>
        </p:nvSpPr>
        <p:spPr>
          <a:xfrm>
            <a:off x="7772400" y="4617720"/>
            <a:ext cx="3657600" cy="685800"/>
          </a:xfrm>
          <a:prstGeom prst="rect">
            <a:avLst/>
          </a:prstGeom>
          <a:noFill/>
          <a:ln/>
        </p:spPr>
        <p:txBody>
          <a:bodyPr wrap="square" lIns="0" tIns="0" rIns="0" bIns="0" rtlCol="0" anchor="ctr"/>
          <a:lstStyle/>
          <a:p>
            <a:pPr marL="0" indent="0">
              <a:buNone/>
            </a:pPr>
            <a:r>
              <a:rPr lang="en-US" sz="1500" dirty="0">
                <a:solidFill>
                  <a:schemeClr val="tx2"/>
                </a:solidFill>
              </a:rPr>
              <a:t>His novel inspires anti-tsarist radicals</a:t>
            </a:r>
            <a:endParaRPr lang="en-US" sz="1500" dirty="0"/>
          </a:p>
        </p:txBody>
      </p:sp>
      <p:sp>
        <p:nvSpPr>
          <p:cNvPr id="31" name="Text 27"/>
          <p:cNvSpPr txBox="1"/>
          <p:nvPr/>
        </p:nvSpPr>
        <p:spPr>
          <a:xfrm>
            <a:off x="6583680" y="5486400"/>
            <a:ext cx="4846320" cy="320040"/>
          </a:xfrm>
          <a:prstGeom prst="rect">
            <a:avLst/>
          </a:prstGeom>
          <a:noFill/>
          <a:ln/>
        </p:spPr>
        <p:txBody>
          <a:bodyPr wrap="square" lIns="0" tIns="0" rIns="0" bIns="0" rtlCol="0" anchor="ctr"/>
          <a:lstStyle/>
          <a:p>
            <a:pPr marL="0" indent="0">
              <a:buNone/>
            </a:pPr>
            <a:r>
              <a:rPr lang="en-US" sz="1300" i="1" dirty="0">
                <a:solidFill>
                  <a:schemeClr val="accent1"/>
                </a:solidFill>
              </a:rPr>
              <a:t>Writes first, then is punished</a:t>
            </a:r>
            <a:endParaRPr lang="en-US" sz="1300" dirty="0"/>
          </a:p>
        </p:txBody>
      </p:sp>
      <p:sp>
        <p:nvSpPr>
          <p:cNvPr id="32"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UNDERGROUND MAN</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"I am a sick man.... I am a spiteful man."</a:t>
            </a:r>
            <a:endParaRPr lang="en-US" sz="3400" dirty="0"/>
          </a:p>
        </p:txBody>
      </p:sp>
      <p:sp>
        <p:nvSpPr>
          <p:cNvPr id="4" name="argument 1"/>
          <p:cNvSpPr/>
          <p:nvPr/>
        </p:nvSpPr>
        <p:spPr>
          <a:xfrm>
            <a:off x="562928" y="1645920"/>
            <a:ext cx="347472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5" name="Not piano keys circle"/>
          <p:cNvSpPr/>
          <p:nvPr/>
        </p:nvSpPr>
        <p:spPr>
          <a:xfrm>
            <a:off x="1828800" y="1874520"/>
            <a:ext cx="914400" cy="914400"/>
          </a:xfrm>
          <a:prstGeom prst="ellipse">
            <a:avLst/>
          </a:prstGeom>
          <a:solidFill>
            <a:schemeClr val="accent1"/>
          </a:solidFill>
          <a:ln w="12700">
            <a:solidFill>
              <a:schemeClr val="accent1"/>
            </a:solidFill>
            <a:prstDash val="solid"/>
          </a:ln>
        </p:spPr>
        <p:txBody>
          <a:bodyPr/>
          <a:lstStyle/>
          <a:p>
            <a:endParaRPr lang="en-US"/>
          </a:p>
        </p:txBody>
      </p:sp>
      <p:pic>
        <p:nvPicPr>
          <p:cNvPr id="6" name="Not piano keys icon" descr="Not piano keys"/>
          <p:cNvPicPr>
            <a:picLocks noChangeAspect="1"/>
          </p:cNvPicPr>
          <p:nvPr/>
        </p:nvPicPr>
        <p:blipFill>
          <a:blip r:embed="rId3"/>
          <a:stretch>
            <a:fillRect/>
          </a:stretch>
        </p:blipFill>
        <p:spPr>
          <a:xfrm>
            <a:off x="2029968" y="2075688"/>
            <a:ext cx="512064" cy="512064"/>
          </a:xfrm>
          <a:prstGeom prst="rect">
            <a:avLst/>
          </a:prstGeom>
        </p:spPr>
      </p:pic>
      <p:sp>
        <p:nvSpPr>
          <p:cNvPr id="7" name="Text 4"/>
          <p:cNvSpPr txBox="1"/>
          <p:nvPr/>
        </p:nvSpPr>
        <p:spPr>
          <a:xfrm>
            <a:off x="822960" y="2926080"/>
            <a:ext cx="292608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Not piano keys</a:t>
            </a:r>
            <a:endParaRPr lang="en-US" sz="2000" dirty="0"/>
          </a:p>
        </p:txBody>
      </p:sp>
      <p:sp>
        <p:nvSpPr>
          <p:cNvPr id="8" name="Text 5"/>
          <p:cNvSpPr txBox="1"/>
          <p:nvPr/>
        </p:nvSpPr>
        <p:spPr>
          <a:xfrm>
            <a:off x="822960" y="3474720"/>
            <a:ext cx="2926080" cy="1005840"/>
          </a:xfrm>
          <a:prstGeom prst="rect">
            <a:avLst/>
          </a:prstGeom>
          <a:noFill/>
          <a:ln/>
        </p:spPr>
        <p:txBody>
          <a:bodyPr wrap="square" lIns="0" tIns="0" rIns="0" bIns="0" rtlCol="0" anchor="t"/>
          <a:lstStyle/>
          <a:p>
            <a:pPr marL="0" indent="0">
              <a:buNone/>
            </a:pPr>
            <a:r>
              <a:rPr lang="en-US" sz="1500" dirty="0">
                <a:solidFill>
                  <a:schemeClr val="tx2"/>
                </a:solidFill>
              </a:rPr>
              <a:t>People will act against their own interest just to prove they are free, and not keys on a piano.</a:t>
            </a:r>
          </a:p>
          <a:p>
            <a:r>
              <a:rPr lang="en-US" sz="1600" b="1" u="sng" dirty="0">
                <a:solidFill>
                  <a:schemeClr val="accent2"/>
                </a:solidFill>
                <a:hlinkClick r:id="rId4"/>
              </a:rPr>
              <a:t>Watch from 17:58-19:00</a:t>
            </a:r>
            <a:endParaRPr lang="en-US" sz="2000" dirty="0"/>
          </a:p>
          <a:p>
            <a:pPr marL="0" indent="0">
              <a:buNone/>
            </a:pPr>
            <a:endParaRPr lang="en-US" sz="1500" dirty="0"/>
          </a:p>
        </p:txBody>
      </p:sp>
      <p:sp>
        <p:nvSpPr>
          <p:cNvPr id="9" name="argument 2"/>
          <p:cNvSpPr/>
          <p:nvPr/>
        </p:nvSpPr>
        <p:spPr>
          <a:xfrm>
            <a:off x="4297680" y="1645920"/>
            <a:ext cx="347472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10" name="2x2 circle"/>
          <p:cNvSpPr/>
          <p:nvPr/>
        </p:nvSpPr>
        <p:spPr>
          <a:xfrm>
            <a:off x="5577840" y="1874520"/>
            <a:ext cx="914400" cy="914400"/>
          </a:xfrm>
          <a:prstGeom prst="ellipse">
            <a:avLst/>
          </a:prstGeom>
          <a:solidFill>
            <a:schemeClr val="accent1"/>
          </a:solidFill>
          <a:ln w="12700">
            <a:solidFill>
              <a:schemeClr val="accent1"/>
            </a:solidFill>
            <a:prstDash val="solid"/>
          </a:ln>
        </p:spPr>
        <p:txBody>
          <a:bodyPr/>
          <a:lstStyle/>
          <a:p>
            <a:endParaRPr lang="en-US"/>
          </a:p>
        </p:txBody>
      </p:sp>
      <p:sp>
        <p:nvSpPr>
          <p:cNvPr id="11" name="Text 8"/>
          <p:cNvSpPr txBox="1"/>
          <p:nvPr/>
        </p:nvSpPr>
        <p:spPr>
          <a:xfrm>
            <a:off x="5577840" y="1874520"/>
            <a:ext cx="914400" cy="91440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2×2</a:t>
            </a:r>
            <a:endParaRPr lang="en-US" sz="2200" dirty="0"/>
          </a:p>
        </p:txBody>
      </p:sp>
      <p:sp>
        <p:nvSpPr>
          <p:cNvPr id="12" name="Text 9"/>
          <p:cNvSpPr txBox="1"/>
          <p:nvPr/>
        </p:nvSpPr>
        <p:spPr>
          <a:xfrm>
            <a:off x="4572000" y="2926080"/>
            <a:ext cx="292608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2 × 2 = 4</a:t>
            </a:r>
            <a:endParaRPr lang="en-US" sz="2000" dirty="0"/>
          </a:p>
        </p:txBody>
      </p:sp>
      <p:sp>
        <p:nvSpPr>
          <p:cNvPr id="13" name="Text 10"/>
          <p:cNvSpPr txBox="1"/>
          <p:nvPr/>
        </p:nvSpPr>
        <p:spPr>
          <a:xfrm>
            <a:off x="4572000" y="3474720"/>
            <a:ext cx="2926080" cy="1005840"/>
          </a:xfrm>
          <a:prstGeom prst="rect">
            <a:avLst/>
          </a:prstGeom>
          <a:noFill/>
          <a:ln/>
        </p:spPr>
        <p:txBody>
          <a:bodyPr wrap="square" lIns="0" tIns="0" rIns="0" bIns="0" rtlCol="0" anchor="t"/>
          <a:lstStyle/>
          <a:p>
            <a:pPr marL="0" indent="0">
              <a:buNone/>
            </a:pPr>
            <a:r>
              <a:rPr lang="en-US" sz="1500" dirty="0">
                <a:solidFill>
                  <a:schemeClr val="tx2"/>
                </a:solidFill>
              </a:rPr>
              <a:t>"Two times two makes four" is the beginning of death. Twice two makes five can be charming too.</a:t>
            </a:r>
            <a:endParaRPr lang="en-US" sz="1500" dirty="0"/>
          </a:p>
        </p:txBody>
      </p:sp>
      <p:sp>
        <p:nvSpPr>
          <p:cNvPr id="14" name="argument 3"/>
          <p:cNvSpPr/>
          <p:nvPr/>
        </p:nvSpPr>
        <p:spPr>
          <a:xfrm>
            <a:off x="8046720" y="1645920"/>
            <a:ext cx="347472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15" name="No tongue allowed circle"/>
          <p:cNvSpPr/>
          <p:nvPr/>
        </p:nvSpPr>
        <p:spPr>
          <a:xfrm>
            <a:off x="9326880" y="1874520"/>
            <a:ext cx="914400" cy="914400"/>
          </a:xfrm>
          <a:prstGeom prst="ellipse">
            <a:avLst/>
          </a:prstGeom>
          <a:solidFill>
            <a:schemeClr val="accent1"/>
          </a:solidFill>
          <a:ln w="12700">
            <a:solidFill>
              <a:schemeClr val="accent1"/>
            </a:solidFill>
            <a:prstDash val="solid"/>
          </a:ln>
        </p:spPr>
        <p:txBody>
          <a:bodyPr/>
          <a:lstStyle/>
          <a:p>
            <a:endParaRPr lang="en-US"/>
          </a:p>
        </p:txBody>
      </p:sp>
      <p:pic>
        <p:nvPicPr>
          <p:cNvPr id="16" name="No tongue allowed icon" descr="No tongue allowed"/>
          <p:cNvPicPr>
            <a:picLocks noChangeAspect="1"/>
          </p:cNvPicPr>
          <p:nvPr/>
        </p:nvPicPr>
        <p:blipFill>
          <a:blip r:embed="rId5"/>
          <a:stretch>
            <a:fillRect/>
          </a:stretch>
        </p:blipFill>
        <p:spPr>
          <a:xfrm>
            <a:off x="9528048" y="2075688"/>
            <a:ext cx="512064" cy="512064"/>
          </a:xfrm>
          <a:prstGeom prst="rect">
            <a:avLst/>
          </a:prstGeom>
        </p:spPr>
      </p:pic>
      <p:sp>
        <p:nvSpPr>
          <p:cNvPr id="17" name="Text 13"/>
          <p:cNvSpPr txBox="1"/>
          <p:nvPr/>
        </p:nvSpPr>
        <p:spPr>
          <a:xfrm>
            <a:off x="8321040" y="2926080"/>
            <a:ext cx="292608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No tongue allowed</a:t>
            </a:r>
            <a:endParaRPr lang="en-US" sz="2000" dirty="0"/>
          </a:p>
        </p:txBody>
      </p:sp>
      <p:sp>
        <p:nvSpPr>
          <p:cNvPr id="18" name="Text 14"/>
          <p:cNvSpPr txBox="1"/>
          <p:nvPr/>
        </p:nvSpPr>
        <p:spPr>
          <a:xfrm>
            <a:off x="8321040" y="3474720"/>
            <a:ext cx="2926080" cy="1005840"/>
          </a:xfrm>
          <a:prstGeom prst="rect">
            <a:avLst/>
          </a:prstGeom>
          <a:noFill/>
          <a:ln/>
        </p:spPr>
        <p:txBody>
          <a:bodyPr wrap="square" lIns="0" tIns="0" rIns="0" bIns="0" rtlCol="0" anchor="t"/>
          <a:lstStyle/>
          <a:p>
            <a:pPr marL="0" indent="0">
              <a:buNone/>
            </a:pPr>
            <a:r>
              <a:rPr lang="en-US" sz="1500" dirty="0">
                <a:solidFill>
                  <a:schemeClr val="tx2"/>
                </a:solidFill>
              </a:rPr>
              <a:t>The Crystal Palace is an anthill, a place where you can't even stick out your tongue.</a:t>
            </a:r>
            <a:endParaRPr lang="en-US" sz="1500" dirty="0"/>
          </a:p>
        </p:txBody>
      </p:sp>
      <p:sp>
        <p:nvSpPr>
          <p:cNvPr id="19" name="target banner"/>
          <p:cNvSpPr/>
          <p:nvPr/>
        </p:nvSpPr>
        <p:spPr>
          <a:xfrm>
            <a:off x="548640" y="5349240"/>
            <a:ext cx="11064240" cy="868680"/>
          </a:xfrm>
          <a:prstGeom prst="roundRect">
            <a:avLst>
              <a:gd name="adj" fmla="val 8421"/>
            </a:avLst>
          </a:prstGeom>
          <a:solidFill>
            <a:schemeClr val="tx2"/>
          </a:solidFill>
          <a:ln w="12700">
            <a:solidFill>
              <a:schemeClr val="tx2"/>
            </a:solidFill>
            <a:prstDash val="solid"/>
          </a:ln>
        </p:spPr>
        <p:txBody>
          <a:bodyPr/>
          <a:lstStyle/>
          <a:p>
            <a:endParaRPr lang="en-US"/>
          </a:p>
        </p:txBody>
      </p:sp>
      <p:sp>
        <p:nvSpPr>
          <p:cNvPr id="20" name="Text 16"/>
          <p:cNvSpPr txBox="1"/>
          <p:nvPr/>
        </p:nvSpPr>
        <p:spPr>
          <a:xfrm>
            <a:off x="822960" y="5349240"/>
            <a:ext cx="10515600" cy="868680"/>
          </a:xfrm>
          <a:prstGeom prst="rect">
            <a:avLst/>
          </a:prstGeom>
          <a:noFill/>
          <a:ln/>
        </p:spPr>
        <p:txBody>
          <a:bodyPr wrap="square" lIns="0" tIns="0" rIns="0" bIns="0" rtlCol="0" anchor="ctr"/>
          <a:lstStyle/>
          <a:p>
            <a:pPr marL="0" indent="0">
              <a:buNone/>
            </a:pPr>
            <a:r>
              <a:rPr lang="en-US" sz="1800" b="1" dirty="0">
                <a:solidFill>
                  <a:schemeClr val="accent2"/>
                </a:solidFill>
              </a:rPr>
              <a:t>The target is not reason itself. </a:t>
            </a:r>
            <a:r>
              <a:rPr lang="en-US" sz="1800" dirty="0">
                <a:solidFill>
                  <a:schemeClr val="bg1"/>
                </a:solidFill>
              </a:rPr>
              <a:t>It is reason claiming totality: if science can fully predict us, freedom is gone.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7</a:t>
            </a:fld>
            <a:endParaRPr lang="en-US"/>
          </a:p>
        </p:txBody>
      </p:sp>
      <p:sp>
        <p:nvSpPr>
          <p:cNvPr id="26" name="TextBox 25"/>
          <p:cNvSpPr txBox="1"/>
          <p:nvPr/>
        </p:nvSpPr>
        <p:spPr>
          <a:xfrm>
            <a:off x="822960" y="4526280"/>
            <a:ext cx="1280160" cy="365760"/>
          </a:xfrm>
          <a:prstGeom prst="rect">
            <a:avLst/>
          </a:prstGeom>
          <a:noFill/>
        </p:spPr>
        <p:txBody>
          <a:bodyPr wrap="none" anchor="ctr">
            <a:spAutoFit/>
          </a:bodyPr>
          <a:lstStyle/>
          <a:p>
            <a:r>
              <a:rPr sz="1300" b="1" i="1">
                <a:solidFill>
                  <a:schemeClr val="accent3"/>
                </a:solidFill>
              </a:rPr>
              <a:t>✓ </a:t>
            </a:r>
            <a:r>
              <a:rPr sz="1300" i="1">
                <a:solidFill>
                  <a:schemeClr val="accent3"/>
                </a:solidFill>
              </a:rPr>
              <a:t>In the show</a:t>
            </a:r>
          </a:p>
        </p:txBody>
      </p:sp>
      <p:sp>
        <p:nvSpPr>
          <p:cNvPr id="27" name="TextBox 26"/>
          <p:cNvSpPr txBox="1"/>
          <p:nvPr/>
        </p:nvSpPr>
        <p:spPr>
          <a:xfrm>
            <a:off x="4572000" y="4526280"/>
            <a:ext cx="2926080" cy="365760"/>
          </a:xfrm>
          <a:prstGeom prst="rect">
            <a:avLst/>
          </a:prstGeom>
          <a:noFill/>
        </p:spPr>
        <p:txBody>
          <a:bodyPr wrap="square" anchor="ctr">
            <a:spAutoFit/>
          </a:bodyPr>
          <a:lstStyle/>
          <a:p>
            <a:r>
              <a:rPr sz="1300" i="1">
                <a:solidFill>
                  <a:schemeClr val="accent1"/>
                </a:solidFill>
              </a:rPr>
              <a:t>From the novella; left out of the show</a:t>
            </a:r>
          </a:p>
        </p:txBody>
      </p:sp>
      <p:sp>
        <p:nvSpPr>
          <p:cNvPr id="28" name="TextBox 27"/>
          <p:cNvSpPr txBox="1"/>
          <p:nvPr/>
        </p:nvSpPr>
        <p:spPr>
          <a:xfrm>
            <a:off x="8321040" y="4526280"/>
            <a:ext cx="2926080" cy="365760"/>
          </a:xfrm>
          <a:prstGeom prst="rect">
            <a:avLst/>
          </a:prstGeom>
          <a:noFill/>
        </p:spPr>
        <p:txBody>
          <a:bodyPr wrap="square" anchor="ctr">
            <a:spAutoFit/>
          </a:bodyPr>
          <a:lstStyle/>
          <a:p>
            <a:r>
              <a:rPr sz="1300" i="1">
                <a:solidFill>
                  <a:schemeClr val="accent1"/>
                </a:solidFill>
              </a:rPr>
              <a:t>From the novella; left out of the show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10698480" cy="457200"/>
          </a:xfrm>
          <a:prstGeom prst="rect">
            <a:avLst/>
          </a:prstGeom>
          <a:noFill/>
          <a:ln/>
        </p:spPr>
        <p:txBody>
          <a:bodyPr wrap="square" rtlCol="0"/>
          <a:lstStyle/>
          <a:p>
            <a:pPr marL="0" indent="0">
              <a:buNone/>
            </a:pPr>
            <a:r>
              <a:rPr lang="en-US" sz="1600" b="1" kern="0" spc="300" dirty="0">
                <a:solidFill>
                  <a:schemeClr val="accent2"/>
                </a:solidFill>
                <a:latin typeface="Calibri" pitchFamily="34" charset="0"/>
                <a:ea typeface="Calibri" pitchFamily="34" charset="-122"/>
                <a:cs typeface="Calibri" pitchFamily="34" charset="-120"/>
              </a:rPr>
              <a:t>CLIP 1 · BEFORE THE DIALOGUE</a:t>
            </a:r>
            <a:endParaRPr lang="en-US" sz="1600" dirty="0"/>
          </a:p>
        </p:txBody>
      </p:sp>
      <p:sp>
        <p:nvSpPr>
          <p:cNvPr id="3" name="Text 0"/>
          <p:cNvSpPr>
            <a:spLocks noGrp="1"/>
          </p:cNvSpPr>
          <p:nvPr>
            <p:ph type="title" idx="101" hasCustomPrompt="1"/>
          </p:nvPr>
        </p:nvSpPr>
        <p:spPr>
          <a:xfrm>
            <a:off x="731520" y="1188720"/>
            <a:ext cx="10698480" cy="91440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Larry Cedar as the Underground Man</a:t>
            </a:r>
            <a:endParaRPr lang="en-US" sz="4000" dirty="0"/>
          </a:p>
        </p:txBody>
      </p:sp>
      <p:sp>
        <p:nvSpPr>
          <p:cNvPr id="4" name="play clip 1 circle"/>
          <p:cNvSpPr/>
          <p:nvPr/>
        </p:nvSpPr>
        <p:spPr>
          <a:xfrm>
            <a:off x="731520" y="2514600"/>
            <a:ext cx="1463040" cy="1463040"/>
          </a:xfrm>
          <a:prstGeom prst="ellipse">
            <a:avLst/>
          </a:prstGeom>
          <a:solidFill>
            <a:schemeClr val="accent1"/>
          </a:solidFill>
          <a:ln w="12700">
            <a:solidFill>
              <a:schemeClr val="accent1"/>
            </a:solidFill>
            <a:prstDash val="solid"/>
          </a:ln>
        </p:spPr>
        <p:txBody>
          <a:bodyPr/>
          <a:lstStyle/>
          <a:p>
            <a:endParaRPr lang="en-US"/>
          </a:p>
        </p:txBody>
      </p:sp>
      <p:pic>
        <p:nvPicPr>
          <p:cNvPr id="5" name="play clip 1 icon" descr="play clip 1"/>
          <p:cNvPicPr>
            <a:picLocks noChangeAspect="1"/>
          </p:cNvPicPr>
          <p:nvPr/>
        </p:nvPicPr>
        <p:blipFill>
          <a:blip r:embed="rId3"/>
          <a:stretch>
            <a:fillRect/>
          </a:stretch>
        </p:blipFill>
        <p:spPr>
          <a:xfrm>
            <a:off x="1053389" y="2836469"/>
            <a:ext cx="819302" cy="819302"/>
          </a:xfrm>
          <a:prstGeom prst="rect">
            <a:avLst/>
          </a:prstGeom>
        </p:spPr>
      </p:pic>
      <p:sp>
        <p:nvSpPr>
          <p:cNvPr id="6" name="Text 3"/>
          <p:cNvSpPr txBox="1"/>
          <p:nvPr/>
        </p:nvSpPr>
        <p:spPr>
          <a:xfrm>
            <a:off x="2560320" y="2377440"/>
            <a:ext cx="8869680" cy="1828800"/>
          </a:xfrm>
          <a:prstGeom prst="rect">
            <a:avLst/>
          </a:prstGeom>
          <a:noFill/>
          <a:ln/>
        </p:spPr>
        <p:txBody>
          <a:bodyPr wrap="square" lIns="0" tIns="0" rIns="0" bIns="0" rtlCol="0" anchor="ctr"/>
          <a:lstStyle/>
          <a:p>
            <a:pPr marL="0" indent="0">
              <a:buNone/>
            </a:pPr>
            <a:r>
              <a:rPr lang="en-US" sz="3000" i="1" dirty="0">
                <a:solidFill>
                  <a:schemeClr val="bg1"/>
                </a:solidFill>
                <a:latin typeface="Cambria" pitchFamily="34" charset="0"/>
                <a:ea typeface="Cambria" pitchFamily="34" charset="-122"/>
                <a:cs typeface="Cambria" pitchFamily="34" charset="-120"/>
              </a:rPr>
              <a:t>"I am a sick man.... I am a spiteful man."</a:t>
            </a:r>
            <a:endParaRPr lang="en-US" sz="3000" dirty="0"/>
          </a:p>
          <a:p>
            <a:pPr marL="0" indent="0">
              <a:buNone/>
            </a:pPr>
            <a:r>
              <a:rPr lang="en-US" sz="1000" dirty="0">
                <a:solidFill>
                  <a:srgbClr val="000000"/>
                </a:solidFill>
              </a:rPr>
              <a:t> </a:t>
            </a:r>
            <a:endParaRPr lang="en-US" sz="3000" dirty="0"/>
          </a:p>
          <a:p>
            <a:pPr marL="0" indent="0">
              <a:buNone/>
            </a:pPr>
            <a:r>
              <a:rPr lang="en-US" sz="2200" b="1" u="sng" dirty="0">
                <a:solidFill>
                  <a:schemeClr val="accent2"/>
                </a:solidFill>
                <a:hlinkClick r:id="rId4">
                  <a:extLst>
                    <a:ext uri="{A12FA001-AC4F-418D-AE19-62706E023703}">
                      <ahyp:hlinkClr xmlns:ahyp="http://schemas.microsoft.com/office/drawing/2018/hyperlinkcolor" val="tx"/>
                    </a:ext>
                  </a:extLst>
                </a:hlinkClick>
              </a:rPr>
              <a:t>Watch from 1:30</a:t>
            </a:r>
            <a:endParaRPr lang="en-US" sz="3000" dirty="0"/>
          </a:p>
        </p:txBody>
      </p:sp>
      <p:sp>
        <p:nvSpPr>
          <p:cNvPr id="7" name="Text 4"/>
          <p:cNvSpPr txBox="1"/>
          <p:nvPr/>
        </p:nvSpPr>
        <p:spPr>
          <a:xfrm>
            <a:off x="731520" y="5943600"/>
            <a:ext cx="10515600" cy="365760"/>
          </a:xfrm>
          <a:prstGeom prst="rect">
            <a:avLst/>
          </a:prstGeom>
          <a:noFill/>
          <a:ln/>
        </p:spPr>
        <p:txBody>
          <a:bodyPr wrap="square" lIns="0" tIns="0" rIns="0" bIns="0" rtlCol="0" anchor="ctr"/>
          <a:lstStyle/>
          <a:p>
            <a:pPr marL="0" indent="0">
              <a:buNone/>
            </a:pPr>
            <a:r>
              <a:rPr lang="en-US" sz="1200" dirty="0">
                <a:solidFill>
                  <a:schemeClr val="accent5"/>
                </a:solidFill>
              </a:rPr>
              <a:t>Notes from Underground, one-man show, Garnett translation · youtube.com/watch?v=asp5tqDql0g</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DIALOGUE · PART 1 OF 3 · READERS: RUTH AND DEV</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Not the Keys of a Piano</a:t>
            </a:r>
            <a:endParaRPr lang="en-US" sz="3400" dirty="0"/>
          </a:p>
        </p:txBody>
      </p:sp>
      <p:sp>
        <p:nvSpPr>
          <p:cNvPr id="4" name="dialogue text"/>
          <p:cNvSpPr txBox="1"/>
          <p:nvPr/>
        </p:nvSpPr>
        <p:spPr>
          <a:xfrm>
            <a:off x="548640" y="1554480"/>
            <a:ext cx="11064240" cy="4754880"/>
          </a:xfrm>
          <a:prstGeom prst="rect">
            <a:avLst/>
          </a:prstGeom>
          <a:noFill/>
          <a:ln/>
        </p:spPr>
        <p:txBody>
          <a:bodyPr wrap="square" lIns="0" tIns="0" rIns="0" bIns="0" rtlCol="0" anchor="t"/>
          <a:lstStyle/>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"I am a sick man. I am a spiteful man." That's how Dostoevsky's Notes from Underground begins.</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Not exactly a warm welcome.</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He doesn't want one. He's a retired clerk who has spent forty years in his corner, and he tells us that to be too conscious is an illness.</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An illness? Most of us think knowing ourselves is the cure.</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Not for him. He sees through every motive, including his own, so he can't become anything. Not spiteful, not kind, not a hero, not even an insect.</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So what's he arguing against?</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The confident people who say we only do nasty things because we don't know our own interests. Show us our real advantage, they say, and we'll be good out of sheer necessity.</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That sounds reasonable.</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DIALOGUE · PART 2 OF 3 · READERS: RUTH AND DEV</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Not the Keys of a Piano</a:t>
            </a:r>
            <a:endParaRPr lang="en-US" sz="3400" dirty="0"/>
          </a:p>
        </p:txBody>
      </p:sp>
      <p:sp>
        <p:nvSpPr>
          <p:cNvPr id="4" name="dialogue text"/>
          <p:cNvSpPr txBox="1"/>
          <p:nvPr/>
        </p:nvSpPr>
        <p:spPr>
          <a:xfrm>
            <a:off x="548640" y="1554480"/>
            <a:ext cx="11064240" cy="4754880"/>
          </a:xfrm>
          <a:prstGeom prst="rect">
            <a:avLst/>
          </a:prstGeom>
          <a:noFill/>
          <a:ln/>
        </p:spPr>
        <p:txBody>
          <a:bodyPr wrap="square" lIns="0" tIns="0" rIns="0" bIns="0" rtlCol="0" anchor="t"/>
          <a:lstStyle/>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That's exactly his target. He says what a person wants is simply independent choice, whatever that independence may cost and wherever it may lead.</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Even if the choice is stupid?</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Especially then. A man may choose something stupid just to keep the right to choose it. Otherwise, he says, we'd be nothing but the keys of a piano.</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Press the key, and the note sounds.</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And he asks the reformers a question: how do you know it's even desirable to reform people that way?</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But he's hardly a hero of freedom.</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No, and the second half shows it. He meets Liza, a young woman in a brothel, and gives her a moving speech about the life she could still have. He gives her his address.</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And she comes.</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DIALOGUE · PART 3 OF 3 · READERS: RUTH AND DEV</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Not the Keys of a Piano</a:t>
            </a:r>
            <a:endParaRPr lang="en-US" sz="3400" dirty="0"/>
          </a:p>
        </p:txBody>
      </p:sp>
      <p:sp>
        <p:nvSpPr>
          <p:cNvPr id="4" name="dialogue text"/>
          <p:cNvSpPr txBox="1"/>
          <p:nvPr/>
        </p:nvSpPr>
        <p:spPr>
          <a:xfrm>
            <a:off x="548640" y="1554480"/>
            <a:ext cx="11064240" cy="4754880"/>
          </a:xfrm>
          <a:prstGeom prst="rect">
            <a:avLst/>
          </a:prstGeom>
          <a:noFill/>
          <a:ln/>
        </p:spPr>
        <p:txBody>
          <a:bodyPr wrap="square" lIns="0" tIns="0" rIns="0" bIns="0" rtlCol="0" anchor="t"/>
          <a:lstStyle/>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She does. And he turns on her. He tells her it was all a game, that power was what he wanted. Then he breaks down and says, "I can't be good."</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So he can stand up to the reformers, but he can't accept one person's kindness.</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He even admits that, for him, loving meant showing his moral superiority.</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And how does he leave us?</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He turns the mirror on us. Give any one of us a little more independence, he says, relax the control, and we'd be begging to be under control again at once.</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That's chilling.</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It's why this is a good place to start thinking about defiance and control. He sees the danger of being managed for our own good. But he also suspects we might want it.</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Then the question is whether we can choose freely without ending up alone in his corner.</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Or whether we'd even notice we'd stopped choosing.</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10698480" cy="457200"/>
          </a:xfrm>
          <a:prstGeom prst="rect">
            <a:avLst/>
          </a:prstGeom>
          <a:noFill/>
          <a:ln/>
        </p:spPr>
        <p:txBody>
          <a:bodyPr wrap="square" rtlCol="0"/>
          <a:lstStyle/>
          <a:p>
            <a:pPr marL="0" indent="0">
              <a:buNone/>
            </a:pPr>
            <a:r>
              <a:rPr lang="en-US" sz="1600" b="1" kern="0" spc="300" dirty="0">
                <a:solidFill>
                  <a:schemeClr val="accent2"/>
                </a:solidFill>
                <a:latin typeface="Calibri" pitchFamily="34" charset="0"/>
                <a:ea typeface="Calibri" pitchFamily="34" charset="-122"/>
                <a:cs typeface="Calibri" pitchFamily="34" charset="-120"/>
              </a:rPr>
              <a:t>CLIP 2 · AFTER THE DIALOGUE</a:t>
            </a:r>
            <a:endParaRPr lang="en-US" sz="1600" dirty="0"/>
          </a:p>
        </p:txBody>
      </p:sp>
      <p:sp>
        <p:nvSpPr>
          <p:cNvPr id="3" name="Text 0"/>
          <p:cNvSpPr>
            <a:spLocks noGrp="1"/>
          </p:cNvSpPr>
          <p:nvPr>
            <p:ph type="title" idx="101" hasCustomPrompt="1"/>
          </p:nvPr>
        </p:nvSpPr>
        <p:spPr>
          <a:xfrm>
            <a:off x="731520" y="1188720"/>
            <a:ext cx="10698480" cy="91440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How he leaves us</a:t>
            </a:r>
            <a:endParaRPr lang="en-US" sz="4000" dirty="0"/>
          </a:p>
        </p:txBody>
      </p:sp>
      <p:sp>
        <p:nvSpPr>
          <p:cNvPr id="4" name="mirror clip 2 circle"/>
          <p:cNvSpPr/>
          <p:nvPr/>
        </p:nvSpPr>
        <p:spPr>
          <a:xfrm>
            <a:off x="731520" y="2514600"/>
            <a:ext cx="1463040" cy="1463040"/>
          </a:xfrm>
          <a:prstGeom prst="ellipse">
            <a:avLst/>
          </a:prstGeom>
          <a:solidFill>
            <a:schemeClr val="accent1"/>
          </a:solidFill>
          <a:ln w="12700">
            <a:solidFill>
              <a:schemeClr val="accent1"/>
            </a:solidFill>
            <a:prstDash val="solid"/>
          </a:ln>
        </p:spPr>
        <p:txBody>
          <a:bodyPr/>
          <a:lstStyle/>
          <a:p>
            <a:endParaRPr lang="en-US"/>
          </a:p>
        </p:txBody>
      </p:sp>
      <p:pic>
        <p:nvPicPr>
          <p:cNvPr id="5" name="mirror clip 2 icon" descr="mirror clip 2"/>
          <p:cNvPicPr>
            <a:picLocks noChangeAspect="1"/>
          </p:cNvPicPr>
          <p:nvPr/>
        </p:nvPicPr>
        <p:blipFill>
          <a:blip r:embed="rId3"/>
          <a:stretch>
            <a:fillRect/>
          </a:stretch>
        </p:blipFill>
        <p:spPr>
          <a:xfrm>
            <a:off x="1053389" y="2836469"/>
            <a:ext cx="819302" cy="819302"/>
          </a:xfrm>
          <a:prstGeom prst="rect">
            <a:avLst/>
          </a:prstGeom>
        </p:spPr>
      </p:pic>
      <p:sp>
        <p:nvSpPr>
          <p:cNvPr id="6" name="Text 3"/>
          <p:cNvSpPr txBox="1"/>
          <p:nvPr/>
        </p:nvSpPr>
        <p:spPr>
          <a:xfrm>
            <a:off x="2560320" y="2194560"/>
            <a:ext cx="8869680" cy="2377440"/>
          </a:xfrm>
          <a:prstGeom prst="rect">
            <a:avLst/>
          </a:prstGeom>
          <a:noFill/>
          <a:ln/>
        </p:spPr>
        <p:txBody>
          <a:bodyPr wrap="square" lIns="0" tIns="0" rIns="0" bIns="0" rtlCol="0" anchor="ctr"/>
          <a:lstStyle/>
          <a:p>
            <a:pPr marL="0" indent="0">
              <a:buNone/>
            </a:pPr>
            <a:r>
              <a:rPr lang="en-US" sz="2800" i="1" dirty="0">
                <a:solidFill>
                  <a:schemeClr val="bg1"/>
                </a:solidFill>
                <a:latin typeface="Cambria" pitchFamily="34" charset="0"/>
                <a:ea typeface="Cambria" pitchFamily="34" charset="-122"/>
                <a:cs typeface="Cambria" pitchFamily="34" charset="-120"/>
              </a:rPr>
              <a:t>Give us a little more independence, relax the control, and we'd be begging to be under control again at once.</a:t>
            </a:r>
            <a:endParaRPr lang="en-US" sz="2800" dirty="0"/>
          </a:p>
          <a:p>
            <a:pPr marL="0" indent="0">
              <a:buNone/>
            </a:pPr>
            <a:r>
              <a:rPr lang="en-US" sz="1000" dirty="0">
                <a:solidFill>
                  <a:srgbClr val="000000"/>
                </a:solidFill>
              </a:rPr>
              <a:t> </a:t>
            </a:r>
            <a:endParaRPr lang="en-US" sz="2800" dirty="0"/>
          </a:p>
          <a:p>
            <a:pPr marL="0" indent="0">
              <a:buNone/>
            </a:pPr>
            <a:r>
              <a:rPr lang="en-US" sz="2200" b="1" u="sng" dirty="0">
                <a:solidFill>
                  <a:schemeClr val="accent2"/>
                </a:solidFill>
                <a:hlinkClick r:id="rId4">
                  <a:extLst>
                    <a:ext uri="{A12FA001-AC4F-418D-AE19-62706E023703}">
                      <ahyp:hlinkClr xmlns:ahyp="http://schemas.microsoft.com/office/drawing/2018/hyperlinkcolor" val="tx"/>
                    </a:ext>
                  </a:extLst>
                </a:hlinkClick>
              </a:rPr>
              <a:t>Watch from 1:29:45</a:t>
            </a:r>
            <a:endParaRPr lang="en-US" sz="2800" dirty="0"/>
          </a:p>
        </p:txBody>
      </p:sp>
      <p:sp>
        <p:nvSpPr>
          <p:cNvPr id="7" name="Text 4"/>
          <p:cNvSpPr txBox="1"/>
          <p:nvPr/>
        </p:nvSpPr>
        <p:spPr>
          <a:xfrm>
            <a:off x="731520" y="5943600"/>
            <a:ext cx="10515600" cy="365760"/>
          </a:xfrm>
          <a:prstGeom prst="rect">
            <a:avLst/>
          </a:prstGeom>
          <a:noFill/>
          <a:ln/>
        </p:spPr>
        <p:txBody>
          <a:bodyPr wrap="square" lIns="0" tIns="0" rIns="0" bIns="0" rtlCol="0" anchor="ctr"/>
          <a:lstStyle/>
          <a:p>
            <a:pPr marL="0" indent="0">
              <a:buNone/>
            </a:pPr>
            <a:r>
              <a:rPr lang="en-US" sz="1200" dirty="0">
                <a:solidFill>
                  <a:schemeClr val="accent5"/>
                </a:solidFill>
              </a:rPr>
              <a:t>Ruth's paraphrase of the closing pages, from the dialogue</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QUESTIONS · FROM THE HOMEWORK</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Concrete questions about the Underground Man</a:t>
            </a:r>
            <a:endParaRPr lang="en-US" sz="3400" dirty="0"/>
          </a:p>
        </p:txBody>
      </p:sp>
      <p:sp>
        <p:nvSpPr>
          <p:cNvPr id="4" name="question 1"/>
          <p:cNvSpPr/>
          <p:nvPr/>
        </p:nvSpPr>
        <p:spPr>
          <a:xfrm>
            <a:off x="548640" y="169164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822960" y="192024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1</a:t>
            </a:r>
            <a:endParaRPr lang="en-US" sz="6000" dirty="0"/>
          </a:p>
        </p:txBody>
      </p:sp>
      <p:sp>
        <p:nvSpPr>
          <p:cNvPr id="6" name="Text 4"/>
          <p:cNvSpPr txBox="1"/>
          <p:nvPr/>
        </p:nvSpPr>
        <p:spPr>
          <a:xfrm>
            <a:off x="1828800" y="1920240"/>
            <a:ext cx="3931920" cy="1417320"/>
          </a:xfrm>
          <a:prstGeom prst="rect">
            <a:avLst/>
          </a:prstGeom>
          <a:noFill/>
          <a:ln/>
        </p:spPr>
        <p:txBody>
          <a:bodyPr wrap="square" lIns="0" tIns="0" rIns="0" bIns="0" rtlCol="0" anchor="ctr"/>
          <a:lstStyle/>
          <a:p>
            <a:pPr marL="0" indent="0">
              <a:buNone/>
            </a:pPr>
            <a:r>
              <a:rPr lang="en-US" sz="2200" dirty="0">
                <a:solidFill>
                  <a:schemeClr val="tx1"/>
                </a:solidFill>
              </a:rPr>
              <a:t>What is his situation?</a:t>
            </a:r>
            <a:endParaRPr lang="en-US" sz="2200" dirty="0"/>
          </a:p>
        </p:txBody>
      </p:sp>
      <p:sp>
        <p:nvSpPr>
          <p:cNvPr id="7" name="question 2"/>
          <p:cNvSpPr/>
          <p:nvPr/>
        </p:nvSpPr>
        <p:spPr>
          <a:xfrm>
            <a:off x="6172200" y="169164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446520" y="192024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a:t>
            </a:r>
            <a:endParaRPr lang="en-US" sz="6000" dirty="0"/>
          </a:p>
        </p:txBody>
      </p:sp>
      <p:sp>
        <p:nvSpPr>
          <p:cNvPr id="9" name="Text 7"/>
          <p:cNvSpPr txBox="1"/>
          <p:nvPr/>
        </p:nvSpPr>
        <p:spPr>
          <a:xfrm>
            <a:off x="7452360" y="1920240"/>
            <a:ext cx="3931920" cy="1417320"/>
          </a:xfrm>
          <a:prstGeom prst="rect">
            <a:avLst/>
          </a:prstGeom>
          <a:noFill/>
          <a:ln/>
        </p:spPr>
        <p:txBody>
          <a:bodyPr wrap="square" lIns="0" tIns="0" rIns="0" bIns="0" rtlCol="0" anchor="ctr"/>
          <a:lstStyle/>
          <a:p>
            <a:pPr marL="0" indent="0">
              <a:buNone/>
            </a:pPr>
            <a:r>
              <a:rPr lang="en-US" sz="2200" dirty="0">
                <a:solidFill>
                  <a:schemeClr val="tx1"/>
                </a:solidFill>
              </a:rPr>
              <a:t>How did he get into it?</a:t>
            </a:r>
            <a:endParaRPr lang="en-US" sz="2200" dirty="0"/>
          </a:p>
        </p:txBody>
      </p:sp>
      <p:sp>
        <p:nvSpPr>
          <p:cNvPr id="10" name="question 3"/>
          <p:cNvSpPr/>
          <p:nvPr/>
        </p:nvSpPr>
        <p:spPr>
          <a:xfrm>
            <a:off x="548640" y="379476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822960" y="402336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3</a:t>
            </a:r>
            <a:endParaRPr lang="en-US" sz="6000" dirty="0"/>
          </a:p>
        </p:txBody>
      </p:sp>
      <p:sp>
        <p:nvSpPr>
          <p:cNvPr id="12" name="Text 10"/>
          <p:cNvSpPr txBox="1"/>
          <p:nvPr/>
        </p:nvSpPr>
        <p:spPr>
          <a:xfrm>
            <a:off x="1828800" y="4023360"/>
            <a:ext cx="3931920" cy="1417320"/>
          </a:xfrm>
          <a:prstGeom prst="rect">
            <a:avLst/>
          </a:prstGeom>
          <a:noFill/>
          <a:ln/>
        </p:spPr>
        <p:txBody>
          <a:bodyPr wrap="square" lIns="0" tIns="0" rIns="0" bIns="0" rtlCol="0" anchor="ctr"/>
          <a:lstStyle/>
          <a:p>
            <a:pPr marL="0" indent="0">
              <a:buNone/>
            </a:pPr>
            <a:r>
              <a:rPr lang="en-US" sz="2200" dirty="0">
                <a:solidFill>
                  <a:schemeClr val="tx1"/>
                </a:solidFill>
              </a:rPr>
              <a:t>What was his dilemma?</a:t>
            </a:r>
            <a:endParaRPr lang="en-US" sz="2200" dirty="0"/>
          </a:p>
        </p:txBody>
      </p:sp>
      <p:sp>
        <p:nvSpPr>
          <p:cNvPr id="13" name="question 4"/>
          <p:cNvSpPr/>
          <p:nvPr/>
        </p:nvSpPr>
        <p:spPr>
          <a:xfrm>
            <a:off x="6172200" y="379476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14" name="Text 12"/>
          <p:cNvSpPr txBox="1"/>
          <p:nvPr/>
        </p:nvSpPr>
        <p:spPr>
          <a:xfrm>
            <a:off x="6446520" y="402336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4</a:t>
            </a:r>
            <a:endParaRPr lang="en-US" sz="6000" dirty="0"/>
          </a:p>
        </p:txBody>
      </p:sp>
      <p:sp>
        <p:nvSpPr>
          <p:cNvPr id="15" name="Text 13"/>
          <p:cNvSpPr txBox="1"/>
          <p:nvPr/>
        </p:nvSpPr>
        <p:spPr>
          <a:xfrm>
            <a:off x="7452360" y="4023360"/>
            <a:ext cx="3931920" cy="1417320"/>
          </a:xfrm>
          <a:prstGeom prst="rect">
            <a:avLst/>
          </a:prstGeom>
          <a:noFill/>
          <a:ln/>
        </p:spPr>
        <p:txBody>
          <a:bodyPr wrap="square" lIns="0" tIns="0" rIns="0" bIns="0" rtlCol="0" anchor="ctr"/>
          <a:lstStyle/>
          <a:p>
            <a:pPr marL="0" indent="0">
              <a:buNone/>
            </a:pPr>
            <a:r>
              <a:rPr lang="en-US" sz="2200" dirty="0">
                <a:solidFill>
                  <a:schemeClr val="tx1"/>
                </a:solidFill>
              </a:rPr>
              <a:t>What about his personality might have caused him difficulty?</a:t>
            </a:r>
            <a:endParaRPr lang="en-US" sz="2200" dirty="0"/>
          </a:p>
        </p:txBody>
      </p:sp>
      <p:sp>
        <p:nvSpPr>
          <p:cNvPr id="16" name="Text 14"/>
          <p:cNvSpPr txBox="1"/>
          <p:nvPr/>
        </p:nvSpPr>
        <p:spPr>
          <a:xfrm>
            <a:off x="548640" y="6035040"/>
            <a:ext cx="10058400" cy="365760"/>
          </a:xfrm>
          <a:prstGeom prst="rect">
            <a:avLst/>
          </a:prstGeom>
          <a:noFill/>
          <a:ln/>
        </p:spPr>
        <p:txBody>
          <a:bodyPr wrap="square" lIns="0" tIns="0" rIns="0" bIns="0" rtlCol="0" anchor="ctr"/>
          <a:lstStyle/>
          <a:p>
            <a:pPr marL="0" indent="0">
              <a:buNone/>
            </a:pPr>
            <a:r>
              <a:rPr lang="en-US" sz="1300" i="1" dirty="0">
                <a:solidFill>
                  <a:schemeClr val="accent4"/>
                </a:solidFill>
              </a:rPr>
              <a:t>The protagonist is never named; by convention he is called the Underground Man.</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QUESTIONS · MORE ABSTRACT / SUBJECTIVE</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Through the lens of human outlier analysis</a:t>
            </a:r>
            <a:endParaRPr lang="en-US" sz="3400" dirty="0"/>
          </a:p>
        </p:txBody>
      </p:sp>
      <p:sp>
        <p:nvSpPr>
          <p:cNvPr id="4" name="abstract q1 circle"/>
          <p:cNvSpPr/>
          <p:nvPr/>
        </p:nvSpPr>
        <p:spPr>
          <a:xfrm>
            <a:off x="548640" y="1691640"/>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5" name="abstract q1 icon" descr="abstract q1"/>
          <p:cNvPicPr>
            <a:picLocks noChangeAspect="1"/>
          </p:cNvPicPr>
          <p:nvPr/>
        </p:nvPicPr>
        <p:blipFill>
          <a:blip r:embed="rId3"/>
          <a:stretch>
            <a:fillRect/>
          </a:stretch>
        </p:blipFill>
        <p:spPr>
          <a:xfrm>
            <a:off x="709574" y="1852574"/>
            <a:ext cx="409651" cy="409651"/>
          </a:xfrm>
          <a:prstGeom prst="rect">
            <a:avLst/>
          </a:prstGeom>
        </p:spPr>
      </p:pic>
      <p:sp>
        <p:nvSpPr>
          <p:cNvPr id="6" name="Text 3"/>
          <p:cNvSpPr txBox="1"/>
          <p:nvPr/>
        </p:nvSpPr>
        <p:spPr>
          <a:xfrm>
            <a:off x="1508760" y="1645920"/>
            <a:ext cx="6400800" cy="822960"/>
          </a:xfrm>
          <a:prstGeom prst="rect">
            <a:avLst/>
          </a:prstGeom>
          <a:noFill/>
          <a:ln/>
        </p:spPr>
        <p:txBody>
          <a:bodyPr wrap="square" lIns="0" tIns="0" rIns="0" bIns="0" rtlCol="0" anchor="ctr"/>
          <a:lstStyle/>
          <a:p>
            <a:pPr marL="0" indent="0">
              <a:buNone/>
            </a:pPr>
            <a:r>
              <a:rPr lang="en-US" sz="1900" dirty="0">
                <a:solidFill>
                  <a:schemeClr val="tx1"/>
                </a:solidFill>
              </a:rPr>
              <a:t>How is the protagonist unusual in the society in which he lives, and how is he trying to influence that society?</a:t>
            </a:r>
            <a:endParaRPr lang="en-US" sz="1900" dirty="0"/>
          </a:p>
        </p:txBody>
      </p:sp>
      <p:sp>
        <p:nvSpPr>
          <p:cNvPr id="7" name="abstract q2 circle"/>
          <p:cNvSpPr/>
          <p:nvPr/>
        </p:nvSpPr>
        <p:spPr>
          <a:xfrm>
            <a:off x="548640" y="2715768"/>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8" name="abstract q2 icon" descr="abstract q2"/>
          <p:cNvPicPr>
            <a:picLocks noChangeAspect="1"/>
          </p:cNvPicPr>
          <p:nvPr/>
        </p:nvPicPr>
        <p:blipFill>
          <a:blip r:embed="rId4"/>
          <a:stretch>
            <a:fillRect/>
          </a:stretch>
        </p:blipFill>
        <p:spPr>
          <a:xfrm>
            <a:off x="709574" y="2876702"/>
            <a:ext cx="409651" cy="409651"/>
          </a:xfrm>
          <a:prstGeom prst="rect">
            <a:avLst/>
          </a:prstGeom>
        </p:spPr>
      </p:pic>
      <p:sp>
        <p:nvSpPr>
          <p:cNvPr id="9" name="Text 5"/>
          <p:cNvSpPr txBox="1"/>
          <p:nvPr/>
        </p:nvSpPr>
        <p:spPr>
          <a:xfrm>
            <a:off x="1508760" y="2670048"/>
            <a:ext cx="6400800" cy="822960"/>
          </a:xfrm>
          <a:prstGeom prst="rect">
            <a:avLst/>
          </a:prstGeom>
          <a:noFill/>
          <a:ln/>
        </p:spPr>
        <p:txBody>
          <a:bodyPr wrap="square" lIns="0" tIns="0" rIns="0" bIns="0" rtlCol="0" anchor="ctr"/>
          <a:lstStyle/>
          <a:p>
            <a:pPr marL="0" indent="0">
              <a:buNone/>
            </a:pPr>
            <a:r>
              <a:rPr lang="en-US" sz="1900" dirty="0">
                <a:solidFill>
                  <a:schemeClr val="tx1"/>
                </a:solidFill>
              </a:rPr>
              <a:t>Do you sympathize with the protagonist and his plight? What about the other characters?</a:t>
            </a:r>
            <a:endParaRPr lang="en-US" sz="1900" dirty="0"/>
          </a:p>
        </p:txBody>
      </p:sp>
      <p:sp>
        <p:nvSpPr>
          <p:cNvPr id="10" name="abstract q3 circle"/>
          <p:cNvSpPr/>
          <p:nvPr/>
        </p:nvSpPr>
        <p:spPr>
          <a:xfrm>
            <a:off x="548640" y="3739896"/>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11" name="abstract q3 icon" descr="abstract q3"/>
          <p:cNvPicPr>
            <a:picLocks noChangeAspect="1"/>
          </p:cNvPicPr>
          <p:nvPr/>
        </p:nvPicPr>
        <p:blipFill>
          <a:blip r:embed="rId5"/>
          <a:stretch>
            <a:fillRect/>
          </a:stretch>
        </p:blipFill>
        <p:spPr>
          <a:xfrm>
            <a:off x="709574" y="3900830"/>
            <a:ext cx="409651" cy="409651"/>
          </a:xfrm>
          <a:prstGeom prst="rect">
            <a:avLst/>
          </a:prstGeom>
        </p:spPr>
      </p:pic>
      <p:sp>
        <p:nvSpPr>
          <p:cNvPr id="12" name="Text 7"/>
          <p:cNvSpPr txBox="1"/>
          <p:nvPr/>
        </p:nvSpPr>
        <p:spPr>
          <a:xfrm>
            <a:off x="1508760" y="3694176"/>
            <a:ext cx="6400800" cy="822960"/>
          </a:xfrm>
          <a:prstGeom prst="rect">
            <a:avLst/>
          </a:prstGeom>
          <a:noFill/>
          <a:ln/>
        </p:spPr>
        <p:txBody>
          <a:bodyPr wrap="square" lIns="0" tIns="0" rIns="0" bIns="0" rtlCol="0" anchor="ctr"/>
          <a:lstStyle/>
          <a:p>
            <a:pPr marL="0" indent="0">
              <a:buNone/>
            </a:pPr>
            <a:r>
              <a:rPr lang="en-US" sz="1900" dirty="0">
                <a:solidFill>
                  <a:schemeClr val="tx1"/>
                </a:solidFill>
              </a:rPr>
              <a:t>Can we usefully separate out the dysfunction from the creative insight?</a:t>
            </a:r>
            <a:endParaRPr lang="en-US" sz="1900" dirty="0"/>
          </a:p>
        </p:txBody>
      </p:sp>
      <p:sp>
        <p:nvSpPr>
          <p:cNvPr id="13" name="abstract q4 circle"/>
          <p:cNvSpPr/>
          <p:nvPr/>
        </p:nvSpPr>
        <p:spPr>
          <a:xfrm>
            <a:off x="548640" y="4764024"/>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14" name="abstract q4 icon" descr="abstract q4"/>
          <p:cNvPicPr>
            <a:picLocks noChangeAspect="1"/>
          </p:cNvPicPr>
          <p:nvPr/>
        </p:nvPicPr>
        <p:blipFill>
          <a:blip r:embed="rId6"/>
          <a:stretch>
            <a:fillRect/>
          </a:stretch>
        </p:blipFill>
        <p:spPr>
          <a:xfrm>
            <a:off x="709574" y="4924958"/>
            <a:ext cx="409651" cy="409651"/>
          </a:xfrm>
          <a:prstGeom prst="rect">
            <a:avLst/>
          </a:prstGeom>
        </p:spPr>
      </p:pic>
      <p:sp>
        <p:nvSpPr>
          <p:cNvPr id="15" name="Text 9"/>
          <p:cNvSpPr txBox="1"/>
          <p:nvPr/>
        </p:nvSpPr>
        <p:spPr>
          <a:xfrm>
            <a:off x="1508760" y="4718304"/>
            <a:ext cx="6400800" cy="822960"/>
          </a:xfrm>
          <a:prstGeom prst="rect">
            <a:avLst/>
          </a:prstGeom>
          <a:noFill/>
          <a:ln/>
        </p:spPr>
        <p:txBody>
          <a:bodyPr wrap="square" lIns="0" tIns="0" rIns="0" bIns="0" rtlCol="0" anchor="ctr"/>
          <a:lstStyle/>
          <a:p>
            <a:pPr marL="0" indent="0">
              <a:buNone/>
            </a:pPr>
            <a:r>
              <a:rPr lang="en-US" sz="1900" dirty="0">
                <a:solidFill>
                  <a:schemeClr val="tx1"/>
                </a:solidFill>
              </a:rPr>
              <a:t>What does the protagonist see about society that those around him do not see?</a:t>
            </a:r>
            <a:endParaRPr lang="en-US" sz="1900" dirty="0"/>
          </a:p>
        </p:txBody>
      </p:sp>
      <p:sp>
        <p:nvSpPr>
          <p:cNvPr id="16" name="lens card"/>
          <p:cNvSpPr/>
          <p:nvPr/>
        </p:nvSpPr>
        <p:spPr>
          <a:xfrm>
            <a:off x="8321040" y="1645920"/>
            <a:ext cx="3291840" cy="4023360"/>
          </a:xfrm>
          <a:prstGeom prst="roundRect">
            <a:avLst>
              <a:gd name="adj" fmla="val 2222"/>
            </a:avLst>
          </a:prstGeom>
          <a:solidFill>
            <a:schemeClr val="tx2"/>
          </a:solidFill>
          <a:ln w="12700">
            <a:solidFill>
              <a:schemeClr val="tx2"/>
            </a:solidFill>
            <a:prstDash val="solid"/>
          </a:ln>
        </p:spPr>
        <p:txBody>
          <a:bodyPr/>
          <a:lstStyle/>
          <a:p>
            <a:endParaRPr lang="en-US"/>
          </a:p>
        </p:txBody>
      </p:sp>
      <p:sp>
        <p:nvSpPr>
          <p:cNvPr id="17" name="Text 11"/>
          <p:cNvSpPr txBox="1"/>
          <p:nvPr/>
        </p:nvSpPr>
        <p:spPr>
          <a:xfrm>
            <a:off x="8595360" y="1874520"/>
            <a:ext cx="2743200" cy="3566160"/>
          </a:xfrm>
          <a:prstGeom prst="rect">
            <a:avLst/>
          </a:prstGeom>
          <a:noFill/>
          <a:ln/>
        </p:spPr>
        <p:txBody>
          <a:bodyPr wrap="square" lIns="0" tIns="0" rIns="0" bIns="0" rtlCol="0" anchor="t"/>
          <a:lstStyle/>
          <a:p>
            <a:pPr marL="0" indent="0">
              <a:buNone/>
            </a:pPr>
            <a:r>
              <a:rPr lang="en-US" sz="1200" b="1" kern="0" spc="200" dirty="0">
                <a:solidFill>
                  <a:schemeClr val="accent2"/>
                </a:solidFill>
              </a:rPr>
              <a:t>THE LENS</a:t>
            </a:r>
            <a:endParaRPr lang="en-US" sz="1200" dirty="0"/>
          </a:p>
          <a:p>
            <a:pPr marL="0" indent="0">
              <a:buNone/>
            </a:pPr>
            <a:r>
              <a:rPr lang="en-US" sz="2000" b="1" dirty="0">
                <a:solidFill>
                  <a:schemeClr val="bg1"/>
                </a:solidFill>
                <a:latin typeface="Cambria" pitchFamily="34" charset="0"/>
                <a:ea typeface="Cambria" pitchFamily="34" charset="-122"/>
                <a:cs typeface="Cambria" pitchFamily="34" charset="-120"/>
              </a:rPr>
              <a:t>Human Outlier Analysis</a:t>
            </a:r>
            <a:endParaRPr lang="en-US" sz="1200" dirty="0"/>
          </a:p>
          <a:p>
            <a:pPr marL="0" indent="0">
              <a:buNone/>
            </a:pPr>
            <a:r>
              <a:rPr lang="en-US" sz="800" dirty="0">
                <a:solidFill>
                  <a:srgbClr val="000000"/>
                </a:solidFill>
              </a:rPr>
              <a:t> </a:t>
            </a:r>
            <a:endParaRPr lang="en-US" sz="1200" dirty="0"/>
          </a:p>
          <a:p>
            <a:pPr marL="0" indent="0">
              <a:buNone/>
            </a:pPr>
            <a:r>
              <a:rPr lang="en-US" sz="1400" dirty="0">
                <a:solidFill>
                  <a:schemeClr val="accent5"/>
                </a:solidFill>
              </a:rPr>
              <a:t>Foucault, Madness and Civilization (1961): the Age of Reason built institutions to cast radical thinkers out as mad or criminal.</a:t>
            </a:r>
            <a:endParaRPr lang="en-US" sz="1200" dirty="0"/>
          </a:p>
          <a:p>
            <a:pPr marL="0" indent="0">
              <a:buNone/>
            </a:pPr>
            <a:r>
              <a:rPr lang="en-US" sz="800" dirty="0">
                <a:solidFill>
                  <a:srgbClr val="000000"/>
                </a:solidFill>
              </a:rPr>
              <a:t> </a:t>
            </a:r>
            <a:endParaRPr lang="en-US" sz="1200" dirty="0"/>
          </a:p>
          <a:p>
            <a:pPr marL="0" indent="0">
              <a:buNone/>
            </a:pPr>
            <a:r>
              <a:rPr lang="en-US" sz="1400" i="1" dirty="0">
                <a:solidFill>
                  <a:schemeClr val="bg1"/>
                </a:solidFill>
              </a:rPr>
              <a:t>Do we lose something if we dismiss him as mad?</a:t>
            </a:r>
            <a:endParaRPr lang="en-US" sz="1200" dirty="0"/>
          </a:p>
        </p:txBody>
      </p:sp>
      <p:sp>
        <p:nvSpPr>
          <p:cNvPr id="18" name="Text 12"/>
          <p:cNvSpPr txBox="1"/>
          <p:nvPr/>
        </p:nvSpPr>
        <p:spPr>
          <a:xfrm>
            <a:off x="548640" y="6035040"/>
            <a:ext cx="10058400" cy="365760"/>
          </a:xfrm>
          <a:prstGeom prst="rect">
            <a:avLst/>
          </a:prstGeom>
          <a:noFill/>
          <a:ln/>
        </p:spPr>
        <p:txBody>
          <a:bodyPr wrap="square" lIns="0" tIns="0" rIns="0" bIns="0" rtlCol="0" anchor="ctr"/>
          <a:lstStyle/>
          <a:p>
            <a:pPr marL="0" indent="0">
              <a:buNone/>
            </a:pPr>
            <a:r>
              <a:rPr lang="en-US" sz="1300" i="1" dirty="0">
                <a:solidFill>
                  <a:schemeClr val="accent4"/>
                </a:solidFill>
              </a:rPr>
              <a:t>These also appear under Tale 1 in the Preface to the course.</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SEGUE TO TALE 2 · LEGACY</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What came after: a literary line and a violent one</a:t>
            </a:r>
            <a:endParaRPr lang="en-US" sz="3400" dirty="0"/>
          </a:p>
        </p:txBody>
      </p:sp>
      <p:sp>
        <p:nvSpPr>
          <p:cNvPr id="4" name="Text 2"/>
          <p:cNvSpPr txBox="1"/>
          <p:nvPr/>
        </p:nvSpPr>
        <p:spPr>
          <a:xfrm>
            <a:off x="548640" y="1600200"/>
            <a:ext cx="11064240" cy="411480"/>
          </a:xfrm>
          <a:prstGeom prst="rect">
            <a:avLst/>
          </a:prstGeom>
          <a:noFill/>
          <a:ln/>
        </p:spPr>
        <p:txBody>
          <a:bodyPr wrap="square" lIns="0" tIns="0" rIns="0" bIns="0" rtlCol="0" anchor="ctr"/>
          <a:lstStyle/>
          <a:p>
            <a:pPr marL="0" indent="0">
              <a:buNone/>
            </a:pPr>
            <a:r>
              <a:rPr lang="en-US" sz="2000" b="1" dirty="0">
                <a:solidFill>
                  <a:schemeClr val="accent3"/>
                </a:solidFill>
                <a:latin typeface="Cambria" pitchFamily="34" charset="0"/>
                <a:ea typeface="Cambria" pitchFamily="34" charset="-122"/>
                <a:cs typeface="Cambria" pitchFamily="34" charset="-120"/>
              </a:rPr>
              <a:t>The literary line: engineering human behavior</a:t>
            </a:r>
            <a:endParaRPr lang="en-US" sz="2000" dirty="0"/>
          </a:p>
        </p:txBody>
      </p:sp>
      <p:sp>
        <p:nvSpPr>
          <p:cNvPr id="5" name="chain 0"/>
          <p:cNvSpPr/>
          <p:nvPr/>
        </p:nvSpPr>
        <p:spPr>
          <a:xfrm>
            <a:off x="548640" y="2148840"/>
            <a:ext cx="2514600" cy="2331720"/>
          </a:xfrm>
          <a:prstGeom prst="roundRect">
            <a:avLst>
              <a:gd name="adj" fmla="val 3137"/>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31520" y="2286000"/>
            <a:ext cx="2148840" cy="365760"/>
          </a:xfrm>
          <a:prstGeom prst="rect">
            <a:avLst/>
          </a:prstGeom>
          <a:noFill/>
          <a:ln/>
        </p:spPr>
        <p:txBody>
          <a:bodyPr wrap="square" lIns="0" tIns="0" rIns="0" bIns="0" rtlCol="0" anchor="ctr"/>
          <a:lstStyle/>
          <a:p>
            <a:pPr marL="0" indent="0">
              <a:buNone/>
            </a:pPr>
            <a:r>
              <a:rPr lang="en-US" sz="1400" b="1" dirty="0">
                <a:solidFill>
                  <a:schemeClr val="accent5"/>
                </a:solidFill>
              </a:rPr>
              <a:t>1864</a:t>
            </a:r>
            <a:endParaRPr lang="en-US" sz="1400" dirty="0"/>
          </a:p>
        </p:txBody>
      </p:sp>
      <p:sp>
        <p:nvSpPr>
          <p:cNvPr id="7" name="Text 5"/>
          <p:cNvSpPr txBox="1"/>
          <p:nvPr/>
        </p:nvSpPr>
        <p:spPr>
          <a:xfrm>
            <a:off x="731520" y="2651760"/>
            <a:ext cx="2148840" cy="548640"/>
          </a:xfrm>
          <a:prstGeom prst="rect">
            <a:avLst/>
          </a:prstGeom>
          <a:noFill/>
          <a:ln/>
        </p:spPr>
        <p:txBody>
          <a:bodyPr wrap="square" lIns="0" tIns="0" rIns="0" bIns="0" rtlCol="0" anchor="ctr"/>
          <a:lstStyle/>
          <a:p>
            <a:pPr marL="0" indent="0">
              <a:buNone/>
            </a:pPr>
            <a:r>
              <a:rPr lang="en-US" sz="1800" b="1" dirty="0">
                <a:solidFill>
                  <a:schemeClr val="bg1"/>
                </a:solidFill>
                <a:latin typeface="Cambria" pitchFamily="34" charset="0"/>
                <a:ea typeface="Cambria" pitchFamily="34" charset="-122"/>
                <a:cs typeface="Cambria" pitchFamily="34" charset="-120"/>
              </a:rPr>
              <a:t>Notes from Underground</a:t>
            </a:r>
            <a:endParaRPr lang="en-US" sz="1800" dirty="0"/>
          </a:p>
        </p:txBody>
      </p:sp>
      <p:sp>
        <p:nvSpPr>
          <p:cNvPr id="8" name="Text 6"/>
          <p:cNvSpPr txBox="1"/>
          <p:nvPr/>
        </p:nvSpPr>
        <p:spPr>
          <a:xfrm>
            <a:off x="731520" y="3246120"/>
            <a:ext cx="2148840" cy="1143000"/>
          </a:xfrm>
          <a:prstGeom prst="rect">
            <a:avLst/>
          </a:prstGeom>
          <a:noFill/>
          <a:ln/>
        </p:spPr>
        <p:txBody>
          <a:bodyPr wrap="square" lIns="0" tIns="0" rIns="0" bIns="0" rtlCol="0" anchor="t"/>
          <a:lstStyle/>
          <a:p>
            <a:pPr marL="0" indent="0">
              <a:buNone/>
            </a:pPr>
            <a:r>
              <a:rPr lang="en-US" sz="1500" dirty="0">
                <a:solidFill>
                  <a:schemeClr val="bg1"/>
                </a:solidFill>
              </a:rPr>
              <a:t>Later adopted as a forerunner of existentialism</a:t>
            </a:r>
            <a:endParaRPr lang="en-US" sz="1500" dirty="0"/>
          </a:p>
        </p:txBody>
      </p:sp>
      <p:sp>
        <p:nvSpPr>
          <p:cNvPr id="9" name="arrow 0"/>
          <p:cNvSpPr/>
          <p:nvPr/>
        </p:nvSpPr>
        <p:spPr>
          <a:xfrm>
            <a:off x="3127248" y="3154680"/>
            <a:ext cx="201168" cy="320040"/>
          </a:xfrm>
          <a:prstGeom prst="rightArrow">
            <a:avLst/>
          </a:prstGeom>
          <a:solidFill>
            <a:schemeClr val="accent4"/>
          </a:solidFill>
          <a:ln w="12700">
            <a:solidFill>
              <a:schemeClr val="accent4"/>
            </a:solidFill>
            <a:prstDash val="solid"/>
          </a:ln>
        </p:spPr>
        <p:txBody>
          <a:bodyPr/>
          <a:lstStyle/>
          <a:p>
            <a:endParaRPr lang="en-US"/>
          </a:p>
        </p:txBody>
      </p:sp>
      <p:sp>
        <p:nvSpPr>
          <p:cNvPr id="10" name="chain 1"/>
          <p:cNvSpPr/>
          <p:nvPr/>
        </p:nvSpPr>
        <p:spPr>
          <a:xfrm>
            <a:off x="3383280" y="2148840"/>
            <a:ext cx="2514600" cy="2331720"/>
          </a:xfrm>
          <a:prstGeom prst="roundRect">
            <a:avLst>
              <a:gd name="adj" fmla="val 3137"/>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3566160" y="2286000"/>
            <a:ext cx="2148840" cy="365760"/>
          </a:xfrm>
          <a:prstGeom prst="rect">
            <a:avLst/>
          </a:prstGeom>
          <a:noFill/>
          <a:ln/>
        </p:spPr>
        <p:txBody>
          <a:bodyPr wrap="square" lIns="0" tIns="0" rIns="0" bIns="0" rtlCol="0" anchor="ctr"/>
          <a:lstStyle/>
          <a:p>
            <a:pPr marL="0" indent="0">
              <a:buNone/>
            </a:pPr>
            <a:r>
              <a:rPr lang="en-US" sz="1400" b="1" dirty="0">
                <a:solidFill>
                  <a:schemeClr val="accent1"/>
                </a:solidFill>
              </a:rPr>
              <a:t>1920–21</a:t>
            </a:r>
            <a:endParaRPr lang="en-US" sz="1400" dirty="0"/>
          </a:p>
        </p:txBody>
      </p:sp>
      <p:sp>
        <p:nvSpPr>
          <p:cNvPr id="12" name="Text 10"/>
          <p:cNvSpPr txBox="1"/>
          <p:nvPr/>
        </p:nvSpPr>
        <p:spPr>
          <a:xfrm>
            <a:off x="3566160" y="2651760"/>
            <a:ext cx="2148840" cy="54864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Zamyatin, We</a:t>
            </a:r>
            <a:endParaRPr lang="en-US" sz="1800" dirty="0"/>
          </a:p>
        </p:txBody>
      </p:sp>
      <p:sp>
        <p:nvSpPr>
          <p:cNvPr id="13" name="Text 11"/>
          <p:cNvSpPr txBox="1"/>
          <p:nvPr/>
        </p:nvSpPr>
        <p:spPr>
          <a:xfrm>
            <a:off x="3566160" y="3246120"/>
            <a:ext cx="2148840" cy="1143000"/>
          </a:xfrm>
          <a:prstGeom prst="rect">
            <a:avLst/>
          </a:prstGeom>
          <a:noFill/>
          <a:ln/>
        </p:spPr>
        <p:txBody>
          <a:bodyPr wrap="square" lIns="0" tIns="0" rIns="0" bIns="0" rtlCol="0" anchor="t"/>
          <a:lstStyle/>
          <a:p>
            <a:pPr marL="0" indent="0">
              <a:buNone/>
            </a:pPr>
            <a:r>
              <a:rPr lang="en-US" sz="1500" dirty="0">
                <a:solidFill>
                  <a:schemeClr val="tx2"/>
                </a:solidFill>
              </a:rPr>
              <a:t>Glass apartments; citizens reduced to numbers</a:t>
            </a:r>
            <a:endParaRPr lang="en-US" sz="1500" dirty="0"/>
          </a:p>
        </p:txBody>
      </p:sp>
      <p:sp>
        <p:nvSpPr>
          <p:cNvPr id="14" name="arrow 1"/>
          <p:cNvSpPr/>
          <p:nvPr/>
        </p:nvSpPr>
        <p:spPr>
          <a:xfrm>
            <a:off x="5961888" y="3154680"/>
            <a:ext cx="201168" cy="320040"/>
          </a:xfrm>
          <a:prstGeom prst="rightArrow">
            <a:avLst/>
          </a:prstGeom>
          <a:solidFill>
            <a:schemeClr val="accent4"/>
          </a:solidFill>
          <a:ln w="12700">
            <a:solidFill>
              <a:schemeClr val="accent4"/>
            </a:solidFill>
            <a:prstDash val="solid"/>
          </a:ln>
        </p:spPr>
        <p:txBody>
          <a:bodyPr/>
          <a:lstStyle/>
          <a:p>
            <a:endParaRPr lang="en-US"/>
          </a:p>
        </p:txBody>
      </p:sp>
      <p:sp>
        <p:nvSpPr>
          <p:cNvPr id="15" name="chain 2"/>
          <p:cNvSpPr/>
          <p:nvPr/>
        </p:nvSpPr>
        <p:spPr>
          <a:xfrm>
            <a:off x="6217920" y="2148840"/>
            <a:ext cx="2514600" cy="2331720"/>
          </a:xfrm>
          <a:prstGeom prst="roundRect">
            <a:avLst>
              <a:gd name="adj" fmla="val 3137"/>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6400800" y="2286000"/>
            <a:ext cx="2148840" cy="365760"/>
          </a:xfrm>
          <a:prstGeom prst="rect">
            <a:avLst/>
          </a:prstGeom>
          <a:noFill/>
          <a:ln/>
        </p:spPr>
        <p:txBody>
          <a:bodyPr wrap="square" lIns="0" tIns="0" rIns="0" bIns="0" rtlCol="0" anchor="ctr"/>
          <a:lstStyle/>
          <a:p>
            <a:pPr marL="0" indent="0">
              <a:buNone/>
            </a:pPr>
            <a:r>
              <a:rPr lang="en-US" sz="1400" b="1" dirty="0">
                <a:solidFill>
                  <a:schemeClr val="accent1"/>
                </a:solidFill>
              </a:rPr>
              <a:t>1932</a:t>
            </a:r>
            <a:endParaRPr lang="en-US" sz="1400" dirty="0"/>
          </a:p>
        </p:txBody>
      </p:sp>
      <p:sp>
        <p:nvSpPr>
          <p:cNvPr id="17" name="Text 15"/>
          <p:cNvSpPr txBox="1"/>
          <p:nvPr/>
        </p:nvSpPr>
        <p:spPr>
          <a:xfrm>
            <a:off x="6400800" y="2651760"/>
            <a:ext cx="2148840" cy="54864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Huxley, Brave New World</a:t>
            </a:r>
            <a:endParaRPr lang="en-US" sz="1800" dirty="0"/>
          </a:p>
        </p:txBody>
      </p:sp>
      <p:sp>
        <p:nvSpPr>
          <p:cNvPr id="18" name="Text 16"/>
          <p:cNvSpPr txBox="1"/>
          <p:nvPr/>
        </p:nvSpPr>
        <p:spPr>
          <a:xfrm>
            <a:off x="6400800" y="3246120"/>
            <a:ext cx="2148840" cy="1143000"/>
          </a:xfrm>
          <a:prstGeom prst="rect">
            <a:avLst/>
          </a:prstGeom>
          <a:noFill/>
          <a:ln/>
        </p:spPr>
        <p:txBody>
          <a:bodyPr wrap="square" lIns="0" tIns="0" rIns="0" bIns="0" rtlCol="0" anchor="t"/>
          <a:lstStyle/>
          <a:p>
            <a:pPr marL="0" indent="0">
              <a:buNone/>
            </a:pPr>
            <a:r>
              <a:rPr lang="en-US" sz="1500" dirty="0">
                <a:solidFill>
                  <a:schemeClr val="tx2"/>
                </a:solidFill>
              </a:rPr>
              <a:t>Lessons whispered before birth</a:t>
            </a:r>
            <a:endParaRPr lang="en-US" sz="1500" dirty="0"/>
          </a:p>
        </p:txBody>
      </p:sp>
      <p:sp>
        <p:nvSpPr>
          <p:cNvPr id="19" name="arrow 2"/>
          <p:cNvSpPr/>
          <p:nvPr/>
        </p:nvSpPr>
        <p:spPr>
          <a:xfrm>
            <a:off x="8796528" y="3154680"/>
            <a:ext cx="201168" cy="320040"/>
          </a:xfrm>
          <a:prstGeom prst="rightArrow">
            <a:avLst/>
          </a:prstGeom>
          <a:solidFill>
            <a:schemeClr val="accent4"/>
          </a:solidFill>
          <a:ln w="12700">
            <a:solidFill>
              <a:schemeClr val="accent4"/>
            </a:solidFill>
            <a:prstDash val="solid"/>
          </a:ln>
        </p:spPr>
        <p:txBody>
          <a:bodyPr/>
          <a:lstStyle/>
          <a:p>
            <a:endParaRPr lang="en-US"/>
          </a:p>
        </p:txBody>
      </p:sp>
      <p:sp>
        <p:nvSpPr>
          <p:cNvPr id="20" name="chain 3"/>
          <p:cNvSpPr/>
          <p:nvPr/>
        </p:nvSpPr>
        <p:spPr>
          <a:xfrm>
            <a:off x="9052560" y="2148840"/>
            <a:ext cx="2514600" cy="2331720"/>
          </a:xfrm>
          <a:prstGeom prst="roundRect">
            <a:avLst>
              <a:gd name="adj" fmla="val 3137"/>
            </a:avLst>
          </a:prstGeom>
          <a:solidFill>
            <a:schemeClr val="bg2"/>
          </a:solidFill>
          <a:ln w="12700">
            <a:solidFill>
              <a:schemeClr val="bg2"/>
            </a:solidFill>
            <a:prstDash val="solid"/>
          </a:ln>
        </p:spPr>
        <p:txBody>
          <a:bodyPr/>
          <a:lstStyle/>
          <a:p>
            <a:endParaRPr lang="en-US"/>
          </a:p>
        </p:txBody>
      </p:sp>
      <p:sp>
        <p:nvSpPr>
          <p:cNvPr id="21" name="Text 19"/>
          <p:cNvSpPr txBox="1"/>
          <p:nvPr/>
        </p:nvSpPr>
        <p:spPr>
          <a:xfrm>
            <a:off x="9235440" y="2286000"/>
            <a:ext cx="2148840" cy="365760"/>
          </a:xfrm>
          <a:prstGeom prst="rect">
            <a:avLst/>
          </a:prstGeom>
          <a:noFill/>
          <a:ln/>
        </p:spPr>
        <p:txBody>
          <a:bodyPr wrap="square" lIns="0" tIns="0" rIns="0" bIns="0" rtlCol="0" anchor="ctr"/>
          <a:lstStyle/>
          <a:p>
            <a:pPr marL="0" indent="0">
              <a:buNone/>
            </a:pPr>
            <a:r>
              <a:rPr lang="en-US" sz="1400" b="1" dirty="0">
                <a:solidFill>
                  <a:schemeClr val="accent1"/>
                </a:solidFill>
              </a:rPr>
              <a:t>1949</a:t>
            </a:r>
            <a:endParaRPr lang="en-US" sz="1400" dirty="0"/>
          </a:p>
        </p:txBody>
      </p:sp>
      <p:sp>
        <p:nvSpPr>
          <p:cNvPr id="22" name="Text 20"/>
          <p:cNvSpPr txBox="1"/>
          <p:nvPr/>
        </p:nvSpPr>
        <p:spPr>
          <a:xfrm>
            <a:off x="9235440" y="2651760"/>
            <a:ext cx="2148840" cy="54864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Orwell, 1984</a:t>
            </a:r>
            <a:endParaRPr lang="en-US" sz="1800" dirty="0"/>
          </a:p>
        </p:txBody>
      </p:sp>
      <p:sp>
        <p:nvSpPr>
          <p:cNvPr id="23" name="Text 21"/>
          <p:cNvSpPr txBox="1"/>
          <p:nvPr/>
        </p:nvSpPr>
        <p:spPr>
          <a:xfrm>
            <a:off x="9235440" y="3246120"/>
            <a:ext cx="2148840" cy="1143000"/>
          </a:xfrm>
          <a:prstGeom prst="rect">
            <a:avLst/>
          </a:prstGeom>
          <a:noFill/>
          <a:ln/>
        </p:spPr>
        <p:txBody>
          <a:bodyPr wrap="square" lIns="0" tIns="0" rIns="0" bIns="0" rtlCol="0" anchor="t"/>
          <a:lstStyle/>
          <a:p>
            <a:pPr marL="0" indent="0">
              <a:buNone/>
            </a:pPr>
            <a:r>
              <a:rPr lang="en-US" sz="1500" dirty="0">
                <a:solidFill>
                  <a:schemeClr val="tx2"/>
                </a:solidFill>
              </a:rPr>
              <a:t>Our next tale</a:t>
            </a:r>
            <a:endParaRPr lang="en-US" sz="1500" dirty="0"/>
          </a:p>
        </p:txBody>
      </p:sp>
      <p:sp>
        <p:nvSpPr>
          <p:cNvPr id="24" name="Text 22"/>
          <p:cNvSpPr txBox="1"/>
          <p:nvPr/>
        </p:nvSpPr>
        <p:spPr>
          <a:xfrm>
            <a:off x="548640" y="4800600"/>
            <a:ext cx="11064240" cy="41148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The violent line: from ideas to terror</a:t>
            </a:r>
            <a:endParaRPr lang="en-US" sz="2000" dirty="0"/>
          </a:p>
        </p:txBody>
      </p:sp>
      <p:sp>
        <p:nvSpPr>
          <p:cNvPr id="25" name="Text 23"/>
          <p:cNvSpPr txBox="1"/>
          <p:nvPr/>
        </p:nvSpPr>
        <p:spPr>
          <a:xfrm>
            <a:off x="548640" y="5349240"/>
            <a:ext cx="868680" cy="82296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1866</a:t>
            </a:r>
            <a:endParaRPr lang="en-US" sz="2400" dirty="0"/>
          </a:p>
        </p:txBody>
      </p:sp>
      <p:sp>
        <p:nvSpPr>
          <p:cNvPr id="26" name="Text 24"/>
          <p:cNvSpPr txBox="1"/>
          <p:nvPr/>
        </p:nvSpPr>
        <p:spPr>
          <a:xfrm>
            <a:off x="1508760" y="5349240"/>
            <a:ext cx="2606040" cy="914400"/>
          </a:xfrm>
          <a:prstGeom prst="rect">
            <a:avLst/>
          </a:prstGeom>
          <a:noFill/>
          <a:ln/>
        </p:spPr>
        <p:txBody>
          <a:bodyPr wrap="square" lIns="0" tIns="0" rIns="0" bIns="0" rtlCol="0" anchor="t"/>
          <a:lstStyle/>
          <a:p>
            <a:pPr marL="0" indent="0">
              <a:buNone/>
            </a:pPr>
            <a:r>
              <a:rPr lang="en-US" sz="1600" dirty="0">
                <a:solidFill>
                  <a:schemeClr val="tx2"/>
                </a:solidFill>
              </a:rPr>
              <a:t>Karakozov, influenced by Chernyshevsky's novel, tries to kill the Tsar</a:t>
            </a:r>
            <a:endParaRPr lang="en-US" sz="1600" dirty="0"/>
          </a:p>
        </p:txBody>
      </p:sp>
      <p:sp>
        <p:nvSpPr>
          <p:cNvPr id="27" name="Text 25"/>
          <p:cNvSpPr txBox="1"/>
          <p:nvPr/>
        </p:nvSpPr>
        <p:spPr>
          <a:xfrm>
            <a:off x="4297680" y="5349240"/>
            <a:ext cx="868680" cy="82296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1872</a:t>
            </a:r>
            <a:endParaRPr lang="en-US" sz="2400" dirty="0"/>
          </a:p>
        </p:txBody>
      </p:sp>
      <p:sp>
        <p:nvSpPr>
          <p:cNvPr id="28" name="Text 26"/>
          <p:cNvSpPr txBox="1"/>
          <p:nvPr/>
        </p:nvSpPr>
        <p:spPr>
          <a:xfrm>
            <a:off x="5257800" y="5349240"/>
            <a:ext cx="2606040" cy="914400"/>
          </a:xfrm>
          <a:prstGeom prst="rect">
            <a:avLst/>
          </a:prstGeom>
          <a:noFill/>
          <a:ln/>
        </p:spPr>
        <p:txBody>
          <a:bodyPr wrap="square" lIns="0" tIns="0" rIns="0" bIns="0" rtlCol="0" anchor="t"/>
          <a:lstStyle/>
          <a:p>
            <a:pPr marL="0" indent="0">
              <a:buNone/>
            </a:pPr>
            <a:r>
              <a:rPr lang="en-US" sz="1600" dirty="0">
                <a:solidFill>
                  <a:schemeClr val="tx2"/>
                </a:solidFill>
              </a:rPr>
              <a:t>Dostoevsky's Demons depicts nihilism turning into terror</a:t>
            </a:r>
            <a:endParaRPr lang="en-US" sz="1600" dirty="0"/>
          </a:p>
        </p:txBody>
      </p:sp>
      <p:sp>
        <p:nvSpPr>
          <p:cNvPr id="29" name="Text 27"/>
          <p:cNvSpPr txBox="1"/>
          <p:nvPr/>
        </p:nvSpPr>
        <p:spPr>
          <a:xfrm>
            <a:off x="8046720" y="5349240"/>
            <a:ext cx="868680" cy="82296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1881</a:t>
            </a:r>
            <a:endParaRPr lang="en-US" sz="2400" dirty="0"/>
          </a:p>
        </p:txBody>
      </p:sp>
      <p:sp>
        <p:nvSpPr>
          <p:cNvPr id="30" name="Text 28"/>
          <p:cNvSpPr txBox="1"/>
          <p:nvPr/>
        </p:nvSpPr>
        <p:spPr>
          <a:xfrm>
            <a:off x="9006840" y="5349240"/>
            <a:ext cx="2606040" cy="914400"/>
          </a:xfrm>
          <a:prstGeom prst="rect">
            <a:avLst/>
          </a:prstGeom>
          <a:noFill/>
          <a:ln/>
        </p:spPr>
        <p:txBody>
          <a:bodyPr wrap="square" lIns="0" tIns="0" rIns="0" bIns="0" rtlCol="0" anchor="t"/>
          <a:lstStyle/>
          <a:p>
            <a:pPr marL="0" indent="0">
              <a:buNone/>
            </a:pPr>
            <a:r>
              <a:rPr lang="en-US" sz="1600" dirty="0">
                <a:solidFill>
                  <a:schemeClr val="tx2"/>
                </a:solidFill>
              </a:rPr>
              <a:t>People's Will assassinates Alexander II</a:t>
            </a:r>
            <a:endParaRPr lang="en-US" sz="1600" dirty="0"/>
          </a:p>
        </p:txBody>
      </p:sp>
      <p:sp>
        <p:nvSpPr>
          <p:cNvPr id="31"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SEGUE TO TALE 2 · THE COURSE ARC</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Course overview</a:t>
            </a:r>
            <a:endParaRPr lang="en-US" sz="3400" dirty="0"/>
          </a:p>
        </p:txBody>
      </p:sp>
      <p:pic>
        <p:nvPicPr>
          <p:cNvPr id="4" name="overview illustration" descr="Mad scientist manipulating a fan of dystopian stories, with lenses labeled police state, surveillance state, narrative analysis, societal control, human outliers and false needs"/>
          <p:cNvPicPr>
            <a:picLocks noChangeAspect="1"/>
          </p:cNvPicPr>
          <p:nvPr/>
        </p:nvPicPr>
        <p:blipFill>
          <a:blip r:embed="rId3"/>
          <a:stretch>
            <a:fillRect/>
          </a:stretch>
        </p:blipFill>
        <p:spPr>
          <a:xfrm>
            <a:off x="548640" y="1554480"/>
            <a:ext cx="7863840" cy="4427051"/>
          </a:xfrm>
          <a:prstGeom prst="rect">
            <a:avLst/>
          </a:prstGeom>
        </p:spPr>
      </p:pic>
      <p:sp>
        <p:nvSpPr>
          <p:cNvPr id="5" name="overview points"/>
          <p:cNvSpPr/>
          <p:nvPr/>
        </p:nvSpPr>
        <p:spPr>
          <a:xfrm>
            <a:off x="8686800" y="1554480"/>
            <a:ext cx="2926080" cy="4425696"/>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8869680" y="1783080"/>
            <a:ext cx="2606040" cy="4023360"/>
          </a:xfrm>
          <a:prstGeom prst="rect">
            <a:avLst/>
          </a:prstGeom>
          <a:noFill/>
          <a:ln/>
        </p:spPr>
        <p:txBody>
          <a:bodyPr wrap="square" rtlCol="0" anchor="t"/>
          <a:lstStyle/>
          <a:p>
            <a:pPr marL="342900" indent="-342900">
              <a:spcAft>
                <a:spcPts val="1600"/>
              </a:spcAft>
              <a:buSzPct val="100000"/>
              <a:buChar char="•"/>
            </a:pPr>
            <a:r>
              <a:rPr lang="en-US" sz="1800" dirty="0">
                <a:solidFill>
                  <a:schemeClr val="tx1"/>
                </a:solidFill>
              </a:rPr>
              <a:t>Look at modern-age stories where societies impose or offer mind control.</a:t>
            </a:r>
            <a:endParaRPr lang="en-US" sz="1800" dirty="0"/>
          </a:p>
          <a:p>
            <a:pPr marL="342900" indent="-342900">
              <a:spcAft>
                <a:spcPts val="1600"/>
              </a:spcAft>
              <a:buSzPct val="100000"/>
              <a:buChar char="•"/>
            </a:pPr>
            <a:r>
              <a:rPr lang="en-US" sz="1800" dirty="0">
                <a:solidFill>
                  <a:schemeClr val="tx1"/>
                </a:solidFill>
              </a:rPr>
              <a:t>Consider characters who are rebelling.</a:t>
            </a:r>
            <a:endParaRPr lang="en-US" sz="1800" dirty="0"/>
          </a:p>
          <a:p>
            <a:pPr marL="342900" indent="-342900">
              <a:spcAft>
                <a:spcPts val="1600"/>
              </a:spcAft>
              <a:buSzPct val="100000"/>
              <a:buChar char="•"/>
            </a:pPr>
            <a:r>
              <a:rPr lang="en-US" sz="1800" dirty="0">
                <a:solidFill>
                  <a:schemeClr val="tx1"/>
                </a:solidFill>
              </a:rPr>
              <a:t>Ask questions through various lenses.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SEGUE TO TALE 2 · THE COURSE ARC</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Stories in a dystopian arc</a:t>
            </a:r>
            <a:endParaRPr lang="en-US" sz="3400" dirty="0"/>
          </a:p>
        </p:txBody>
      </p:sp>
      <p:pic>
        <p:nvPicPr>
          <p:cNvPr id="4" name="stories illustration" descr="Four panels: Notes from Underground, 1984 with 2+2=5, The Matrix with 10+10=100, The Perfect Match"/>
          <p:cNvPicPr>
            <a:picLocks noChangeAspect="1"/>
          </p:cNvPicPr>
          <p:nvPr/>
        </p:nvPicPr>
        <p:blipFill>
          <a:blip r:embed="rId3"/>
          <a:stretch>
            <a:fillRect/>
          </a:stretch>
        </p:blipFill>
        <p:spPr>
          <a:xfrm>
            <a:off x="548640" y="1554480"/>
            <a:ext cx="6949440" cy="3877788"/>
          </a:xfrm>
          <a:prstGeom prst="rect">
            <a:avLst/>
          </a:prstGeom>
        </p:spPr>
      </p:pic>
      <p:sp>
        <p:nvSpPr>
          <p:cNvPr id="5" name="Text 2"/>
          <p:cNvSpPr txBox="1"/>
          <p:nvPr/>
        </p:nvSpPr>
        <p:spPr>
          <a:xfrm>
            <a:off x="7772400" y="1554480"/>
            <a:ext cx="3840480" cy="3383280"/>
          </a:xfrm>
          <a:prstGeom prst="rect">
            <a:avLst/>
          </a:prstGeom>
          <a:noFill/>
          <a:ln/>
        </p:spPr>
        <p:txBody>
          <a:bodyPr wrap="square" rtlCol="0" anchor="t"/>
          <a:lstStyle/>
          <a:p>
            <a:pPr marL="342900" indent="-342900">
              <a:spcAft>
                <a:spcPts val="1200"/>
              </a:spcAft>
              <a:buSzPct val="100000"/>
              <a:buChar char="•"/>
            </a:pPr>
            <a:r>
              <a:rPr lang="en-US" sz="1600" b="1" dirty="0">
                <a:solidFill>
                  <a:schemeClr val="tx1"/>
                </a:solidFill>
              </a:rPr>
              <a:t>Dostoevsky's Underground Man, </a:t>
            </a:r>
            <a:r>
              <a:rPr lang="en-US" sz="1600" dirty="0">
                <a:solidFill>
                  <a:schemeClr val="tx1"/>
                </a:solidFill>
              </a:rPr>
              <a:t>isolated and crushed by 2 + 2 = 4 reason.</a:t>
            </a:r>
            <a:endParaRPr lang="en-US" sz="1600" dirty="0"/>
          </a:p>
          <a:p>
            <a:pPr marL="342900" indent="-342900">
              <a:spcAft>
                <a:spcPts val="1200"/>
              </a:spcAft>
              <a:buSzPct val="100000"/>
              <a:buChar char="•"/>
            </a:pPr>
            <a:r>
              <a:rPr lang="en-US" sz="1600" b="1" dirty="0">
                <a:solidFill>
                  <a:schemeClr val="tx1"/>
                </a:solidFill>
              </a:rPr>
              <a:t>Winston (1984), </a:t>
            </a:r>
            <a:r>
              <a:rPr lang="en-US" sz="1600" dirty="0">
                <a:solidFill>
                  <a:schemeClr val="tx1"/>
                </a:solidFill>
              </a:rPr>
              <a:t>pounded by Big Brother to truly believe 2 + 2 = 5.</a:t>
            </a:r>
            <a:endParaRPr lang="en-US" sz="1600" dirty="0"/>
          </a:p>
          <a:p>
            <a:pPr marL="342900" indent="-342900">
              <a:spcAft>
                <a:spcPts val="1200"/>
              </a:spcAft>
              <a:buSzPct val="100000"/>
              <a:buChar char="•"/>
            </a:pPr>
            <a:r>
              <a:rPr lang="en-US" sz="1600" b="1" dirty="0">
                <a:solidFill>
                  <a:schemeClr val="tx1"/>
                </a:solidFill>
              </a:rPr>
              <a:t>Neo (The Matrix), </a:t>
            </a:r>
            <a:r>
              <a:rPr lang="en-US" sz="1600" dirty="0">
                <a:solidFill>
                  <a:schemeClr val="tx1"/>
                </a:solidFill>
              </a:rPr>
              <a:t>perceiving his whole world is a simulation, seeing 2 + 2 = 4 in binary.</a:t>
            </a:r>
            <a:endParaRPr lang="en-US" sz="1600" dirty="0"/>
          </a:p>
          <a:p>
            <a:pPr marL="342900" indent="-342900">
              <a:spcAft>
                <a:spcPts val="1200"/>
              </a:spcAft>
              <a:buSzPct val="100000"/>
              <a:buChar char="•"/>
            </a:pPr>
            <a:r>
              <a:rPr lang="en-US" sz="1600" b="1" dirty="0">
                <a:solidFill>
                  <a:schemeClr val="tx1"/>
                </a:solidFill>
              </a:rPr>
              <a:t>Sai (The Perfect Match), </a:t>
            </a:r>
            <a:r>
              <a:rPr lang="en-US" sz="1600" dirty="0">
                <a:solidFill>
                  <a:schemeClr val="tx1"/>
                </a:solidFill>
              </a:rPr>
              <a:t>nudged by the AI agent Tilly into preferring the beautiful girl in the "2 + 2 = 4" T-shirt.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17</a:t>
            </a:fld>
            <a:endParaRPr lang="en-US"/>
          </a:p>
        </p:txBody>
      </p:sp>
      <p:sp>
        <p:nvSpPr>
          <p:cNvPr id="26" name="TextBox 25"/>
          <p:cNvSpPr txBox="1"/>
          <p:nvPr/>
        </p:nvSpPr>
        <p:spPr>
          <a:xfrm>
            <a:off x="7772400" y="5029200"/>
            <a:ext cx="3840480" cy="822960"/>
          </a:xfrm>
          <a:prstGeom prst="rect">
            <a:avLst/>
          </a:prstGeom>
          <a:solidFill>
            <a:schemeClr val="bg2"/>
          </a:solidFill>
        </p:spPr>
        <p:txBody>
          <a:bodyPr wrap="square" lIns="137160" rIns="137160" anchor="ctr">
            <a:spAutoFit/>
          </a:bodyPr>
          <a:lstStyle/>
          <a:p>
            <a:r>
              <a:rPr sz="1200" i="1">
                <a:solidFill>
                  <a:schemeClr val="accent1"/>
                </a:solidFill>
              </a:rPr>
              <a:t>The 2 + 2 = 4 image comes from the novella. Larry Cedar's show leaves it out, so this panel is our summary of the book, not of the performance.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SEGUE TO TALE 2 · THE COURSE ARC</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Some lenses</a:t>
            </a:r>
            <a:endParaRPr lang="en-US" sz="3400" dirty="0"/>
          </a:p>
        </p:txBody>
      </p:sp>
      <p:pic>
        <p:nvPicPr>
          <p:cNvPr id="4" name="lenses illustration" descr="An Arc of Stories and Lenses: four tales from the Age of Reason to the Crib, each paired with its thinkers"/>
          <p:cNvPicPr>
            <a:picLocks noChangeAspect="1"/>
          </p:cNvPicPr>
          <p:nvPr/>
        </p:nvPicPr>
        <p:blipFill>
          <a:blip r:embed="rId3"/>
          <a:stretch>
            <a:fillRect/>
          </a:stretch>
        </p:blipFill>
        <p:spPr>
          <a:xfrm>
            <a:off x="548640" y="1508760"/>
            <a:ext cx="6247453" cy="5029200"/>
          </a:xfrm>
          <a:prstGeom prst="rect">
            <a:avLst/>
          </a:prstGeom>
        </p:spPr>
      </p:pic>
      <p:sp>
        <p:nvSpPr>
          <p:cNvPr id="5" name="Text 2"/>
          <p:cNvSpPr txBox="1"/>
          <p:nvPr/>
        </p:nvSpPr>
        <p:spPr>
          <a:xfrm>
            <a:off x="7070413" y="1508760"/>
            <a:ext cx="4542467" cy="5029200"/>
          </a:xfrm>
          <a:prstGeom prst="rect">
            <a:avLst/>
          </a:prstGeom>
          <a:noFill/>
          <a:ln/>
        </p:spPr>
        <p:txBody>
          <a:bodyPr wrap="square" rtlCol="0" anchor="t"/>
          <a:lstStyle/>
          <a:p>
            <a:pPr marL="342900" indent="-342900">
              <a:spcAft>
                <a:spcPts val="500"/>
              </a:spcAft>
              <a:buSzPct val="100000"/>
              <a:buChar char="•"/>
            </a:pPr>
            <a:r>
              <a:rPr lang="en-US" sz="1500" b="1" dirty="0">
                <a:solidFill>
                  <a:schemeClr val="tx1"/>
                </a:solidFill>
              </a:rPr>
              <a:t>Human Outlier Analysis </a:t>
            </a:r>
            <a:r>
              <a:rPr lang="en-US" sz="1500" dirty="0">
                <a:solidFill>
                  <a:schemeClr val="tx1"/>
                </a:solidFill>
              </a:rPr>
              <a:t>(Michel Foucault)</a:t>
            </a:r>
            <a:endParaRPr lang="en-US" sz="1500" dirty="0"/>
          </a:p>
          <a:p>
            <a:pPr marL="355600" lvl="1" indent="-177800">
              <a:spcAft>
                <a:spcPts val="500"/>
              </a:spcAft>
              <a:buSzPct val="100000"/>
              <a:buChar char="•"/>
            </a:pPr>
            <a:r>
              <a:rPr lang="en-US" sz="1400" dirty="0">
                <a:solidFill>
                  <a:schemeClr val="tx2"/>
                </a:solidFill>
              </a:rPr>
              <a:t>Madness and confinement</a:t>
            </a:r>
            <a:endParaRPr lang="en-US" sz="1500" dirty="0"/>
          </a:p>
          <a:p>
            <a:pPr marL="355600" lvl="1" indent="-177800">
              <a:spcAft>
                <a:spcPts val="500"/>
              </a:spcAft>
              <a:buSzPct val="100000"/>
              <a:buChar char="•"/>
            </a:pPr>
            <a:r>
              <a:rPr lang="en-US" sz="1400" dirty="0">
                <a:solidFill>
                  <a:schemeClr val="tx2"/>
                </a:solidFill>
              </a:rPr>
              <a:t>Knowledge and limits of thought</a:t>
            </a:r>
            <a:endParaRPr lang="en-US" sz="1500" dirty="0"/>
          </a:p>
          <a:p>
            <a:pPr marL="355600" lvl="1" indent="-177800">
              <a:spcAft>
                <a:spcPts val="500"/>
              </a:spcAft>
              <a:buSzPct val="100000"/>
              <a:buChar char="•"/>
            </a:pPr>
            <a:r>
              <a:rPr lang="en-US" sz="1400" dirty="0">
                <a:solidFill>
                  <a:schemeClr val="tx2"/>
                </a:solidFill>
              </a:rPr>
              <a:t>Panopticism and disciplinary surveillance</a:t>
            </a:r>
            <a:endParaRPr lang="en-US" sz="1500" dirty="0"/>
          </a:p>
          <a:p>
            <a:pPr marL="342900" indent="-342900">
              <a:spcAft>
                <a:spcPts val="500"/>
              </a:spcAft>
              <a:buSzPct val="100000"/>
              <a:buChar char="•"/>
            </a:pPr>
            <a:r>
              <a:rPr lang="en-US" sz="1500" b="1" dirty="0">
                <a:solidFill>
                  <a:schemeClr val="tx1"/>
                </a:solidFill>
              </a:rPr>
              <a:t>Narrative Analysis </a:t>
            </a:r>
            <a:r>
              <a:rPr lang="en-US" sz="1500" dirty="0">
                <a:solidFill>
                  <a:schemeClr val="tx1"/>
                </a:solidFill>
              </a:rPr>
              <a:t>(Jerome Bruner)</a:t>
            </a:r>
            <a:endParaRPr lang="en-US" sz="1500" dirty="0"/>
          </a:p>
          <a:p>
            <a:pPr marL="342900" indent="-342900">
              <a:spcAft>
                <a:spcPts val="500"/>
              </a:spcAft>
              <a:buSzPct val="100000"/>
              <a:buChar char="•"/>
            </a:pPr>
            <a:r>
              <a:rPr lang="en-US" sz="1500" b="1" dirty="0">
                <a:solidFill>
                  <a:schemeClr val="tx1"/>
                </a:solidFill>
              </a:rPr>
              <a:t>Societal Control </a:t>
            </a:r>
            <a:r>
              <a:rPr lang="en-US" sz="1500" dirty="0">
                <a:solidFill>
                  <a:schemeClr val="tx1"/>
                </a:solidFill>
              </a:rPr>
              <a:t>(Gilles Deleuze)</a:t>
            </a:r>
            <a:endParaRPr lang="en-US" sz="1500" dirty="0"/>
          </a:p>
          <a:p>
            <a:pPr marL="355600" lvl="1" indent="-177800">
              <a:spcAft>
                <a:spcPts val="500"/>
              </a:spcAft>
              <a:buSzPct val="100000"/>
              <a:buChar char="•"/>
            </a:pPr>
            <a:r>
              <a:rPr lang="en-US" sz="1400" dirty="0">
                <a:solidFill>
                  <a:schemeClr val="tx2"/>
                </a:solidFill>
              </a:rPr>
              <a:t>Foucault's "enclosures" (prisons, schools, hospitals) are breaking down.</a:t>
            </a:r>
            <a:endParaRPr lang="en-US" sz="1500" dirty="0"/>
          </a:p>
          <a:p>
            <a:pPr marL="355600" lvl="1" indent="-177800">
              <a:spcAft>
                <a:spcPts val="500"/>
              </a:spcAft>
              <a:buSzPct val="100000"/>
              <a:buChar char="•"/>
            </a:pPr>
            <a:r>
              <a:rPr lang="en-US" sz="1400" dirty="0">
                <a:solidFill>
                  <a:schemeClr val="tx2"/>
                </a:solidFill>
              </a:rPr>
              <a:t>We are "dividuals": data points, bank codes, digital footprints tracked in a continuous loop.</a:t>
            </a:r>
            <a:endParaRPr lang="en-US" sz="1500" dirty="0"/>
          </a:p>
          <a:p>
            <a:pPr marL="355600" lvl="1" indent="-177800">
              <a:spcAft>
                <a:spcPts val="500"/>
              </a:spcAft>
              <a:buSzPct val="100000"/>
              <a:buChar char="•"/>
            </a:pPr>
            <a:r>
              <a:rPr lang="en-US" sz="1400" dirty="0">
                <a:solidFill>
                  <a:schemeClr val="tx2"/>
                </a:solidFill>
              </a:rPr>
              <a:t>Not a cage, but a network where control is fluid and constant.</a:t>
            </a:r>
            <a:endParaRPr lang="en-US" sz="1500" dirty="0"/>
          </a:p>
          <a:p>
            <a:pPr marL="342900" indent="-342900">
              <a:spcAft>
                <a:spcPts val="500"/>
              </a:spcAft>
              <a:buSzPct val="100000"/>
              <a:buChar char="•"/>
            </a:pPr>
            <a:r>
              <a:rPr lang="en-US" sz="1500" b="1" dirty="0">
                <a:solidFill>
                  <a:schemeClr val="tx1"/>
                </a:solidFill>
              </a:rPr>
              <a:t>False Needs </a:t>
            </a:r>
            <a:r>
              <a:rPr lang="en-US" sz="1500" dirty="0">
                <a:solidFill>
                  <a:schemeClr val="tx1"/>
                </a:solidFill>
              </a:rPr>
              <a:t>(Herbert Marcuse)</a:t>
            </a:r>
            <a:endParaRPr lang="en-US" sz="1500" dirty="0"/>
          </a:p>
          <a:p>
            <a:pPr marL="342900" indent="-342900">
              <a:spcAft>
                <a:spcPts val="500"/>
              </a:spcAft>
              <a:buSzPct val="100000"/>
              <a:buChar char="•"/>
            </a:pPr>
            <a:r>
              <a:rPr lang="en-US" sz="1500" b="1" dirty="0">
                <a:solidFill>
                  <a:schemeClr val="tx1"/>
                </a:solidFill>
              </a:rPr>
              <a:t>Surveillance Capitalism </a:t>
            </a:r>
            <a:r>
              <a:rPr lang="en-US" sz="1500" dirty="0">
                <a:solidFill>
                  <a:schemeClr val="tx1"/>
                </a:solidFill>
              </a:rPr>
              <a:t>(Shoshana Zuboff)</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Underground Sepia">
  <a:themeElements>
    <a:clrScheme name="Underground Sepia">
      <a:dk1>
        <a:srgbClr val="2B1D14"/>
      </a:dk1>
      <a:lt1>
        <a:srgbClr val="FFFFFF"/>
      </a:lt1>
      <a:dk2>
        <a:srgbClr val="5A3E2B"/>
      </a:dk2>
      <a:lt2>
        <a:srgbClr val="F4EEE6"/>
      </a:lt2>
      <a:accent1>
        <a:srgbClr val="9C3D1E"/>
      </a:accent1>
      <a:accent2>
        <a:srgbClr val="B9823A"/>
      </a:accent2>
      <a:accent3>
        <a:srgbClr val="3E5C5A"/>
      </a:accent3>
      <a:accent4>
        <a:srgbClr val="7A6A58"/>
      </a:accent4>
      <a:accent5>
        <a:srgbClr val="E3D5C1"/>
      </a:accent5>
      <a:accent6>
        <a:srgbClr val="6B4F3A"/>
      </a:accent6>
      <a:hlink>
        <a:srgbClr val="9C3D1E"/>
      </a:hlink>
      <a:folHlink>
        <a:srgbClr val="6B4F3A"/>
      </a:folHlink>
    </a:clrScheme>
    <a:fontScheme name="Underground Sep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3756</Words>
  <Application>Microsoft Macintosh PowerPoint</Application>
  <PresentationFormat>Widescreen</PresentationFormat>
  <Paragraphs>323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Underground Sepia</vt:lpstr>
      <vt:lpstr>Tales of Defiance to Mind Control in the Modern Age</vt:lpstr>
      <vt:lpstr>What we'll cover</vt:lpstr>
      <vt:lpstr>Russia under Alexander II, 1849–1881</vt:lpstr>
      <vt:lpstr>A reforming Tsar and the first nihilists</vt:lpstr>
      <vt:lpstr>Chernyshevsky's Crystal Palace</vt:lpstr>
      <vt:lpstr>Two writers, two Siberias, in opposite order</vt:lpstr>
      <vt:lpstr>"I am a sick man.... I am a spiteful man."</vt:lpstr>
      <vt:lpstr>Larry Cedar as the Underground Man</vt:lpstr>
      <vt:lpstr>Not the Keys of a Piano</vt:lpstr>
      <vt:lpstr>Not the Keys of a Piano</vt:lpstr>
      <vt:lpstr>Not the Keys of a Piano</vt:lpstr>
      <vt:lpstr>How he leaves us</vt:lpstr>
      <vt:lpstr>Concrete questions about the Underground Man</vt:lpstr>
      <vt:lpstr>Through the lens of human outlier analysis</vt:lpstr>
      <vt:lpstr>What came after: a literary line and a violent one</vt:lpstr>
      <vt:lpstr>Course overview</vt:lpstr>
      <vt:lpstr>Stories in a dystopian arc</vt:lpstr>
      <vt:lpstr>Some lenses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Notes from Underground</dc:title>
  <dc:subject>PptxGenJS Presentation</dc:subject>
  <dc:creator>Scott Axelrod</dc:creator>
  <cp:lastModifiedBy>Scott Axelrod</cp:lastModifiedBy>
  <cp:revision>5</cp:revision>
  <dcterms:created xsi:type="dcterms:W3CDTF">2026-10-30T08:34:47Z</dcterms:created>
  <dcterms:modified xsi:type="dcterms:W3CDTF">2026-10-30T09:59:30Z</dcterms:modified>
</cp:coreProperties>
</file>